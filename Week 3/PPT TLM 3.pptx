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media/image37.jpg" ContentType="image/jpg"/>
  <Override PartName="/ppt/media/image38.jpg" ContentType="image/jpg"/>
  <Override PartName="/ppt/media/image42.jpg" ContentType="image/jpg"/>
  <Override PartName="/ppt/media/image43.jpg" ContentType="image/jpg"/>
  <Override PartName="/ppt/media/image96.jpg" ContentType="image/jpg"/>
  <Override PartName="/ppt/media/image97.jpg" ContentType="image/jpg"/>
  <Override PartName="/ppt/media/image98.jpg" ContentType="image/jpg"/>
  <Override PartName="/ppt/media/image102.jpg" ContentType="image/jpg"/>
  <Override PartName="/ppt/media/image103.jpg" ContentType="image/jpg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289" r:id="rId69"/>
  </p:sldIdLst>
  <p:sldSz cx="12192000" cy="6858000"/>
  <p:notesSz cx="6858000" cy="9144000"/>
  <p:embeddedFontLst>
    <p:embeddedFont>
      <p:font typeface="Gill Sans" panose="020B0604020202020204" charset="0"/>
      <p:regular r:id="rId71"/>
      <p:bold r:id="rId72"/>
    </p:embeddedFont>
    <p:embeddedFont>
      <p:font typeface="Calibri" panose="020F0502020204030204" pitchFamily="34" charset="0"/>
      <p:regular r:id="rId73"/>
      <p:bold r:id="rId74"/>
      <p:italic r:id="rId75"/>
      <p:boldItalic r:id="rId76"/>
    </p:embeddedFont>
    <p:embeddedFont>
      <p:font typeface="Radley" panose="020B0604020202020204" charset="0"/>
      <p:regular r:id="rId77"/>
      <p:italic r:id="rId78"/>
    </p:embeddedFont>
    <p:embeddedFont>
      <p:font typeface="Cambria" panose="02040503050406030204" pitchFamily="18" charset="0"/>
      <p:regular r:id="rId79"/>
      <p:bold r:id="rId80"/>
      <p:italic r:id="rId81"/>
      <p:boldItalic r:id="rId8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5" roundtripDataSignature="AMtx7mja77H+eD5f6c4ML0EV5MpL7Epl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7CDD12-2A8E-4D08-8897-A3481EC531B9}">
  <a:tblStyle styleId="{F07CDD12-2A8E-4D08-8897-A3481EC531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43"/>
    <p:restoredTop sz="94678"/>
  </p:normalViewPr>
  <p:slideViewPr>
    <p:cSldViewPr snapToGrid="0">
      <p:cViewPr varScale="1">
        <p:scale>
          <a:sx n="65" d="100"/>
          <a:sy n="65" d="100"/>
        </p:scale>
        <p:origin x="384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openxmlformats.org/officeDocument/2006/relationships/font" Target="fonts/font10.fntdata"/><Relationship Id="rId85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font" Target="fonts/font11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multimedianusantara-my.sharepoint.com/:b:/g/personal/marlinda_vasty_umn_ac_id/EfQ-CO_whZNGvEPuBF3ga6wBikuCwtBC2bMkz77VY7DNKg?e=VLhxsq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Source : Alexander </a:t>
            </a:r>
            <a:r>
              <a:rPr lang="en-US" dirty="0" err="1"/>
              <a:t>Amini</a:t>
            </a:r>
            <a:r>
              <a:rPr lang="en-US" dirty="0"/>
              <a:t> MIT http://</a:t>
            </a:r>
            <a:r>
              <a:rPr lang="en-US" dirty="0" err="1"/>
              <a:t>introtodeeplearning.com</a:t>
            </a:r>
            <a:r>
              <a:rPr lang="en-US" dirty="0"/>
              <a:t>/slides/6S191_MIT_DeepLearning_L1.pdf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Hinton, G. E., Osindero, S. and Teh, Y. A fast learning algorithm for deep belief nets. Neural Computation 18 (2006), pp 1527-1554</a:t>
            </a:r>
            <a:endParaRPr/>
          </a:p>
        </p:txBody>
      </p:sp>
      <p:sp>
        <p:nvSpPr>
          <p:cNvPr id="195" name="Google Shape;19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Sumber Video Lectures : http://videolectures.net/mlss09uk_hinton_dbn/</a:t>
            </a:r>
            <a:endParaRPr/>
          </a:p>
        </p:txBody>
      </p:sp>
      <p:sp>
        <p:nvSpPr>
          <p:cNvPr id="203" name="Google Shape;20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Sumber : http://yann.lecun.com/exdb/mnist/</a:t>
            </a:r>
            <a:endParaRPr/>
          </a:p>
        </p:txBody>
      </p:sp>
      <p:sp>
        <p:nvSpPr>
          <p:cNvPr id="219" name="Google Shape;21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Diadaptasi dari sumber :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Suyanto. 2018. Machine Learning tingkat dasar dan lanjut. Penerbit Informatika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: </a:t>
            </a:r>
            <a:r>
              <a:rPr lang="en-US" dirty="0" err="1"/>
              <a:t>Ruohan</a:t>
            </a:r>
            <a:r>
              <a:rPr lang="en-US" dirty="0"/>
              <a:t> Zhang (</a:t>
            </a:r>
            <a:r>
              <a:rPr lang="en-US" dirty="0" err="1"/>
              <a:t>standford</a:t>
            </a:r>
            <a:r>
              <a:rPr lang="en-US" dirty="0"/>
              <a:t> university) https://cs231n.stanford.edu/</a:t>
            </a:r>
          </a:p>
          <a:p>
            <a:r>
              <a:rPr lang="en-ID" dirty="0">
                <a:hlinkClick r:id="rId3"/>
              </a:rPr>
              <a:t>lecture_10_ruohan.pdf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34590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>
            <a:spLocks noGrp="1"/>
          </p:cNvSpPr>
          <p:nvPr>
            <p:ph type="ctrTitle"/>
          </p:nvPr>
        </p:nvSpPr>
        <p:spPr>
          <a:xfrm>
            <a:off x="263398" y="1881784"/>
            <a:ext cx="1040460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subTitle" idx="1"/>
          </p:nvPr>
        </p:nvSpPr>
        <p:spPr>
          <a:xfrm>
            <a:off x="263398" y="4454605"/>
            <a:ext cx="10404602" cy="151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3398" y="555521"/>
            <a:ext cx="819404" cy="155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9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body" idx="1"/>
          </p:nvPr>
        </p:nvSpPr>
        <p:spPr>
          <a:xfrm>
            <a:off x="256032" y="1825625"/>
            <a:ext cx="1166774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ill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2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4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4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4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4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▪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4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4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8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8"/>
          <p:cNvSpPr txBox="1">
            <a:spLocks noGrp="1"/>
          </p:cNvSpPr>
          <p:nvPr>
            <p:ph type="body" idx="1"/>
          </p:nvPr>
        </p:nvSpPr>
        <p:spPr>
          <a:xfrm rot="5400000">
            <a:off x="3914235" y="-1832578"/>
            <a:ext cx="4351338" cy="1166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667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60"/>
              <a:t> </a:t>
            </a:r>
            <a:r>
              <a:rPr lang="en-ID"/>
              <a:t>28,</a:t>
            </a:r>
            <a:r>
              <a:rPr lang="en-ID" spc="-53"/>
              <a:t> </a:t>
            </a:r>
            <a:r>
              <a:rPr lang="en-ID" spc="-27"/>
              <a:t>2022</a:t>
            </a:r>
            <a:endParaRPr lang="en-ID" spc="-27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667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47"/>
              <a:t> </a:t>
            </a:r>
            <a:r>
              <a:rPr lang="en-ID"/>
              <a:t>10</a:t>
            </a:r>
            <a:r>
              <a:rPr lang="en-ID" spc="-47"/>
              <a:t> </a:t>
            </a:r>
            <a:r>
              <a:rPr lang="en-ID" spc="-67"/>
              <a:t>-</a:t>
            </a:r>
            <a:endParaRPr lang="en-ID" spc="-67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67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94824">
              <a:spcBef>
                <a:spcPts val="27"/>
              </a:spcBef>
            </a:pPr>
            <a:fld id="{81D60167-4931-47E6-BA6A-407CBD079E47}" type="slidenum">
              <a:rPr lang="en-ID" spc="-67" smtClean="0"/>
              <a:pPr marL="94824">
                <a:spcBef>
                  <a:spcPts val="27"/>
                </a:spcBef>
              </a:pPr>
              <a:t>‹#›</a:t>
            </a:fld>
            <a:endParaRPr lang="en-ID" spc="-67" dirty="0"/>
          </a:p>
        </p:txBody>
      </p:sp>
    </p:spTree>
    <p:extLst>
      <p:ext uri="{BB962C8B-B14F-4D97-AF65-F5344CB8AC3E}">
        <p14:creationId xmlns:p14="http://schemas.microsoft.com/office/powerpoint/2010/main" val="3199875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  <a:defRPr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7"/>
          <p:cNvSpPr txBox="1">
            <a:spLocks noGrp="1"/>
          </p:cNvSpPr>
          <p:nvPr>
            <p:ph type="body" idx="1"/>
          </p:nvPr>
        </p:nvSpPr>
        <p:spPr>
          <a:xfrm>
            <a:off x="256032" y="1825625"/>
            <a:ext cx="1166774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B75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B75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B75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B75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B75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7"/>
          <p:cNvSpPr/>
          <p:nvPr/>
        </p:nvSpPr>
        <p:spPr>
          <a:xfrm>
            <a:off x="0" y="0"/>
            <a:ext cx="12192000" cy="185738"/>
          </a:xfrm>
          <a:prstGeom prst="rect">
            <a:avLst/>
          </a:prstGeom>
          <a:solidFill>
            <a:srgbClr val="1E4E79"/>
          </a:solidFill>
          <a:ln w="1905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7"/>
          <p:cNvSpPr/>
          <p:nvPr/>
        </p:nvSpPr>
        <p:spPr>
          <a:xfrm>
            <a:off x="0" y="274321"/>
            <a:ext cx="12192000" cy="45719"/>
          </a:xfrm>
          <a:prstGeom prst="rect">
            <a:avLst/>
          </a:prstGeom>
          <a:solidFill>
            <a:srgbClr val="1E4E79"/>
          </a:solidFill>
          <a:ln w="1905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7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4.png"/><Relationship Id="rId5" Type="http://schemas.openxmlformats.org/officeDocument/2006/relationships/image" Target="../media/image47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5.png"/><Relationship Id="rId5" Type="http://schemas.openxmlformats.org/officeDocument/2006/relationships/image" Target="../media/image47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5.png"/><Relationship Id="rId5" Type="http://schemas.openxmlformats.org/officeDocument/2006/relationships/image" Target="../media/image47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5.png"/><Relationship Id="rId5" Type="http://schemas.openxmlformats.org/officeDocument/2006/relationships/image" Target="../media/image47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12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5.png"/><Relationship Id="rId5" Type="http://schemas.openxmlformats.org/officeDocument/2006/relationships/image" Target="../media/image47.png"/><Relationship Id="rId15" Type="http://schemas.openxmlformats.org/officeDocument/2006/relationships/image" Target="../media/image61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Relationship Id="rId1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5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5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5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12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5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Relationship Id="rId14" Type="http://schemas.openxmlformats.org/officeDocument/2006/relationships/image" Target="../media/image6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21" Type="http://schemas.openxmlformats.org/officeDocument/2006/relationships/image" Target="../media/image95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image" Target="../media/image76.png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/>
          <p:nvPr/>
        </p:nvSpPr>
        <p:spPr>
          <a:xfrm>
            <a:off x="372061" y="3429000"/>
            <a:ext cx="497764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IF542– Deep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endParaRPr dirty="0"/>
          </a:p>
        </p:txBody>
      </p:sp>
      <p:sp>
        <p:nvSpPr>
          <p:cNvPr id="107" name="Google Shape;107;p1"/>
          <p:cNvSpPr txBox="1"/>
          <p:nvPr/>
        </p:nvSpPr>
        <p:spPr>
          <a:xfrm>
            <a:off x="372059" y="4050610"/>
            <a:ext cx="548727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Minggu/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Pertemuan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 </a:t>
            </a:r>
            <a:r>
              <a:rPr lang="en-US" sz="2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Deep Learning </a:t>
            </a:r>
            <a:endParaRPr dirty="0"/>
          </a:p>
        </p:txBody>
      </p:sp>
      <p:sp>
        <p:nvSpPr>
          <p:cNvPr id="108" name="Google Shape;108;p1"/>
          <p:cNvSpPr txBox="1"/>
          <p:nvPr/>
        </p:nvSpPr>
        <p:spPr>
          <a:xfrm>
            <a:off x="372059" y="4720096"/>
            <a:ext cx="368216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Dosen Penyusun 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David Agustriawan, Ph.D.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83920" y="516360"/>
            <a:ext cx="1042416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INFORMATIKA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FAKULTAS TEKNIK DAN INFORMATIKA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UNIVERSITAS MULTIMEDIA NUSANTARA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SEMESTER GASAL TAHUN AJARAN 2024/2025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xfrm>
            <a:off x="256032" y="1825624"/>
            <a:ext cx="11667744" cy="503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lvl="0" indent="-2730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/>
              <a:t>Why Deep Learning </a:t>
            </a:r>
            <a:endParaRPr/>
          </a:p>
          <a:p>
            <a:pPr marL="273050" lvl="0" indent="-2730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/>
              <a:t>Multi Layer perceptron </a:t>
            </a:r>
            <a:endParaRPr/>
          </a:p>
          <a:p>
            <a:pPr marL="273050" lvl="0" indent="-2730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/>
              <a:t>Intro. To Convolutional Neural Network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What is Deep Learning?</a:t>
            </a:r>
            <a:endParaRPr/>
          </a:p>
        </p:txBody>
      </p:sp>
      <p:sp>
        <p:nvSpPr>
          <p:cNvPr id="131" name="Google Shape;1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IF540– Machine Learning– Semester </a:t>
            </a:r>
            <a:r>
              <a:rPr lang="en-US" dirty="0" err="1"/>
              <a:t>Genap</a:t>
            </a:r>
            <a:r>
              <a:rPr lang="en-US" dirty="0"/>
              <a:t> 2023/2024 </a:t>
            </a:r>
            <a:endParaRPr dirty="0"/>
          </a:p>
        </p:txBody>
      </p:sp>
      <p:sp>
        <p:nvSpPr>
          <p:cNvPr id="132" name="Google Shape;132;p4"/>
          <p:cNvSpPr/>
          <p:nvPr/>
        </p:nvSpPr>
        <p:spPr>
          <a:xfrm>
            <a:off x="268224" y="1396892"/>
            <a:ext cx="11679936" cy="4665662"/>
          </a:xfrm>
          <a:prstGeom prst="roundRect">
            <a:avLst>
              <a:gd name="adj" fmla="val 16667"/>
            </a:avLst>
          </a:prstGeom>
          <a:solidFill>
            <a:srgbClr val="D8E2F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854173" y="2030304"/>
            <a:ext cx="19269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INTELIGENCE 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512955" y="2731301"/>
            <a:ext cx="26093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technique that enables computers to mimic human behavior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173" y="3918575"/>
            <a:ext cx="1926950" cy="115617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2997897" y="1690688"/>
            <a:ext cx="8733489" cy="3911816"/>
          </a:xfrm>
          <a:prstGeom prst="roundRect">
            <a:avLst>
              <a:gd name="adj" fmla="val 16667"/>
            </a:avLst>
          </a:prstGeom>
          <a:solidFill>
            <a:srgbClr val="8DA9D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768434" y="1977201"/>
            <a:ext cx="19269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3563704" y="2804774"/>
            <a:ext cx="26093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Ability to learn without explicitly being programmed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592710" y="1984484"/>
            <a:ext cx="4869559" cy="3324224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8023695" y="2214319"/>
            <a:ext cx="1926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7778964" y="2591551"/>
            <a:ext cx="26093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Extract patterns from data using neural networks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4">
            <a:alphaModFix/>
          </a:blip>
          <a:srcRect l="22761" r="25956"/>
          <a:stretch/>
        </p:blipFill>
        <p:spPr>
          <a:xfrm>
            <a:off x="4204305" y="3870229"/>
            <a:ext cx="1484431" cy="1521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 descr="Deep Learning Icon from Industry 4.0 Collection. Simple Line Element Deep  Learning Symbol for Templates, Web Design and Stock Illustration -  Illustration of learning, graphic: 17504169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73590" y="3661415"/>
            <a:ext cx="1342490" cy="1522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Why Deep Learning? </a:t>
            </a:r>
            <a:endParaRPr/>
          </a:p>
        </p:txBody>
      </p:sp>
      <p:sp>
        <p:nvSpPr>
          <p:cNvPr id="149" name="Google Shape;149;p5"/>
          <p:cNvSpPr txBox="1">
            <a:spLocks noGrp="1"/>
          </p:cNvSpPr>
          <p:nvPr>
            <p:ph type="body" idx="1"/>
          </p:nvPr>
        </p:nvSpPr>
        <p:spPr>
          <a:xfrm>
            <a:off x="256032" y="1825625"/>
            <a:ext cx="1166774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Hand engineered features are time consuming, brittle, and not scalable in practice.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Can we learn the </a:t>
            </a:r>
            <a:r>
              <a:rPr lang="en-US" b="1"/>
              <a:t>underlying features </a:t>
            </a:r>
            <a:r>
              <a:rPr lang="en-US"/>
              <a:t>directly from data??</a:t>
            </a:r>
            <a:endParaRPr/>
          </a:p>
        </p:txBody>
      </p:sp>
      <p:pic>
        <p:nvPicPr>
          <p:cNvPr id="151" name="Google Shape;15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3067" y="2790083"/>
            <a:ext cx="10126133" cy="327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0" y="6573506"/>
            <a:ext cx="33451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Amini A, MIT 2021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Why Now?</a:t>
            </a:r>
            <a:endParaRPr/>
          </a:p>
        </p:txBody>
      </p:sp>
      <p:grpSp>
        <p:nvGrpSpPr>
          <p:cNvPr id="159" name="Google Shape;159;p6"/>
          <p:cNvGrpSpPr/>
          <p:nvPr/>
        </p:nvGrpSpPr>
        <p:grpSpPr>
          <a:xfrm>
            <a:off x="579343" y="1692803"/>
            <a:ext cx="3135945" cy="4326741"/>
            <a:chOff x="323311" y="2114"/>
            <a:chExt cx="3135945" cy="4326741"/>
          </a:xfrm>
        </p:grpSpPr>
        <p:sp>
          <p:nvSpPr>
            <p:cNvPr id="160" name="Google Shape;160;p6"/>
            <p:cNvSpPr/>
            <p:nvPr/>
          </p:nvSpPr>
          <p:spPr>
            <a:xfrm>
              <a:off x="323311" y="2114"/>
              <a:ext cx="3135945" cy="786680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346352" y="25155"/>
              <a:ext cx="3089863" cy="7405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1952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Stochastic Gradient Desecnt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 rot="5400000">
              <a:off x="1743781" y="808461"/>
              <a:ext cx="295005" cy="354006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6"/>
            <p:cNvSpPr txBox="1"/>
            <p:nvPr/>
          </p:nvSpPr>
          <p:spPr>
            <a:xfrm>
              <a:off x="1785082" y="837962"/>
              <a:ext cx="212404" cy="2065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323311" y="1182134"/>
              <a:ext cx="3135945" cy="786680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6"/>
            <p:cNvSpPr txBox="1"/>
            <p:nvPr/>
          </p:nvSpPr>
          <p:spPr>
            <a:xfrm>
              <a:off x="346352" y="1205175"/>
              <a:ext cx="3089863" cy="7405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1958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Perceptron (Learnable Weights)</a:t>
              </a: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 rot="5400000">
              <a:off x="1743781" y="1988481"/>
              <a:ext cx="295005" cy="354006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6"/>
            <p:cNvSpPr txBox="1"/>
            <p:nvPr/>
          </p:nvSpPr>
          <p:spPr>
            <a:xfrm>
              <a:off x="1785082" y="2017982"/>
              <a:ext cx="212404" cy="2065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323311" y="2362155"/>
              <a:ext cx="3135945" cy="786680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346352" y="2385196"/>
              <a:ext cx="3089863" cy="7405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1986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Backproagation (MLP)</a:t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 rot="5400000">
              <a:off x="1743781" y="3168502"/>
              <a:ext cx="295005" cy="354006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1785082" y="3198003"/>
              <a:ext cx="212404" cy="2065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323311" y="3542175"/>
              <a:ext cx="3135945" cy="786680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6"/>
            <p:cNvSpPr txBox="1"/>
            <p:nvPr/>
          </p:nvSpPr>
          <p:spPr>
            <a:xfrm>
              <a:off x="346352" y="3565216"/>
              <a:ext cx="3089863" cy="7405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1995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Deep Convolutional NN (digit recog)</a:t>
              </a:r>
              <a:endParaRPr/>
            </a:p>
          </p:txBody>
        </p:sp>
      </p:grpSp>
      <p:sp>
        <p:nvSpPr>
          <p:cNvPr id="174" name="Google Shape;174;p6"/>
          <p:cNvSpPr txBox="1"/>
          <p:nvPr/>
        </p:nvSpPr>
        <p:spPr>
          <a:xfrm>
            <a:off x="3858322" y="1382751"/>
            <a:ext cx="833367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adley"/>
                <a:ea typeface="Radley"/>
                <a:cs typeface="Radley"/>
                <a:sym typeface="Radley"/>
              </a:rPr>
              <a:t>Neural networks date back decades, so why the resurgence??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038600" y="2255733"/>
            <a:ext cx="196412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BIG DATA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6792548" y="2249326"/>
            <a:ext cx="279324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dirty="0"/>
          </a:p>
        </p:txBody>
      </p:sp>
      <p:sp>
        <p:nvSpPr>
          <p:cNvPr id="177" name="Google Shape;177;p6"/>
          <p:cNvSpPr/>
          <p:nvPr/>
        </p:nvSpPr>
        <p:spPr>
          <a:xfrm>
            <a:off x="9882039" y="2249326"/>
            <a:ext cx="231743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4038599" y="3303143"/>
            <a:ext cx="229529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datasets 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collection &amp; storage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6792548" y="3026144"/>
            <a:ext cx="229529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Graphics Processing Units (GPUs)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Massively parallelizable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9882039" y="3026144"/>
            <a:ext cx="229529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techniques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models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Toolboxes </a:t>
            </a:r>
            <a:endParaRPr/>
          </a:p>
        </p:txBody>
      </p:sp>
      <p:pic>
        <p:nvPicPr>
          <p:cNvPr id="181" name="Google Shape;181;p6" descr="ImageNetの画像をダウンロードする - kumilog.ne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4237624"/>
            <a:ext cx="2295293" cy="114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6" descr="Diblokir Turki, Ini Reaksi Pendiri Situs Wikipedia | Republika On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3762" y="5047229"/>
            <a:ext cx="1397929" cy="938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6" descr="CPU, GPU, dan APU, Apa Sih Bedanya? | BukaRe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92548" y="4592907"/>
            <a:ext cx="2075616" cy="1381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6" descr="Pengenalan Deep Learning Part 4 : Deep Learning Framework Introduction ( TensorFlow &amp; Keras) | by Samuel Sena | Medium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98345" y="4503472"/>
            <a:ext cx="2143444" cy="1200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What is the Challenge – Motivation </a:t>
            </a:r>
            <a:endParaRPr/>
          </a:p>
        </p:txBody>
      </p:sp>
      <p:sp>
        <p:nvSpPr>
          <p:cNvPr id="190" name="Google Shape;190;p7"/>
          <p:cNvSpPr txBox="1">
            <a:spLocks noGrp="1"/>
          </p:cNvSpPr>
          <p:nvPr>
            <p:ph type="body" idx="1"/>
          </p:nvPr>
        </p:nvSpPr>
        <p:spPr>
          <a:xfrm>
            <a:off x="256032" y="1825625"/>
            <a:ext cx="1166774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dirty="0"/>
              <a:t>To many concept to learn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Too many object categories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Too many ways of interaction between object categories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dirty="0"/>
              <a:t>Behavior is a highly varying function underlying factor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If f: L</a:t>
            </a:r>
            <a:r>
              <a:rPr lang="en-US" dirty="0">
                <a:latin typeface="Arial"/>
                <a:ea typeface="Arial"/>
                <a:cs typeface="Arial"/>
                <a:sym typeface="Wingdings" pitchFamily="2" charset="2"/>
              </a:rPr>
              <a:t>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V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L : latent factors of variation 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Low dimensional latent factor space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V : visible behavior 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Highly dimensional observable spaces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f : highly non linear function 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So, How do We Train Deep Architectures?</a:t>
            </a:r>
            <a:endParaRPr/>
          </a:p>
        </p:txBody>
      </p:sp>
      <p:sp>
        <p:nvSpPr>
          <p:cNvPr id="198" name="Google Shape;198;p8"/>
          <p:cNvSpPr txBox="1">
            <a:spLocks noGrp="1"/>
          </p:cNvSpPr>
          <p:nvPr>
            <p:ph type="body" idx="1"/>
          </p:nvPr>
        </p:nvSpPr>
        <p:spPr>
          <a:xfrm>
            <a:off x="256032" y="1825625"/>
            <a:ext cx="1166774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dirty="0"/>
              <a:t>Inspiration from mammal brain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dirty="0"/>
              <a:t>Multiple layers of “neurons”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dirty="0"/>
              <a:t>Train each layer to compose the representation of the previous layer to learn a higher level abstraction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Ex : Pixels </a:t>
            </a:r>
            <a:r>
              <a:rPr lang="en-US" dirty="0">
                <a:latin typeface="Arial"/>
                <a:ea typeface="Arial"/>
                <a:cs typeface="Arial"/>
                <a:sym typeface="Wingdings" pitchFamily="2" charset="2"/>
              </a:rPr>
              <a:t>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edges </a:t>
            </a:r>
            <a:r>
              <a:rPr lang="en-US" dirty="0">
                <a:latin typeface="Arial"/>
                <a:ea typeface="Arial"/>
                <a:cs typeface="Arial"/>
                <a:sym typeface="Wingdings" pitchFamily="2" charset="2"/>
              </a:rPr>
              <a:t>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contours </a:t>
            </a:r>
            <a:r>
              <a:rPr lang="en-US" dirty="0">
                <a:latin typeface="Arial"/>
                <a:ea typeface="Arial"/>
                <a:cs typeface="Arial"/>
                <a:sym typeface="Wingdings" pitchFamily="2" charset="2"/>
              </a:rPr>
              <a:t>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object part </a:t>
            </a:r>
            <a:r>
              <a:rPr lang="en-US" dirty="0">
                <a:latin typeface="Arial"/>
                <a:ea typeface="Arial"/>
                <a:cs typeface="Arial"/>
                <a:sym typeface="Wingdings" pitchFamily="2" charset="2"/>
              </a:rPr>
              <a:t>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 object categories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Local features V Global features 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dirty="0"/>
              <a:t>Train the </a:t>
            </a:r>
            <a:r>
              <a:rPr lang="en-US" dirty="0" err="1"/>
              <a:t>layes</a:t>
            </a:r>
            <a:r>
              <a:rPr lang="en-US" dirty="0"/>
              <a:t> one-by-one (see : Hinton et al, 2006)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Greedy Strategy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Multi Layer Perceptron with BackPropagation</a:t>
            </a:r>
            <a:br>
              <a:rPr lang="en-US"/>
            </a:br>
            <a:r>
              <a:rPr lang="en-US" sz="3200"/>
              <a:t>First deep learning model</a:t>
            </a:r>
            <a:endParaRPr/>
          </a:p>
        </p:txBody>
      </p:sp>
      <p:pic>
        <p:nvPicPr>
          <p:cNvPr id="207" name="Google Shape;20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3020" y="1690688"/>
            <a:ext cx="6853767" cy="425369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 txBox="1"/>
          <p:nvPr/>
        </p:nvSpPr>
        <p:spPr>
          <a:xfrm>
            <a:off x="0" y="6200487"/>
            <a:ext cx="3657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: Hinton 2009, Tutorial on Deep belief Network – Univ of Toronto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Drawbacks of BackPropagation based Deep neural Networks </a:t>
            </a:r>
            <a:endParaRPr/>
          </a:p>
        </p:txBody>
      </p:sp>
      <p:sp>
        <p:nvSpPr>
          <p:cNvPr id="214" name="Google Shape;214;p10"/>
          <p:cNvSpPr txBox="1">
            <a:spLocks noGrp="1"/>
          </p:cNvSpPr>
          <p:nvPr>
            <p:ph type="body" idx="1"/>
          </p:nvPr>
        </p:nvSpPr>
        <p:spPr>
          <a:xfrm>
            <a:off x="256032" y="1825625"/>
            <a:ext cx="1166774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They are discriminative models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Get all the information from the labels 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And the labels dont give so much of information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Need a substantial amount of labeled data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Gradient descent with random initialization leads to </a:t>
            </a:r>
            <a:r>
              <a:rPr lang="en-US">
                <a:solidFill>
                  <a:srgbClr val="FF0000"/>
                </a:solidFill>
              </a:rPr>
              <a:t>poor local minima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Let’s See More Deeper..</a:t>
            </a:r>
            <a:br>
              <a:rPr lang="en-US"/>
            </a:br>
            <a:r>
              <a:rPr lang="en-US" sz="3200"/>
              <a:t>Hand written digit recognition </a:t>
            </a:r>
            <a:endParaRPr/>
          </a:p>
        </p:txBody>
      </p:sp>
      <p:sp>
        <p:nvSpPr>
          <p:cNvPr id="222" name="Google Shape;222;p11"/>
          <p:cNvSpPr txBox="1">
            <a:spLocks noGrp="1"/>
          </p:cNvSpPr>
          <p:nvPr>
            <p:ph type="body" idx="1"/>
          </p:nvPr>
        </p:nvSpPr>
        <p:spPr>
          <a:xfrm>
            <a:off x="256032" y="1825625"/>
            <a:ext cx="670842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Let we use classic example hand written dataset : MNIST (LeCun et al,1998)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10 digit classes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Input image : 28 x 28 grayscale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784 dimensional input</a:t>
            </a:r>
            <a:endParaRPr/>
          </a:p>
        </p:txBody>
      </p:sp>
      <p:pic>
        <p:nvPicPr>
          <p:cNvPr id="224" name="Google Shape;224;p11" descr="Train MNIST Dataset on LeNet Model | by Tanuj Shrivastava | Analytics  Vidhya | Mediu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4460" y="1870075"/>
            <a:ext cx="4959316" cy="3288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Let’s See More Deeper..</a:t>
            </a:r>
            <a:br>
              <a:rPr lang="en-US"/>
            </a:br>
            <a:r>
              <a:rPr lang="en-US"/>
              <a:t>Hand written digit recognition – cont’</a:t>
            </a:r>
            <a:endParaRPr/>
          </a:p>
        </p:txBody>
      </p:sp>
      <p:sp>
        <p:nvSpPr>
          <p:cNvPr id="230" name="Google Shape;230;p12"/>
          <p:cNvSpPr txBox="1">
            <a:spLocks noGrp="1"/>
          </p:cNvSpPr>
          <p:nvPr>
            <p:ph type="body" idx="1"/>
          </p:nvPr>
        </p:nvSpPr>
        <p:spPr>
          <a:xfrm>
            <a:off x="256032" y="1825625"/>
            <a:ext cx="1166774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One hidden layer with 500 neurons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Fitting a model that best explains the training data is an optimization problem in a 0.4 million dimensional space </a:t>
            </a:r>
            <a:endParaRPr/>
          </a:p>
          <a:p>
            <a:pPr marL="801688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  </a:t>
            </a:r>
            <a:r>
              <a:rPr lang="en-US" b="1" i="1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==&gt; 784 * 500 + 500 * 10 	</a:t>
            </a:r>
            <a:endParaRPr/>
          </a:p>
          <a:p>
            <a:pPr marL="801688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≈ 0.4 million weights</a:t>
            </a:r>
            <a:endParaRPr b="1" i="1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Its almost impossible for Gradient Descent with random initialization to arrive at the global optimum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b="1"/>
              <a:t>SOLUTION? Lets used Deep Learning..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b="1">
                <a:solidFill>
                  <a:srgbClr val="FF0000"/>
                </a:solidFill>
              </a:rPr>
              <a:t>Deep Learning – Covolutional Neural Network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Smaller Network: CNN</a:t>
            </a:r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body" idx="1"/>
          </p:nvPr>
        </p:nvSpPr>
        <p:spPr>
          <a:xfrm>
            <a:off x="256032" y="1825625"/>
            <a:ext cx="1166774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We know it is good to learn a small model.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From this fully connected model, do we really need all the edges?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Can some of these be shared?</a:t>
            </a:r>
            <a:endParaRPr/>
          </a:p>
        </p:txBody>
      </p:sp>
      <p:pic>
        <p:nvPicPr>
          <p:cNvPr id="238" name="Google Shape;2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1800" y="3429000"/>
            <a:ext cx="6705600" cy="334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 txBox="1">
            <a:spLocks noGrp="1"/>
          </p:cNvSpPr>
          <p:nvPr>
            <p:ph type="title"/>
          </p:nvPr>
        </p:nvSpPr>
        <p:spPr>
          <a:xfrm>
            <a:off x="210344" y="60806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Consider learning an image:</a:t>
            </a:r>
            <a:endParaRPr/>
          </a:p>
        </p:txBody>
      </p:sp>
      <p:sp>
        <p:nvSpPr>
          <p:cNvPr id="244" name="Google Shape;244;p14"/>
          <p:cNvSpPr txBox="1">
            <a:spLocks noGrp="1"/>
          </p:cNvSpPr>
          <p:nvPr>
            <p:ph type="body" idx="1"/>
          </p:nvPr>
        </p:nvSpPr>
        <p:spPr>
          <a:xfrm>
            <a:off x="2152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Some patterns are much smaller than the whole image</a:t>
            </a:r>
            <a:endParaRPr/>
          </a:p>
        </p:txBody>
      </p:sp>
      <p:pic>
        <p:nvPicPr>
          <p:cNvPr id="245" name="Google Shape;245;p14" descr="https://upload.wikimedia.org/wikipedia/commons/5/5e/Silverbird_in_Murchison_Falls_National_Park,_Uganda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8901" y="4692650"/>
            <a:ext cx="2486025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4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8164" y="4738689"/>
            <a:ext cx="1296987" cy="1139825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248" name="Google Shape;24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1513" y="4656139"/>
            <a:ext cx="2151062" cy="12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4"/>
          <p:cNvSpPr/>
          <p:nvPr/>
        </p:nvSpPr>
        <p:spPr>
          <a:xfrm>
            <a:off x="7696201" y="5867401"/>
            <a:ext cx="2422525" cy="601663"/>
          </a:xfrm>
          <a:prstGeom prst="wedgeRoundRectCallout">
            <a:avLst>
              <a:gd name="adj1" fmla="val -16286"/>
              <a:gd name="adj2" fmla="val -92191"/>
              <a:gd name="adj3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beak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detector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2997200" y="4738688"/>
            <a:ext cx="406400" cy="3794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14"/>
          <p:cNvCxnSpPr>
            <a:stCxn id="250" idx="3"/>
            <a:endCxn id="247" idx="1"/>
          </p:cNvCxnSpPr>
          <p:nvPr/>
        </p:nvCxnSpPr>
        <p:spPr>
          <a:xfrm>
            <a:off x="3403600" y="4928394"/>
            <a:ext cx="2214600" cy="3801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52" name="Google Shape;252;p14"/>
          <p:cNvSpPr txBox="1"/>
          <p:nvPr/>
        </p:nvSpPr>
        <p:spPr>
          <a:xfrm>
            <a:off x="2667000" y="3636679"/>
            <a:ext cx="7391400" cy="461665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Can represent a small region with fewer parameters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5" descr="http://all4desktop.com/data_images/original/4244361-bir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3164" y="4476750"/>
            <a:ext cx="2486025" cy="179228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5"/>
          <p:cNvSpPr txBox="1">
            <a:spLocks noGrp="1"/>
          </p:cNvSpPr>
          <p:nvPr>
            <p:ph type="title"/>
          </p:nvPr>
        </p:nvSpPr>
        <p:spPr>
          <a:xfrm>
            <a:off x="145786" y="1130856"/>
            <a:ext cx="1152128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 sz="2800"/>
              <a:t>Same pattern appears in different places:</a:t>
            </a:r>
            <a:br>
              <a:rPr lang="en-US" sz="2800"/>
            </a:br>
            <a:r>
              <a:rPr lang="en-US" sz="2800"/>
              <a:t>They can be compressed!</a:t>
            </a:r>
            <a:br>
              <a:rPr lang="en-US" sz="2800"/>
            </a:br>
            <a:r>
              <a:rPr lang="en-US" sz="2800">
                <a:solidFill>
                  <a:srgbClr val="FF0000"/>
                </a:solidFill>
              </a:rPr>
              <a:t>What about training a lot of such “small” detectors and each detector must “move around”.</a:t>
            </a:r>
            <a:endParaRPr sz="3600">
              <a:solidFill>
                <a:srgbClr val="FF0000"/>
              </a:solidFill>
            </a:endParaRPr>
          </a:p>
        </p:txBody>
      </p:sp>
      <p:pic>
        <p:nvPicPr>
          <p:cNvPr id="259" name="Google Shape;259;p15" descr="https://upload.wikimedia.org/wikipedia/commons/5/5e/Silverbird_in_Murchison_Falls_National_Park,_Uganda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3164" y="2578100"/>
            <a:ext cx="2486025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5" descr="data:image/jpeg;base64,/9j/4AAQSkZJRgABAQAAAQABAAD/2wCEAAkGBxASEhAQDxIQDxAPDxAPEA8VFQ8QEBAQFRUWFhUVFRUYHSggGBomGxUVIjEhJSkrLi4uGB8zODMtNygtLisBCgoKDg0OFxAQGCseHx0tLS0tLSstLS0tKy0tLS0tLS0tLS0tLS0tLS0tLS0tKystLS0tKy0rLSstKystLTctLf/AABEIALUBFgMBIgACEQEDEQH/xAAbAAACAwEBAQAAAAAAAAAAAAADBAECBQAGB//EAEAQAAIBAgMFBQQHBgUFAAAAAAECAAMRBBIhBTFBUWETInGRoQYyQoEjUnKxwdHwQ2KSouHxFDNTgrIVY4PC0v/EABoBAAMBAQEBAAAAAAAAAAAAAAECAwAEBQb/xAAiEQEBAAICAgMBAQEBAAAAAAAAAQIRAxIhMQQTQVEykSL/2gAMAwEAAhEDEQA/APmaw1JIBDHsMsejBqNKaOHpwNJJoYZZy8iuMO4anNGisVoCPURFxPozSWMLAJO7Zb5bi/LjL4gYvBu8gtBO8tC2KO8ETId5TNE5KMi0uBKCXUThzp5F1EKolFEOiyWzSLoJe0lVkkR5R0GZWEInBY/bwCBLgSVWEVYlraQJxvCBZxWJR0FOAMKEk5ZPTaAIMi0PllSs0jaCMqSYS0qRKSFsVF4QEyqiXMa4lVJlCTLmDMX69sqXtIlGkyn1M+OUWmphZj0TNXCtPSrmjWoxjDYune2YA7rHT74pQaWr4EN3l38RznPlJ+qzevD0OHYHdqPkY7RqDmPC4nikpsh0zIfEiN0sZUHvBag5OAfVbH1gnH/KP2a/Hsw0yts4E1LMu8cJm0NpgcKtPorioh/21BcfxTQo7XQ7y1+qEH+VmjXGj3lmnYTEVVUX79tGUnvDwMINpITa5U8jOp42je4ZPmch/mtBY3CK/ep2PG28fIr+cMysJuz0OWl1Mx6LZTlZjTPPePnYflHalR0sW0W1+0GtMjqN4+6LlbVMco0FhkERw+IBOU6HhxB8DNBBOLO2Xytjq+l1EOglaaw6LJbNpKiSRLgTrRpR0FaSBL5ZIWHsGkAQiiQBCKJuzacBJtLBZYLFtbSgWTlhQknJAwGSVZIzkkMkLEykGyxtkgmWUxpLAgJxhCsG8culTBMJcmUJlcShkSZJMiWgPidLfNPDNM1DG6DS9c8bCVcoBtm562tGKe0bfAD/ALv6RPDtf5zRwuAznQMOtjaRuv2KefwVdpKfepsR9pT96Sy18Md9KqDzDpbyKytTZrLxUeLUk/5MJeng13tVpL4XqH+S49ZpIG6l3oG2TOv2ireoEgpS4uQOQCmV7Onf3gBzyg39ZDNRH+o/8KiEqxpUeFZh/wCNvwlP8JSJB7RW5HJVv5lZRaqa5aRPixY/dGaDMfdpovXvHz1M2zaR2VM91nqN4io5+WcETZw+zaYCk06h0uCFCgj95GI81iefj2jZh8NNcx9J6OjWFWmtr5lH7S2cnoFInPyWz0fFirh8Kaopmi6927HvIR1Ug6esJUwWJWplw1ZHUjSlWBRvlUF1OnQT0+GoJVTKbKw0KmwJ8dxlF2CxuvaZl4ad5eitykpNz3/0/bV8MLCbUYP2OIpPRqBc17ZqZHMMLi360m0h/vwgMR7Lgm7VSMt7G/e16xGlh61Mt2L9ooa5R1K3HGxvv8JLLHV8LY5y+2yJMyqO2aege9Ing26/Rv7R9KwOoII5ggjzEXRtwacYlW2hTU5bhm+qCLjx5SlQVKg17o35b28zxjTC3yXLkkEq7URSQAzW323D5yn/AFflTPn/AEiTYcDh/eHojdaNOO30S8mjI2q/+kD8zfwhKO3af7RWp9dHX01labDc9j5CXrYOnVGWwJPEb431WTyE5Gph6yOLoytbfbh4jhD5J4xsHVoH6LeCLam9uOXkf1aeh2Ftpa/cfu1bXGlg4HLr+vCPi/5qvme2lknZIfLOKwbak2pwTU46ywbLCWkmWLVBHqoidURpSUq5g2aXqCBYS2GRKhnnSjTp0TIHxlWh6LRVTD0zOhBs4WtoADlI4jS/zjOZuJY+JJmXg7k2HX0m1gcQiENdmO6wsoPS5/KTptRCL09Ix2VrZgRxAOlx0vCNth9yhKfEWAdv4nv6WizVHZszFmY7yblvOEBwo6feZYhBwLeOUD8funU0Nrnhv3WHiToJU10BsL1DyW4X5sRc/IDxi+xWGY6KoHIWLt4gG/nYCWKqD32LN9TV28gbDzMopd+4Ot6aaAdXP4m5kjIg1K1Nd+oog8h8VQ+kFMew9Y27tkS/vaeRPu36AExnDOKbdpTyhhqzsC7ep7vpMyriMuVqpYXAyUhYVXHgNKa+vjCUy7mzBbjXsxcU6Xj9ZvXwks/R49Ls3a9EjK4AJNy92TOemUi4+U2BWY/5YOUm1yco+U8lgCiVNbs1gSxF7fgPCezNE5AzEiwvYbyOg4SOPvQ5M1sMcxz3AvfRmt5XjFTFpYWFgLAAC5t1PKZWLxzFgFp5ad7Fibm/hxjCgkZVAGbQk8BKWePBJfJ/FbPSuo3hj7qgk2HM33TzGJ9matOrl7mIRsoICsQjb9W09DaelwJKgqCQl7Fvib8pqUnAUWI/dGhyg6X8Y+E/sC15nC4N0HuooU6ZVUMovuJA70NXYqN+Zt5PcBQdTNPGkLc5SfDfPPY1iQXBIN7rdrH9dDaQ+dy3i4//AD+r/E45yZ+RWqtuYWPoRBGsQRfW+7rM/EjEMFIZcm9rjvKb7gb2sfCcXIKhtGAt03+E8vj+ZyYY63LXrZfBwzy3PDQbF6kPcX4X8pn7R2viaVGuuEY9oyXpsBd1IILWuORbWEqYog3JzHdc6AeUDUrAFWuG48j1tx87SePyeTtLT34fHqwp7K7Q2jiXc11cUAoymoDmDCwIDEXbidd01cbmp5aiWVk7y8rg3t+ucDi/aW+WnTVmfLqti5sONl38OEBX2h3clZSpbQF1emrH6t7fq48I9nLny/Zjj13+I6w48Omd3H03CVu0RKgFs6K9uVwDCMJgexu2Eq0qdFl7GsqmyE5g4G8q19SBvXh4T0bLO242Xy4Ny+i7QTRhhBMIAK1FitVI84i1URoWzZCokXqCO1BFqglMaW4lWEiWedKdw0+JrCpBKIZZ3uc1QaxBGhHGP0qx0vYzNQw9N4tGPQbPo0z36xy0weHvueSj8ZWri1B+iWy7rtZmPXpEcPiiBlIDLyO8eB4R2v2aqjLmJZQzWtZWPw3tv+USGsDdzpnY9F3t8hwhlpW989kD+zXWs46/V+dvnF6VRhcgBL/HqWt4n8LS6WXvOTTU7231W+yOHjDaEhvMW+iRQBvNIHugc6r8fDSLVccFbLQtVrHu9ra6p0pL+MXas9X6KipSmfgB1bq54wq00pDfcNpnX363NafJP3+NzbqoiYekbswYs97VcQe8c/1KZPvNzbcLac4+tXIFRAM7aheCg/Ex4mJ1q/ZqpYLnYWo0R7qLzI5f8obAIQGqVCWOhcnUkncnz+6Jf6aNvAgKV4/EWO/q56ncBPR4TEZmyqCwHvNqflrPL4N7KznViw05udw8AJv7MxBQBBvY2zDefrGQvs/4Yx2HBOa1td3FQeNuG6UpkKDf4fXoJoYEqb5gCxYHnbl6Sa2HVn4AL3j0/V5THJPKM3H4ao4SkmjN3nO7KvEX4TVwgJa40SmMq9SNCzcz/WXygjMD7wuOekZpUlRLNbXUjn+ry3aRPW2fiK2YkaHpoQB1nlvafDOoJpLlUDUkqoLE2v8Aoaz2NLKb6anXlaZm3sF2iE086VdStRWZSoAte/K14vLjOXHSnFyXjz7R5KntBsvZhDxu27NbiOko1fTvMb7vAePOZ+z2FIlDVFUj3quoJJBNiTfXfxO68HXqOSrC4GoANyTcmeDn8frncdafScfNMsJk0cTiLZQoz3sO7e5J0A03nkBNnZPsXWqkPi3NFD+yXKaxH7zahNOAufAxn2F2MBfE1Vu+YrRDAXQDRn+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+s17Hw5nwj+F2zWVRTvnRRZVPAcADy6GBxFUnvK3ZMSFBVe+xPDMST5Wgg2r4qsKQ7NVysR31axY8u0HDonzPKQh7P6at36j600O9uTHkohMRhKWGtdu2rMocJayqza3fXX8YlQoPUbMdebH7v6TWRjezqL1HNVznY8Tz4DoI+9f6uqobL/3Kp+Lw5dBB1jkHYpq7Czn6qnh4kS+FsDmI7lAWUfXrHd5Sdu/J41qC2KoNezAv1qt+V5sbOGZnb4aaimp6k2vMTBtkphj7zEkdWPH5C81cGpVLDfqfSw++JINrTwdfL3zrd2CjcBbQTRxTkJWy27tJSb7t1yJkpT7tFeQv5maOKzJSqnUZ3RR4TWSNPIWCxLM4DkZVAAsLWsNfKbGHp5zmYEgbh0Eztk4Mgi/xC5Y7vAevmZ6/D4bKFFgeJ6Rddsg3qMhMCT3msO96covidlByQXKrZsyg2D6HeOImrj6tgQFJ1Nh+MSxBcIGIu1i1tyj7XpOrGaiNr5ft7ZrJXNO1kZ6YFNNS2bMzMzG5LHLv6CGxOA7JlqH3adNbAa97MBbzM6u5q11yghVObPmzEsW1/IDheejXB53ZKlrGqlkHBKf0oHmFnP8ngxzly/Y6OH5GXH4/G7syjkponEKL/a3t6kzRpmKIYwhnB6mlN7MKYS8ArS4aLthCYJjOLwbtNsLVXMA5lnaBdodjKHUMWqGEqtFajQbbalRorUMK7QLQbDak6TadMO3xREjC04SnSjdLDz17k5piUFOWFGaVPCRmngon2H6MdaBhqeHM2UwMMmC6Qfa3RlU8PGUobuhuOh5zTp4SFGFk8uQehVdlduKlTKpcEF2zZGYG+vK+g4ScUiUAq0AzlhpVbcpO/d8QmlhlZDdTYkWOgII5EGM0nQG7Uhe4uUOS/ipBB8oZzTWsmuFnp5RARcLvOrVD8PMkxjA0u0ZadO5QGy34k+8xnqtpez1OrYq7FTYgJlVNdxy2tDbM9nzRz5QTemAjmxNzv8ACPvfoGQE7SqqKO4ndX8TPQJhtw36+gjOydjdnZnFySRoL2mrQwYIDDQ8jvHyjaDaMDs+5ubALaJ+0dUFlpJYga+LGN7SxJVgifVAPjzmFUftKtIAE/TAE8NOXPjJcuWsT4Ty9mtBFCLe5UWJ6zYo7hvmHgWu2ZvdAAA3kma9OuCdBa0Tiy/WzkVq0gAWPHcOUyNrZihU7zvHC022qC9zY3HpMHaWMGZ2uLIDr13D5D8J3Y3w5rPPh5KlshqVVayEWVbZSD3SbXIA375nv7U0qNSoX75Z2AYsq8r6W/dEb9pdt5mSjRBvUfs14XY8+mhmd7V7OwlClQdkWpVTEU6uYm7sqnM91O9dLW3C4kM85b197dEw1N32c2D7f0qzslZDQuyLSIu+YscutupGo01PKe3Rp8V2ht7BYis3YYd8O9UG57mUuobs2UJ7jEsb776dZ9M9icfUr4Sk9Zg9VcyMwILHKSFLjgxAHjv4zm5+LrO0mhwy34ejDS2aDE4zkUWLQbNOMG0JKh2i9R5dzF6hmDYbtF6hl3aLu0Jbkq7Sl5VjK3m0HcSdKZp03UO75pQoR+hh5fD0Zp4ehOvLJWQCjho7Swsao0I5ToSW9mZ64WEXDdJpLQhFoTeQZy4eEGHmiKEsKM2mjN7CVNCahoyppRbDxnohG4kR2njagAF7kaZunWW7GXWjFxyynqt1gmHx9QfVN9+/X1hDj3ZiMpFrEHXK3hY+kqlGM06UtjyZFuEJsahJFjc6Zza3yF4RKIphSN6bj1IIv6x9KUtVwuYW5zW3IJ4P4NhbMeAjL1tLj+klNmoEUM1rC7HS9/znn8VjiGqgupSlkuQCcrEnf/J8zOnHDrIlb2p3ae1sik336LzJ/ITHpUquIF/8ulwudT16wOKrq5NWopCJYJTIAZrDS/JRqeevjNOgjuoU91TZmO4m+uUfr7obl/fEGax9e3ka+ysS+KDYILSSkjU/8XVAcBm3mim5mA0udNTA7Z9j++v07VahWpWq16+o7KmFOUKvMkHw08foa0gAANANAJl+0WENVEoglO3qdg9Ue9TpOjZ7dSAFHVhOf7bcv4eTw8n7E+zeFxWzqRq0lDvUrVFqrdaiNmsMrAg2FhodNIH2YYYLHtQqswNS9Gr7opZswahUUAe6ynXk1+G73ewdkJhaFPDU2ZlpAgM1sxuSTe2nGE2lsqlWsaihyivkB3BmFr3GvD1MW8m7d+ZWk8HQJxEijTIVVJLFVUFjvYgWJljOfR6EYNoVoJ5tJUBzFajRmpFKgmkTtLVGi7tDVYsxj44oZcmkEyJ0mU6JfYi86WtOm6h3eXw1KalClF8Kk0qCTWvUFo0o7SpStFI5TSCCEtKEFOHCSwSM2gBTndnGckgpNWLFJHZxkpK5YlOCKcutOFCwirFZRacOiSUWHRY0BCJCqssqwgWPAeX27UxNNAytpYDjZG/tpMfB1XWkWAzOShK6d4u4BBv9seV57naeDNWjVpje6EL9revqBPE7NqXYBu6GBQ8bWuPusYe97S2tMZqvV4DDKyrmUB1AzLvCsfeHmDH8kV2dUu7D64Z+ujW/9ppZY/L/AKT4/QGScad9CLjkdRD5ZOWS0oBklskLknZIOrBZZUiHyyjCDTFmEC4jLiBcQaTyKVBFaojlSKVRDpHIjVizRqqIuwlccXHyB2kiSBJyyvVJBnSSJMPVmPhRNSgkzsKJrYcTmr2TdJY3TWBoiOUxMZwWWCy4EsBDGDIkWhisqRNRgJWVKwxEqREsFRRCKJAEuogFdRDoINIdBGBZRCqshFhlEYEAT57tWn2OKqr8Jqll6BgCB6gT6OFnjPbvB3dWHx07qeGekbt/I38sNm40aOxWLVg3D/DW8DmH6+U37TzfsS+dWbiqKpHizf8Az909RaNnd1PGaUtOtL5ZNopg7TrQmWdlmYMiDdYwVg2WBijiAcRtxF3EBKTqCKVBHqgi1RYYjmz6qxdljtURVhLYuTOBhJJWWEmWkR0HaRCETptAxcJNfDiZGEmvhhOJ7TQoxymIrREbQQCIJYSAJaYXSpEtOh2ylpUiXMrBaMRaWAnAS6iKK6RimIFBDoI0CipDLBJCrGgCCY3tXh81DOBdsPUWsBzUd1x/AzH5TZEh1BBU6hgVI5g6Qg8X7JOKWI7Me5Wptl5Z13jyW/8Auntp87w9Xsaovf6CuGU8Sl+zqj5Xp+c+hq17Eagi4PMHjNQ/U2kyLzrwbZM6dOm2LiJRhCXg2magOIvUEZeK1DBSUs4itWNPFKsMSyKVYrUjVWKvK4ubkUEsJUS4EvEHESZxnQgxMJNfDzp04HsNGjG0kzoDCCTJnQiidOnTArInTooxYCXWTOgERYVZ06NAoqwizp0YFwZM6dMzx3tvhQmWquhctmHM91b/ADDC/wBkT0Hs7XL4aix35beRInTofwK0hOkzoGdJkTpmWg3kzoWpZ4vUnToCUtUitWROhieRSpFqk6dLYObkUEus6dLxzrGdOnTFf//Z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70501" y="2868614"/>
            <a:ext cx="2151063" cy="12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5"/>
          <p:cNvSpPr/>
          <p:nvPr/>
        </p:nvSpPr>
        <p:spPr>
          <a:xfrm>
            <a:off x="6599239" y="2425700"/>
            <a:ext cx="3303587" cy="952500"/>
          </a:xfrm>
          <a:prstGeom prst="cloudCallout">
            <a:avLst>
              <a:gd name="adj1" fmla="val -48303"/>
              <a:gd name="adj2" fmla="val 5589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“upper-left beak” detector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2813050" y="2628901"/>
            <a:ext cx="406400" cy="37941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3327400" y="4994276"/>
            <a:ext cx="406400" cy="37941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97476" y="4652964"/>
            <a:ext cx="2295525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5"/>
          <p:cNvSpPr/>
          <p:nvPr/>
        </p:nvSpPr>
        <p:spPr>
          <a:xfrm>
            <a:off x="6599306" y="5513706"/>
            <a:ext cx="3303662" cy="951706"/>
          </a:xfrm>
          <a:prstGeom prst="cloudCallout">
            <a:avLst>
              <a:gd name="adj1" fmla="val -40531"/>
              <a:gd name="adj2" fmla="val -60650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“middle beak” detector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6172200" y="4038601"/>
            <a:ext cx="3657600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can be compressed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same parameters.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15"/>
          <p:cNvCxnSpPr/>
          <p:nvPr/>
        </p:nvCxnSpPr>
        <p:spPr>
          <a:xfrm>
            <a:off x="5969000" y="3768725"/>
            <a:ext cx="0" cy="133985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69" name="Google Shape;269;p15"/>
          <p:cNvSpPr txBox="1"/>
          <p:nvPr/>
        </p:nvSpPr>
        <p:spPr>
          <a:xfrm>
            <a:off x="145786" y="84944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 sz="4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Consider learning an image:</a:t>
            </a:r>
            <a:endParaRPr sz="4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A convolutional layer</a:t>
            </a:r>
            <a:endParaRPr/>
          </a:p>
        </p:txBody>
      </p:sp>
      <p:pic>
        <p:nvPicPr>
          <p:cNvPr id="275" name="Google Shape;27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7200" y="3124200"/>
            <a:ext cx="384810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5943600" y="5486400"/>
            <a:ext cx="838200" cy="36988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filter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1828801" y="1447800"/>
            <a:ext cx="8482013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CNN is a neural network with some convolutional layers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(and some other layers).  A convolutional layer has a number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filters that does convolutional operation. </a:t>
            </a:r>
            <a:endParaRPr/>
          </a:p>
        </p:txBody>
      </p:sp>
      <p:sp>
        <p:nvSpPr>
          <p:cNvPr id="278" name="Google Shape;278;p16"/>
          <p:cNvSpPr txBox="1"/>
          <p:nvPr/>
        </p:nvSpPr>
        <p:spPr>
          <a:xfrm>
            <a:off x="5334001" y="3429000"/>
            <a:ext cx="1609725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Beak detector</a:t>
            </a:r>
            <a:endParaRPr/>
          </a:p>
        </p:txBody>
      </p:sp>
      <p:cxnSp>
        <p:nvCxnSpPr>
          <p:cNvPr id="279" name="Google Shape;279;p16"/>
          <p:cNvCxnSpPr/>
          <p:nvPr/>
        </p:nvCxnSpPr>
        <p:spPr>
          <a:xfrm>
            <a:off x="6019800" y="3810000"/>
            <a:ext cx="0" cy="30480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"/>
          <p:cNvSpPr txBox="1">
            <a:spLocks noGrp="1"/>
          </p:cNvSpPr>
          <p:nvPr>
            <p:ph type="title"/>
          </p:nvPr>
        </p:nvSpPr>
        <p:spPr>
          <a:xfrm>
            <a:off x="428625" y="40243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Convolution</a:t>
            </a:r>
            <a:endParaRPr/>
          </a:p>
        </p:txBody>
      </p:sp>
      <p:graphicFrame>
        <p:nvGraphicFramePr>
          <p:cNvPr id="286" name="Google Shape;286;p17"/>
          <p:cNvGraphicFramePr/>
          <p:nvPr/>
        </p:nvGraphicFramePr>
        <p:xfrm>
          <a:off x="2509838" y="2398713"/>
          <a:ext cx="2873400" cy="274326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47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7" name="Google Shape;287;p17"/>
          <p:cNvSpPr txBox="1"/>
          <p:nvPr/>
        </p:nvSpPr>
        <p:spPr>
          <a:xfrm>
            <a:off x="2773364" y="5389564"/>
            <a:ext cx="23463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8" name="Google Shape;288;p17"/>
          <p:cNvGraphicFramePr/>
          <p:nvPr/>
        </p:nvGraphicFramePr>
        <p:xfrm>
          <a:off x="6783388" y="2068513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9" name="Google Shape;289;p17"/>
          <p:cNvSpPr txBox="1"/>
          <p:nvPr/>
        </p:nvSpPr>
        <p:spPr>
          <a:xfrm>
            <a:off x="8315325" y="2420938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0" name="Google Shape;290;p17"/>
          <p:cNvGraphicFramePr/>
          <p:nvPr/>
        </p:nvGraphicFramePr>
        <p:xfrm>
          <a:off x="6783388" y="3694113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1" name="Google Shape;291;p17"/>
          <p:cNvSpPr txBox="1"/>
          <p:nvPr/>
        </p:nvSpPr>
        <p:spPr>
          <a:xfrm>
            <a:off x="8315325" y="4032251"/>
            <a:ext cx="1447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 rot="5400000">
            <a:off x="7354095" y="5018873"/>
            <a:ext cx="70802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6553200" y="1004888"/>
            <a:ext cx="3962400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These are the network parameters to be learned.</a:t>
            </a:r>
            <a:endParaRPr sz="24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7"/>
          <p:cNvSpPr txBox="1"/>
          <p:nvPr/>
        </p:nvSpPr>
        <p:spPr>
          <a:xfrm>
            <a:off x="6737350" y="5849938"/>
            <a:ext cx="3556000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filter detects a small pattern (3 x 3).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"/>
          <p:cNvSpPr txBox="1">
            <a:spLocks noGrp="1"/>
          </p:cNvSpPr>
          <p:nvPr>
            <p:ph type="title"/>
          </p:nvPr>
        </p:nvSpPr>
        <p:spPr>
          <a:xfrm>
            <a:off x="482601" y="36486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Convolution</a:t>
            </a:r>
            <a:endParaRPr/>
          </a:p>
        </p:txBody>
      </p:sp>
      <p:graphicFrame>
        <p:nvGraphicFramePr>
          <p:cNvPr id="300" name="Google Shape;300;p18"/>
          <p:cNvGraphicFramePr/>
          <p:nvPr/>
        </p:nvGraphicFramePr>
        <p:xfrm>
          <a:off x="2509838" y="2398713"/>
          <a:ext cx="2873400" cy="274326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47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1" name="Google Shape;301;p18"/>
          <p:cNvSpPr txBox="1"/>
          <p:nvPr/>
        </p:nvSpPr>
        <p:spPr>
          <a:xfrm>
            <a:off x="2773364" y="5389564"/>
            <a:ext cx="23463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2" name="Google Shape;302;p18"/>
          <p:cNvGraphicFramePr/>
          <p:nvPr/>
        </p:nvGraphicFramePr>
        <p:xfrm>
          <a:off x="7088188" y="477838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3" name="Google Shape;303;p18"/>
          <p:cNvSpPr txBox="1"/>
          <p:nvPr/>
        </p:nvSpPr>
        <p:spPr>
          <a:xfrm>
            <a:off x="8710613" y="933451"/>
            <a:ext cx="1447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2509838" y="2398713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6246814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7088189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3008314" y="2398713"/>
            <a:ext cx="1417637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2690814" y="1731964"/>
            <a:ext cx="128913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stride=1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18"/>
          <p:cNvCxnSpPr/>
          <p:nvPr/>
        </p:nvCxnSpPr>
        <p:spPr>
          <a:xfrm>
            <a:off x="5486400" y="3124200"/>
            <a:ext cx="685800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</p:cxnSp>
      <p:sp>
        <p:nvSpPr>
          <p:cNvPr id="310" name="Google Shape;310;p18"/>
          <p:cNvSpPr txBox="1"/>
          <p:nvPr/>
        </p:nvSpPr>
        <p:spPr>
          <a:xfrm>
            <a:off x="5410200" y="2438401"/>
            <a:ext cx="954088" cy="64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Dot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>
            <a:spLocks noGrp="1"/>
          </p:cNvSpPr>
          <p:nvPr>
            <p:ph type="title"/>
          </p:nvPr>
        </p:nvSpPr>
        <p:spPr>
          <a:xfrm>
            <a:off x="291475" y="42809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Convolution</a:t>
            </a:r>
            <a:endParaRPr/>
          </a:p>
        </p:txBody>
      </p:sp>
      <p:graphicFrame>
        <p:nvGraphicFramePr>
          <p:cNvPr id="316" name="Google Shape;316;p19"/>
          <p:cNvGraphicFramePr/>
          <p:nvPr/>
        </p:nvGraphicFramePr>
        <p:xfrm>
          <a:off x="2509838" y="2398713"/>
          <a:ext cx="2873400" cy="274326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47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7" name="Google Shape;317;p19"/>
          <p:cNvSpPr txBox="1"/>
          <p:nvPr/>
        </p:nvSpPr>
        <p:spPr>
          <a:xfrm>
            <a:off x="2773364" y="5389564"/>
            <a:ext cx="23463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8" name="Google Shape;318;p19"/>
          <p:cNvGraphicFramePr/>
          <p:nvPr/>
        </p:nvGraphicFramePr>
        <p:xfrm>
          <a:off x="7088188" y="477838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9" name="Google Shape;319;p19"/>
          <p:cNvSpPr txBox="1"/>
          <p:nvPr/>
        </p:nvSpPr>
        <p:spPr>
          <a:xfrm>
            <a:off x="8710613" y="933451"/>
            <a:ext cx="1447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2509838" y="2398713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6246814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7088189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3487738" y="2398713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2690813" y="1731964"/>
            <a:ext cx="15440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stride=2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"/>
          <p:cNvSpPr txBox="1"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Convolution</a:t>
            </a:r>
            <a:endParaRPr/>
          </a:p>
        </p:txBody>
      </p:sp>
      <p:graphicFrame>
        <p:nvGraphicFramePr>
          <p:cNvPr id="330" name="Google Shape;330;p20"/>
          <p:cNvGraphicFramePr/>
          <p:nvPr/>
        </p:nvGraphicFramePr>
        <p:xfrm>
          <a:off x="2509838" y="2398713"/>
          <a:ext cx="2873400" cy="274326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47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1" name="Google Shape;331;p20"/>
          <p:cNvSpPr txBox="1"/>
          <p:nvPr/>
        </p:nvSpPr>
        <p:spPr>
          <a:xfrm>
            <a:off x="2773364" y="5389564"/>
            <a:ext cx="23463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2" name="Google Shape;332;p20"/>
          <p:cNvGraphicFramePr/>
          <p:nvPr/>
        </p:nvGraphicFramePr>
        <p:xfrm>
          <a:off x="7088188" y="477838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3" name="Google Shape;333;p20"/>
          <p:cNvSpPr txBox="1"/>
          <p:nvPr/>
        </p:nvSpPr>
        <p:spPr>
          <a:xfrm>
            <a:off x="8710613" y="933451"/>
            <a:ext cx="1447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2509838" y="2398713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6246814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7088189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7929564" y="27876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8770939" y="27876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6246814" y="35877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7088189" y="35877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7929564" y="35877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8770939" y="35877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6246814" y="4446589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7088189" y="4446589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7929564" y="4446589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8770939" y="4446589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6256339" y="5259389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7088189" y="5246689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7929564" y="5246689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8770939" y="5246689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3008314" y="2398713"/>
            <a:ext cx="1417637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3454400" y="2401888"/>
            <a:ext cx="1417638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3957638" y="2405063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2509838" y="2809876"/>
            <a:ext cx="1416050" cy="138271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2690814" y="1731964"/>
            <a:ext cx="128913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stride=1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3957638" y="3767138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7088189" y="477838"/>
            <a:ext cx="523875" cy="455612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7643813" y="936626"/>
            <a:ext cx="525462" cy="455613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8169276" y="1404938"/>
            <a:ext cx="523875" cy="455612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20"/>
          <p:cNvCxnSpPr/>
          <p:nvPr/>
        </p:nvCxnSpPr>
        <p:spPr>
          <a:xfrm>
            <a:off x="7088188" y="477838"/>
            <a:ext cx="1604962" cy="1382712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1" name="Google Shape;361;p20"/>
          <p:cNvSpPr/>
          <p:nvPr/>
        </p:nvSpPr>
        <p:spPr>
          <a:xfrm>
            <a:off x="6237288" y="2786064"/>
            <a:ext cx="728662" cy="708025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256338" y="5262564"/>
            <a:ext cx="728662" cy="708025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20"/>
          <p:cNvCxnSpPr/>
          <p:nvPr/>
        </p:nvCxnSpPr>
        <p:spPr>
          <a:xfrm>
            <a:off x="2452688" y="2425701"/>
            <a:ext cx="1606550" cy="1382713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4" name="Google Shape;364;p20"/>
          <p:cNvCxnSpPr/>
          <p:nvPr/>
        </p:nvCxnSpPr>
        <p:spPr>
          <a:xfrm>
            <a:off x="2405063" y="3760788"/>
            <a:ext cx="1604962" cy="1382712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"/>
          <p:cNvSpPr txBox="1"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Convolution</a:t>
            </a:r>
            <a:endParaRPr/>
          </a:p>
        </p:txBody>
      </p:sp>
      <p:graphicFrame>
        <p:nvGraphicFramePr>
          <p:cNvPr id="370" name="Google Shape;370;p21"/>
          <p:cNvGraphicFramePr/>
          <p:nvPr/>
        </p:nvGraphicFramePr>
        <p:xfrm>
          <a:off x="2509838" y="2398713"/>
          <a:ext cx="2873400" cy="274326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47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1" name="Google Shape;371;p21"/>
          <p:cNvSpPr txBox="1"/>
          <p:nvPr/>
        </p:nvSpPr>
        <p:spPr>
          <a:xfrm>
            <a:off x="2773364" y="5389564"/>
            <a:ext cx="234632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6246814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7088189" y="27876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7929564" y="27876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8770939" y="27876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6246814" y="35877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7088189" y="358775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7929564" y="35877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8770939" y="3587751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6246814" y="4446589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7088189" y="4446589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/>
          <p:nvPr/>
        </p:nvSpPr>
        <p:spPr>
          <a:xfrm>
            <a:off x="7929564" y="4446589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8770939" y="4446589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6246814" y="5246689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7088189" y="5246689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7929564" y="5246689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8770939" y="5246689"/>
            <a:ext cx="720725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8" name="Google Shape;388;p21"/>
          <p:cNvGraphicFramePr/>
          <p:nvPr/>
        </p:nvGraphicFramePr>
        <p:xfrm>
          <a:off x="7210425" y="365125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9" name="Google Shape;389;p21"/>
          <p:cNvSpPr txBox="1"/>
          <p:nvPr/>
        </p:nvSpPr>
        <p:spPr>
          <a:xfrm>
            <a:off x="8832850" y="820739"/>
            <a:ext cx="14478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Filter 2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2509838" y="2398713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1"/>
          <p:cNvSpPr/>
          <p:nvPr/>
        </p:nvSpPr>
        <p:spPr>
          <a:xfrm>
            <a:off x="3013075" y="2398713"/>
            <a:ext cx="1417638" cy="1382712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3454400" y="2400301"/>
            <a:ext cx="1417638" cy="1382713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3930650" y="2398713"/>
            <a:ext cx="1417638" cy="1382712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2509838" y="2809876"/>
            <a:ext cx="1416050" cy="1382713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6429376" y="2995614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7270751" y="2995614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8113714" y="2995614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8955089" y="2995614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6429376" y="3795714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7270751" y="3795714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8113714" y="3795714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8955089" y="3795714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6429376" y="4654550"/>
            <a:ext cx="720725" cy="719138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7270751" y="4654550"/>
            <a:ext cx="720725" cy="719138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8113714" y="4654550"/>
            <a:ext cx="719137" cy="719138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8955089" y="4654550"/>
            <a:ext cx="720725" cy="719138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6429376" y="5454650"/>
            <a:ext cx="720725" cy="719138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7270751" y="5454650"/>
            <a:ext cx="720725" cy="719138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8113714" y="5454650"/>
            <a:ext cx="719137" cy="719138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8955089" y="5454650"/>
            <a:ext cx="720725" cy="719138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 txBox="1"/>
          <p:nvPr/>
        </p:nvSpPr>
        <p:spPr>
          <a:xfrm>
            <a:off x="5943600" y="2057401"/>
            <a:ext cx="4572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Repeat this for each filter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3940175" y="3783013"/>
            <a:ext cx="1416050" cy="1382712"/>
          </a:xfrm>
          <a:prstGeom prst="rect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2690814" y="1731964"/>
            <a:ext cx="128913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stride=1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1"/>
          <p:cNvSpPr txBox="1"/>
          <p:nvPr/>
        </p:nvSpPr>
        <p:spPr>
          <a:xfrm>
            <a:off x="6477000" y="6172201"/>
            <a:ext cx="36576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Two 4 x 4 images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Forming 2 x 4 x 4 matrix</a:t>
            </a:r>
            <a:endParaRPr sz="2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6858001" y="4038600"/>
            <a:ext cx="2320925" cy="973138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2"/>
          <p:cNvSpPr txBox="1">
            <a:spLocks noGrp="1"/>
          </p:cNvSpPr>
          <p:nvPr>
            <p:ph type="title"/>
          </p:nvPr>
        </p:nvSpPr>
        <p:spPr>
          <a:xfrm>
            <a:off x="28576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Color image: RGB 3 channels</a:t>
            </a:r>
            <a:endParaRPr/>
          </a:p>
        </p:txBody>
      </p:sp>
      <p:graphicFrame>
        <p:nvGraphicFramePr>
          <p:cNvPr id="421" name="Google Shape;421;p22"/>
          <p:cNvGraphicFramePr/>
          <p:nvPr/>
        </p:nvGraphicFramePr>
        <p:xfrm>
          <a:off x="6478588" y="3441700"/>
          <a:ext cx="2873400" cy="274326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47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22" name="Google Shape;422;p22"/>
          <p:cNvGraphicFramePr/>
          <p:nvPr/>
        </p:nvGraphicFramePr>
        <p:xfrm>
          <a:off x="6642100" y="3648075"/>
          <a:ext cx="2873400" cy="274326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47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23" name="Google Shape;423;p22"/>
          <p:cNvGraphicFramePr/>
          <p:nvPr/>
        </p:nvGraphicFramePr>
        <p:xfrm>
          <a:off x="6848475" y="3849688"/>
          <a:ext cx="2873400" cy="274326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47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24" name="Google Shape;424;p22"/>
          <p:cNvGraphicFramePr/>
          <p:nvPr/>
        </p:nvGraphicFramePr>
        <p:xfrm>
          <a:off x="4491038" y="1614488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5" name="Google Shape;425;p22"/>
          <p:cNvSpPr txBox="1"/>
          <p:nvPr/>
        </p:nvSpPr>
        <p:spPr>
          <a:xfrm>
            <a:off x="6200775" y="2341563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6" name="Google Shape;426;p22"/>
          <p:cNvGraphicFramePr/>
          <p:nvPr/>
        </p:nvGraphicFramePr>
        <p:xfrm>
          <a:off x="7496175" y="1573213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7" name="Google Shape;427;p22"/>
          <p:cNvSpPr txBox="1"/>
          <p:nvPr/>
        </p:nvSpPr>
        <p:spPr>
          <a:xfrm>
            <a:off x="9204325" y="2301876"/>
            <a:ext cx="1449388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8" name="Google Shape;428;p22"/>
          <p:cNvGraphicFramePr/>
          <p:nvPr/>
        </p:nvGraphicFramePr>
        <p:xfrm>
          <a:off x="4643438" y="1766888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9" name="Google Shape;429;p22"/>
          <p:cNvGraphicFramePr/>
          <p:nvPr/>
        </p:nvGraphicFramePr>
        <p:xfrm>
          <a:off x="4795838" y="1882775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0" name="Google Shape;430;p22"/>
          <p:cNvGraphicFramePr/>
          <p:nvPr/>
        </p:nvGraphicFramePr>
        <p:xfrm>
          <a:off x="7648575" y="1708150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1" name="Google Shape;431;p22"/>
          <p:cNvGraphicFramePr/>
          <p:nvPr/>
        </p:nvGraphicFramePr>
        <p:xfrm>
          <a:off x="7800975" y="1860550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2" name="Google Shape;432;p22"/>
          <p:cNvSpPr/>
          <p:nvPr/>
        </p:nvSpPr>
        <p:spPr>
          <a:xfrm>
            <a:off x="5819775" y="4379913"/>
            <a:ext cx="508000" cy="86836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3" name="Google Shape;433;p22"/>
          <p:cNvGrpSpPr/>
          <p:nvPr/>
        </p:nvGrpSpPr>
        <p:grpSpPr>
          <a:xfrm>
            <a:off x="1878014" y="3059113"/>
            <a:ext cx="3927475" cy="3630612"/>
            <a:chOff x="353684" y="3059766"/>
            <a:chExt cx="3927508" cy="3629534"/>
          </a:xfrm>
        </p:grpSpPr>
        <p:pic>
          <p:nvPicPr>
            <p:cNvPr id="434" name="Google Shape;434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4122" y="3442427"/>
              <a:ext cx="3907070" cy="32468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22"/>
            <p:cNvSpPr txBox="1"/>
            <p:nvPr/>
          </p:nvSpPr>
          <p:spPr>
            <a:xfrm>
              <a:off x="353684" y="3059766"/>
              <a:ext cx="19976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Color image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" name="Google Shape;440;p23"/>
          <p:cNvGraphicFramePr/>
          <p:nvPr/>
        </p:nvGraphicFramePr>
        <p:xfrm>
          <a:off x="2974975" y="1289050"/>
          <a:ext cx="1804950" cy="172410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30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25" marB="28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25" marB="28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25" marB="28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1" name="Google Shape;441;p23"/>
          <p:cNvSpPr txBox="1"/>
          <p:nvPr/>
        </p:nvSpPr>
        <p:spPr>
          <a:xfrm>
            <a:off x="3254375" y="3013076"/>
            <a:ext cx="124618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6463" y="1312863"/>
            <a:ext cx="1916112" cy="187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3"/>
          <p:cNvSpPr/>
          <p:nvPr/>
        </p:nvSpPr>
        <p:spPr>
          <a:xfrm>
            <a:off x="5197475" y="2151063"/>
            <a:ext cx="1881188" cy="66675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 txBox="1"/>
          <p:nvPr/>
        </p:nvSpPr>
        <p:spPr>
          <a:xfrm>
            <a:off x="5181601" y="2743201"/>
            <a:ext cx="200501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5" name="Google Shape;445;p23"/>
          <p:cNvGraphicFramePr/>
          <p:nvPr/>
        </p:nvGraphicFramePr>
        <p:xfrm>
          <a:off x="6110288" y="1268413"/>
          <a:ext cx="963600" cy="81435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32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4325" marR="54325" marT="27150" marB="27150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54325" marR="54325" marT="27150" marB="27150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4325" marR="54325" marT="27150" marB="27150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4325" marR="54325" marT="27150" marB="27150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54325" marR="54325" marT="27150" marB="27150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4325" marR="54325" marT="27150" marB="27150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4325" marR="54325" marT="27150" marB="27150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54325" marR="54325" marT="27150" marB="27150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4325" marR="54325" marT="27150" marB="27150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46" name="Google Shape;446;p23"/>
          <p:cNvGraphicFramePr/>
          <p:nvPr/>
        </p:nvGraphicFramePr>
        <p:xfrm>
          <a:off x="5027613" y="1273176"/>
          <a:ext cx="947700" cy="801675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3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53425" marR="53425" marT="26700" marB="26700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3425" marR="53425" marT="26700" marB="26700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3425" marR="53425" marT="26700" marB="26700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3425" marR="53425" marT="26700" marB="26700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53425" marR="53425" marT="26700" marB="26700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3425" marR="53425" marT="26700" marB="26700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3425" marR="53425" marT="26700" marB="26700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-1</a:t>
                      </a:r>
                      <a:endParaRPr sz="1400" u="none" strike="noStrike" cap="none"/>
                    </a:p>
                  </a:txBody>
                  <a:tcPr marL="53425" marR="53425" marT="26700" marB="26700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53425" marR="53425" marT="26700" marB="26700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7" name="Google Shape;447;p23"/>
          <p:cNvSpPr/>
          <p:nvPr/>
        </p:nvSpPr>
        <p:spPr>
          <a:xfrm>
            <a:off x="2565401" y="1046163"/>
            <a:ext cx="7089775" cy="26035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6796089" y="3898900"/>
            <a:ext cx="498475" cy="2624138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6864350" y="4616450"/>
            <a:ext cx="342900" cy="342900"/>
          </a:xfrm>
          <a:prstGeom prst="rect">
            <a:avLst/>
          </a:prstGeom>
          <a:gradFill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0"/>
          </a:gra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6870700" y="4044950"/>
            <a:ext cx="342900" cy="342900"/>
          </a:xfrm>
          <a:prstGeom prst="rect">
            <a:avLst/>
          </a:prstGeom>
          <a:gradFill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0"/>
          </a:gra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3400" y="3949701"/>
            <a:ext cx="325438" cy="46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88164" y="4533901"/>
            <a:ext cx="352425" cy="461963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3"/>
          <p:cNvSpPr/>
          <p:nvPr/>
        </p:nvSpPr>
        <p:spPr>
          <a:xfrm>
            <a:off x="8350251" y="3870326"/>
            <a:ext cx="746125" cy="2676525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8458201" y="3886201"/>
            <a:ext cx="574675" cy="57467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8450264" y="4660900"/>
            <a:ext cx="573087" cy="573088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8437564" y="5888039"/>
            <a:ext cx="574675" cy="57467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 txBox="1"/>
          <p:nvPr/>
        </p:nvSpPr>
        <p:spPr>
          <a:xfrm rot="5400000">
            <a:off x="8435976" y="5095072"/>
            <a:ext cx="76835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6873875" y="6013450"/>
            <a:ext cx="342900" cy="342900"/>
          </a:xfrm>
          <a:prstGeom prst="rect">
            <a:avLst/>
          </a:prstGeom>
          <a:gradFill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0"/>
          </a:gra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43713" y="5918200"/>
            <a:ext cx="461962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3"/>
          <p:cNvSpPr txBox="1"/>
          <p:nvPr/>
        </p:nvSpPr>
        <p:spPr>
          <a:xfrm rot="5400000">
            <a:off x="6765132" y="5044272"/>
            <a:ext cx="76835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Google Shape;461;p23"/>
          <p:cNvCxnSpPr>
            <a:endCxn id="454" idx="2"/>
          </p:cNvCxnSpPr>
          <p:nvPr/>
        </p:nvCxnSpPr>
        <p:spPr>
          <a:xfrm rot="10800000" flipH="1">
            <a:off x="7219801" y="4173539"/>
            <a:ext cx="1238400" cy="12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2" name="Google Shape;462;p23"/>
          <p:cNvCxnSpPr>
            <a:stCxn id="450" idx="3"/>
            <a:endCxn id="455" idx="2"/>
          </p:cNvCxnSpPr>
          <p:nvPr/>
        </p:nvCxnSpPr>
        <p:spPr>
          <a:xfrm>
            <a:off x="7213600" y="4216400"/>
            <a:ext cx="1236600" cy="7311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3" name="Google Shape;463;p23"/>
          <p:cNvCxnSpPr>
            <a:stCxn id="450" idx="3"/>
            <a:endCxn id="456" idx="2"/>
          </p:cNvCxnSpPr>
          <p:nvPr/>
        </p:nvCxnSpPr>
        <p:spPr>
          <a:xfrm>
            <a:off x="7213600" y="4216400"/>
            <a:ext cx="1224000" cy="1959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4" name="Google Shape;464;p23"/>
          <p:cNvCxnSpPr>
            <a:endCxn id="454" idx="2"/>
          </p:cNvCxnSpPr>
          <p:nvPr/>
        </p:nvCxnSpPr>
        <p:spPr>
          <a:xfrm rot="10800000" flipH="1">
            <a:off x="7251601" y="4173539"/>
            <a:ext cx="1206600" cy="5952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5" name="Google Shape;465;p23"/>
          <p:cNvCxnSpPr>
            <a:stCxn id="449" idx="3"/>
            <a:endCxn id="455" idx="2"/>
          </p:cNvCxnSpPr>
          <p:nvPr/>
        </p:nvCxnSpPr>
        <p:spPr>
          <a:xfrm>
            <a:off x="7207250" y="4787900"/>
            <a:ext cx="1242900" cy="159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6" name="Google Shape;466;p23"/>
          <p:cNvCxnSpPr>
            <a:stCxn id="449" idx="3"/>
            <a:endCxn id="456" idx="2"/>
          </p:cNvCxnSpPr>
          <p:nvPr/>
        </p:nvCxnSpPr>
        <p:spPr>
          <a:xfrm>
            <a:off x="7207250" y="4787900"/>
            <a:ext cx="1230300" cy="13875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7" name="Google Shape;467;p23"/>
          <p:cNvCxnSpPr>
            <a:endCxn id="454" idx="2"/>
          </p:cNvCxnSpPr>
          <p:nvPr/>
        </p:nvCxnSpPr>
        <p:spPr>
          <a:xfrm rot="10800000" flipH="1">
            <a:off x="7316701" y="4173539"/>
            <a:ext cx="1141500" cy="19938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8" name="Google Shape;468;p23"/>
          <p:cNvCxnSpPr>
            <a:endCxn id="455" idx="2"/>
          </p:cNvCxnSpPr>
          <p:nvPr/>
        </p:nvCxnSpPr>
        <p:spPr>
          <a:xfrm rot="10800000" flipH="1">
            <a:off x="7305764" y="4947444"/>
            <a:ext cx="1144500" cy="12159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69" name="Google Shape;469;p23"/>
          <p:cNvCxnSpPr>
            <a:endCxn id="456" idx="2"/>
          </p:cNvCxnSpPr>
          <p:nvPr/>
        </p:nvCxnSpPr>
        <p:spPr>
          <a:xfrm>
            <a:off x="7305664" y="6162777"/>
            <a:ext cx="1131900" cy="12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aphicFrame>
        <p:nvGraphicFramePr>
          <p:cNvPr id="470" name="Google Shape;470;p23"/>
          <p:cNvGraphicFramePr/>
          <p:nvPr/>
        </p:nvGraphicFramePr>
        <p:xfrm>
          <a:off x="4856163" y="4275138"/>
          <a:ext cx="1804950" cy="172245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30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00" marB="28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15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57425" marR="57425" marT="28700" marB="28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/>
                        <a:t>0</a:t>
                      </a:r>
                      <a:endParaRPr sz="1500" u="none" strike="noStrike" cap="none"/>
                    </a:p>
                  </a:txBody>
                  <a:tcPr marL="57425" marR="57425" marT="28700" marB="28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1" name="Google Shape;471;p23"/>
          <p:cNvSpPr/>
          <p:nvPr/>
        </p:nvSpPr>
        <p:spPr>
          <a:xfrm>
            <a:off x="237222" y="405538"/>
            <a:ext cx="664617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Convolution v.s. Fully Connected</a:t>
            </a:r>
            <a:endParaRPr sz="3200" b="1" i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3"/>
          <p:cNvSpPr txBox="1"/>
          <p:nvPr/>
        </p:nvSpPr>
        <p:spPr>
          <a:xfrm>
            <a:off x="3000375" y="4687889"/>
            <a:ext cx="1936750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Fully-connected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3"/>
          <p:cNvSpPr/>
          <p:nvPr/>
        </p:nvSpPr>
        <p:spPr>
          <a:xfrm>
            <a:off x="8256589" y="3797300"/>
            <a:ext cx="915987" cy="2749550"/>
          </a:xfrm>
          <a:prstGeom prst="rect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7191375" y="1233488"/>
            <a:ext cx="2084388" cy="2057400"/>
          </a:xfrm>
          <a:prstGeom prst="rect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9" name="Google Shape;479;p24"/>
          <p:cNvGraphicFramePr/>
          <p:nvPr/>
        </p:nvGraphicFramePr>
        <p:xfrm>
          <a:off x="1924050" y="1849438"/>
          <a:ext cx="2873400" cy="274326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47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0" name="Google Shape;480;p24"/>
          <p:cNvSpPr txBox="1"/>
          <p:nvPr/>
        </p:nvSpPr>
        <p:spPr>
          <a:xfrm>
            <a:off x="2232026" y="4640263"/>
            <a:ext cx="2347913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1" name="Google Shape;481;p24"/>
          <p:cNvGraphicFramePr/>
          <p:nvPr/>
        </p:nvGraphicFramePr>
        <p:xfrm>
          <a:off x="1924050" y="152400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82" name="Google Shape;482;p24"/>
          <p:cNvSpPr txBox="1"/>
          <p:nvPr/>
        </p:nvSpPr>
        <p:spPr>
          <a:xfrm>
            <a:off x="3370263" y="236538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1924050" y="1849438"/>
            <a:ext cx="1417638" cy="13827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4" name="Google Shape;48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70376" y="1196976"/>
            <a:ext cx="2239963" cy="2227263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808080">
                <a:alpha val="42745"/>
              </a:srgbClr>
            </a:outerShdw>
          </a:effectLst>
        </p:spPr>
      </p:pic>
      <p:cxnSp>
        <p:nvCxnSpPr>
          <p:cNvPr id="485" name="Google Shape;485;p24"/>
          <p:cNvCxnSpPr/>
          <p:nvPr/>
        </p:nvCxnSpPr>
        <p:spPr>
          <a:xfrm>
            <a:off x="3546476" y="838201"/>
            <a:ext cx="860425" cy="56991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86" name="Google Shape;486;p24"/>
          <p:cNvCxnSpPr/>
          <p:nvPr/>
        </p:nvCxnSpPr>
        <p:spPr>
          <a:xfrm rot="10800000" flipH="1">
            <a:off x="3363914" y="1571625"/>
            <a:ext cx="1042987" cy="965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7" name="Google Shape;487;p24"/>
          <p:cNvSpPr txBox="1"/>
          <p:nvPr/>
        </p:nvSpPr>
        <p:spPr>
          <a:xfrm>
            <a:off x="6969125" y="49213"/>
            <a:ext cx="38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4"/>
          <p:cNvSpPr txBox="1"/>
          <p:nvPr/>
        </p:nvSpPr>
        <p:spPr>
          <a:xfrm>
            <a:off x="6969125" y="511176"/>
            <a:ext cx="3873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4"/>
          <p:cNvSpPr txBox="1"/>
          <p:nvPr/>
        </p:nvSpPr>
        <p:spPr>
          <a:xfrm>
            <a:off x="6969125" y="960438"/>
            <a:ext cx="38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4"/>
          <p:cNvSpPr txBox="1"/>
          <p:nvPr/>
        </p:nvSpPr>
        <p:spPr>
          <a:xfrm rot="5400000">
            <a:off x="6832601" y="1811338"/>
            <a:ext cx="820737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4"/>
          <p:cNvSpPr txBox="1"/>
          <p:nvPr/>
        </p:nvSpPr>
        <p:spPr>
          <a:xfrm>
            <a:off x="6985000" y="2701926"/>
            <a:ext cx="38735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4"/>
          <p:cNvSpPr txBox="1"/>
          <p:nvPr/>
        </p:nvSpPr>
        <p:spPr>
          <a:xfrm>
            <a:off x="6985000" y="3151188"/>
            <a:ext cx="38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4"/>
          <p:cNvSpPr txBox="1"/>
          <p:nvPr/>
        </p:nvSpPr>
        <p:spPr>
          <a:xfrm rot="5400000">
            <a:off x="6970713" y="3987801"/>
            <a:ext cx="539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4"/>
          <p:cNvSpPr txBox="1"/>
          <p:nvPr/>
        </p:nvSpPr>
        <p:spPr>
          <a:xfrm>
            <a:off x="6826250" y="4438651"/>
            <a:ext cx="5222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4"/>
          <p:cNvSpPr txBox="1"/>
          <p:nvPr/>
        </p:nvSpPr>
        <p:spPr>
          <a:xfrm>
            <a:off x="6819901" y="4902201"/>
            <a:ext cx="52387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4"/>
          <p:cNvSpPr txBox="1"/>
          <p:nvPr/>
        </p:nvSpPr>
        <p:spPr>
          <a:xfrm>
            <a:off x="6819900" y="5380038"/>
            <a:ext cx="5969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"/>
          <p:cNvSpPr txBox="1"/>
          <p:nvPr/>
        </p:nvSpPr>
        <p:spPr>
          <a:xfrm rot="5400000">
            <a:off x="7019132" y="6217445"/>
            <a:ext cx="423863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4"/>
          <p:cNvSpPr txBox="1"/>
          <p:nvPr/>
        </p:nvSpPr>
        <p:spPr>
          <a:xfrm>
            <a:off x="8020050" y="5303838"/>
            <a:ext cx="2370138" cy="1200150"/>
          </a:xfrm>
          <a:prstGeom prst="rect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connect to 9 inputs, not fully connected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4"/>
          <p:cNvSpPr txBox="1"/>
          <p:nvPr/>
        </p:nvSpPr>
        <p:spPr>
          <a:xfrm>
            <a:off x="6978650" y="1408113"/>
            <a:ext cx="388938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"/>
          <p:cNvSpPr txBox="1"/>
          <p:nvPr/>
        </p:nvSpPr>
        <p:spPr>
          <a:xfrm>
            <a:off x="6753226" y="3562351"/>
            <a:ext cx="63976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4"/>
          <p:cNvSpPr txBox="1"/>
          <p:nvPr/>
        </p:nvSpPr>
        <p:spPr>
          <a:xfrm>
            <a:off x="6815138" y="5789613"/>
            <a:ext cx="5969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4"/>
          <p:cNvSpPr/>
          <p:nvPr/>
        </p:nvSpPr>
        <p:spPr>
          <a:xfrm>
            <a:off x="7412039" y="146051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7412039" y="614364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4"/>
          <p:cNvSpPr/>
          <p:nvPr/>
        </p:nvSpPr>
        <p:spPr>
          <a:xfrm>
            <a:off x="7412039" y="1057276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4"/>
          <p:cNvSpPr/>
          <p:nvPr/>
        </p:nvSpPr>
        <p:spPr>
          <a:xfrm>
            <a:off x="7412039" y="1517651"/>
            <a:ext cx="269875" cy="27146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7412039" y="2355851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7412039" y="2825751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4"/>
          <p:cNvSpPr/>
          <p:nvPr/>
        </p:nvSpPr>
        <p:spPr>
          <a:xfrm>
            <a:off x="7412039" y="3267076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4"/>
          <p:cNvSpPr/>
          <p:nvPr/>
        </p:nvSpPr>
        <p:spPr>
          <a:xfrm>
            <a:off x="7412039" y="3729039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7412039" y="4519614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4"/>
          <p:cNvSpPr/>
          <p:nvPr/>
        </p:nvSpPr>
        <p:spPr>
          <a:xfrm>
            <a:off x="7412039" y="4987926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7412039" y="5430839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4"/>
          <p:cNvSpPr/>
          <p:nvPr/>
        </p:nvSpPr>
        <p:spPr>
          <a:xfrm>
            <a:off x="7412039" y="5892801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4" name="Google Shape;514;p24"/>
          <p:cNvCxnSpPr>
            <a:stCxn id="502" idx="3"/>
          </p:cNvCxnSpPr>
          <p:nvPr/>
        </p:nvCxnSpPr>
        <p:spPr>
          <a:xfrm>
            <a:off x="7681914" y="280989"/>
            <a:ext cx="1420800" cy="127650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5" name="Google Shape;515;p24"/>
          <p:cNvCxnSpPr>
            <a:stCxn id="503" idx="3"/>
          </p:cNvCxnSpPr>
          <p:nvPr/>
        </p:nvCxnSpPr>
        <p:spPr>
          <a:xfrm>
            <a:off x="7681914" y="749302"/>
            <a:ext cx="1420800" cy="807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6" name="Google Shape;516;p24"/>
          <p:cNvCxnSpPr>
            <a:stCxn id="504" idx="3"/>
          </p:cNvCxnSpPr>
          <p:nvPr/>
        </p:nvCxnSpPr>
        <p:spPr>
          <a:xfrm>
            <a:off x="7681914" y="1192213"/>
            <a:ext cx="1420800" cy="365100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7" name="Google Shape;517;p24"/>
          <p:cNvCxnSpPr/>
          <p:nvPr/>
        </p:nvCxnSpPr>
        <p:spPr>
          <a:xfrm rot="10800000" flipH="1">
            <a:off x="7700963" y="1597026"/>
            <a:ext cx="1350962" cy="893763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8" name="Google Shape;518;p24"/>
          <p:cNvCxnSpPr>
            <a:endCxn id="519" idx="2"/>
          </p:cNvCxnSpPr>
          <p:nvPr/>
        </p:nvCxnSpPr>
        <p:spPr>
          <a:xfrm rot="10800000" flipH="1">
            <a:off x="7700964" y="1537494"/>
            <a:ext cx="1371600" cy="1416000"/>
          </a:xfrm>
          <a:prstGeom prst="straightConnector1">
            <a:avLst/>
          </a:prstGeom>
          <a:noFill/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0" name="Google Shape;520;p24"/>
          <p:cNvCxnSpPr>
            <a:endCxn id="519" idx="2"/>
          </p:cNvCxnSpPr>
          <p:nvPr/>
        </p:nvCxnSpPr>
        <p:spPr>
          <a:xfrm rot="10800000" flipH="1">
            <a:off x="7700964" y="1537494"/>
            <a:ext cx="1371600" cy="1863600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1" name="Google Shape;521;p24"/>
          <p:cNvCxnSpPr>
            <a:stCxn id="510" idx="3"/>
          </p:cNvCxnSpPr>
          <p:nvPr/>
        </p:nvCxnSpPr>
        <p:spPr>
          <a:xfrm rot="10800000" flipH="1">
            <a:off x="7681914" y="1644652"/>
            <a:ext cx="1350900" cy="3009900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2" name="Google Shape;522;p24"/>
          <p:cNvCxnSpPr>
            <a:endCxn id="519" idx="2"/>
          </p:cNvCxnSpPr>
          <p:nvPr/>
        </p:nvCxnSpPr>
        <p:spPr>
          <a:xfrm rot="10800000" flipH="1">
            <a:off x="7681764" y="1537494"/>
            <a:ext cx="1390800" cy="35655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3" name="Google Shape;523;p24"/>
          <p:cNvCxnSpPr>
            <a:endCxn id="519" idx="2"/>
          </p:cNvCxnSpPr>
          <p:nvPr/>
        </p:nvCxnSpPr>
        <p:spPr>
          <a:xfrm rot="10800000" flipH="1">
            <a:off x="7681764" y="1537494"/>
            <a:ext cx="1390800" cy="4013100"/>
          </a:xfrm>
          <a:prstGeom prst="straightConnector1">
            <a:avLst/>
          </a:prstGeom>
          <a:noFill/>
          <a:ln w="38100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9" name="Google Shape;519;p24"/>
          <p:cNvSpPr/>
          <p:nvPr/>
        </p:nvSpPr>
        <p:spPr>
          <a:xfrm>
            <a:off x="9072564" y="1177925"/>
            <a:ext cx="720725" cy="719138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4"/>
          <p:cNvSpPr/>
          <p:nvPr/>
        </p:nvSpPr>
        <p:spPr>
          <a:xfrm>
            <a:off x="1970088" y="160338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4"/>
          <p:cNvSpPr/>
          <p:nvPr/>
        </p:nvSpPr>
        <p:spPr>
          <a:xfrm>
            <a:off x="2522538" y="131763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4"/>
          <p:cNvSpPr/>
          <p:nvPr/>
        </p:nvSpPr>
        <p:spPr>
          <a:xfrm>
            <a:off x="3033713" y="146051"/>
            <a:ext cx="455612" cy="454025"/>
          </a:xfrm>
          <a:prstGeom prst="ellipse">
            <a:avLst/>
          </a:prstGeom>
          <a:noFill/>
          <a:ln w="762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1970088" y="619126"/>
            <a:ext cx="455612" cy="455613"/>
          </a:xfrm>
          <a:prstGeom prst="ellipse">
            <a:avLst/>
          </a:prstGeom>
          <a:noFill/>
          <a:ln w="762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4"/>
          <p:cNvSpPr/>
          <p:nvPr/>
        </p:nvSpPr>
        <p:spPr>
          <a:xfrm>
            <a:off x="2522538" y="590551"/>
            <a:ext cx="455612" cy="455613"/>
          </a:xfrm>
          <a:prstGeom prst="ellipse">
            <a:avLst/>
          </a:prstGeom>
          <a:noFill/>
          <a:ln w="762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4"/>
          <p:cNvSpPr/>
          <p:nvPr/>
        </p:nvSpPr>
        <p:spPr>
          <a:xfrm>
            <a:off x="3033713" y="603251"/>
            <a:ext cx="455612" cy="455613"/>
          </a:xfrm>
          <a:prstGeom prst="ellipse">
            <a:avLst/>
          </a:prstGeom>
          <a:noFill/>
          <a:ln w="762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1982788" y="1074738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2535238" y="1046163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4"/>
          <p:cNvSpPr/>
          <p:nvPr/>
        </p:nvSpPr>
        <p:spPr>
          <a:xfrm>
            <a:off x="3046413" y="1058863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4"/>
          <p:cNvSpPr txBox="1"/>
          <p:nvPr/>
        </p:nvSpPr>
        <p:spPr>
          <a:xfrm>
            <a:off x="1905000" y="5258561"/>
            <a:ext cx="3276600" cy="523220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fewer parameters!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8" name="Google Shape;538;p25"/>
          <p:cNvGraphicFramePr/>
          <p:nvPr/>
        </p:nvGraphicFramePr>
        <p:xfrm>
          <a:off x="1924051" y="1849438"/>
          <a:ext cx="2873400" cy="274326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47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39" name="Google Shape;539;p25"/>
          <p:cNvGraphicFramePr/>
          <p:nvPr/>
        </p:nvGraphicFramePr>
        <p:xfrm>
          <a:off x="1924051" y="152400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0" name="Google Shape;540;p25"/>
          <p:cNvSpPr txBox="1"/>
          <p:nvPr/>
        </p:nvSpPr>
        <p:spPr>
          <a:xfrm>
            <a:off x="3546475" y="606426"/>
            <a:ext cx="1447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2435225" y="1835151"/>
            <a:ext cx="1417638" cy="1381125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 txBox="1"/>
          <p:nvPr/>
        </p:nvSpPr>
        <p:spPr>
          <a:xfrm>
            <a:off x="6969125" y="49213"/>
            <a:ext cx="38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5"/>
          <p:cNvSpPr txBox="1"/>
          <p:nvPr/>
        </p:nvSpPr>
        <p:spPr>
          <a:xfrm>
            <a:off x="6969125" y="511176"/>
            <a:ext cx="38735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5"/>
          <p:cNvSpPr txBox="1"/>
          <p:nvPr/>
        </p:nvSpPr>
        <p:spPr>
          <a:xfrm>
            <a:off x="6969125" y="960438"/>
            <a:ext cx="38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5"/>
          <p:cNvSpPr txBox="1"/>
          <p:nvPr/>
        </p:nvSpPr>
        <p:spPr>
          <a:xfrm rot="5400000">
            <a:off x="6832601" y="1811338"/>
            <a:ext cx="820737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5"/>
          <p:cNvSpPr txBox="1"/>
          <p:nvPr/>
        </p:nvSpPr>
        <p:spPr>
          <a:xfrm>
            <a:off x="6985000" y="2239963"/>
            <a:ext cx="38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5"/>
          <p:cNvSpPr txBox="1"/>
          <p:nvPr/>
        </p:nvSpPr>
        <p:spPr>
          <a:xfrm>
            <a:off x="6985000" y="2701926"/>
            <a:ext cx="38735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5"/>
          <p:cNvSpPr txBox="1"/>
          <p:nvPr/>
        </p:nvSpPr>
        <p:spPr>
          <a:xfrm>
            <a:off x="6985000" y="3151188"/>
            <a:ext cx="38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5"/>
          <p:cNvSpPr txBox="1"/>
          <p:nvPr/>
        </p:nvSpPr>
        <p:spPr>
          <a:xfrm rot="5400000">
            <a:off x="6970713" y="3987801"/>
            <a:ext cx="539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5"/>
          <p:cNvSpPr txBox="1"/>
          <p:nvPr/>
        </p:nvSpPr>
        <p:spPr>
          <a:xfrm>
            <a:off x="6826250" y="4438651"/>
            <a:ext cx="52228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5"/>
          <p:cNvSpPr txBox="1"/>
          <p:nvPr/>
        </p:nvSpPr>
        <p:spPr>
          <a:xfrm>
            <a:off x="6819901" y="4902201"/>
            <a:ext cx="52387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5"/>
          <p:cNvSpPr txBox="1"/>
          <p:nvPr/>
        </p:nvSpPr>
        <p:spPr>
          <a:xfrm>
            <a:off x="6819900" y="5380038"/>
            <a:ext cx="5969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5"/>
          <p:cNvSpPr txBox="1"/>
          <p:nvPr/>
        </p:nvSpPr>
        <p:spPr>
          <a:xfrm rot="5400000">
            <a:off x="7019132" y="6217445"/>
            <a:ext cx="423863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5"/>
          <p:cNvSpPr txBox="1"/>
          <p:nvPr/>
        </p:nvSpPr>
        <p:spPr>
          <a:xfrm>
            <a:off x="6978650" y="1408113"/>
            <a:ext cx="388938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5"/>
          <p:cNvSpPr txBox="1"/>
          <p:nvPr/>
        </p:nvSpPr>
        <p:spPr>
          <a:xfrm>
            <a:off x="6753226" y="3562351"/>
            <a:ext cx="63976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5"/>
          <p:cNvSpPr txBox="1"/>
          <p:nvPr/>
        </p:nvSpPr>
        <p:spPr>
          <a:xfrm>
            <a:off x="6815138" y="5789613"/>
            <a:ext cx="5969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7412039" y="146051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5"/>
          <p:cNvSpPr/>
          <p:nvPr/>
        </p:nvSpPr>
        <p:spPr>
          <a:xfrm>
            <a:off x="7412039" y="614364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5"/>
          <p:cNvSpPr/>
          <p:nvPr/>
        </p:nvSpPr>
        <p:spPr>
          <a:xfrm>
            <a:off x="7412039" y="1057276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7412039" y="1517651"/>
            <a:ext cx="269875" cy="27146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5"/>
          <p:cNvSpPr/>
          <p:nvPr/>
        </p:nvSpPr>
        <p:spPr>
          <a:xfrm>
            <a:off x="7412039" y="2355851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5"/>
          <p:cNvSpPr/>
          <p:nvPr/>
        </p:nvSpPr>
        <p:spPr>
          <a:xfrm>
            <a:off x="7412039" y="2825751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5"/>
          <p:cNvSpPr/>
          <p:nvPr/>
        </p:nvSpPr>
        <p:spPr>
          <a:xfrm>
            <a:off x="7412039" y="3267076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5"/>
          <p:cNvSpPr/>
          <p:nvPr/>
        </p:nvSpPr>
        <p:spPr>
          <a:xfrm>
            <a:off x="7412039" y="3729039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5"/>
          <p:cNvSpPr/>
          <p:nvPr/>
        </p:nvSpPr>
        <p:spPr>
          <a:xfrm>
            <a:off x="7412039" y="4519614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5"/>
          <p:cNvSpPr/>
          <p:nvPr/>
        </p:nvSpPr>
        <p:spPr>
          <a:xfrm>
            <a:off x="7412039" y="4987926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7412039" y="5430839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5"/>
          <p:cNvSpPr/>
          <p:nvPr/>
        </p:nvSpPr>
        <p:spPr>
          <a:xfrm>
            <a:off x="7412039" y="5892801"/>
            <a:ext cx="269875" cy="26987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25"/>
          <p:cNvCxnSpPr>
            <a:stCxn id="557" idx="3"/>
          </p:cNvCxnSpPr>
          <p:nvPr/>
        </p:nvCxnSpPr>
        <p:spPr>
          <a:xfrm>
            <a:off x="7681914" y="280989"/>
            <a:ext cx="1420800" cy="127650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0" name="Google Shape;570;p25"/>
          <p:cNvCxnSpPr>
            <a:stCxn id="558" idx="3"/>
          </p:cNvCxnSpPr>
          <p:nvPr/>
        </p:nvCxnSpPr>
        <p:spPr>
          <a:xfrm>
            <a:off x="7681914" y="749302"/>
            <a:ext cx="1420800" cy="807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1" name="Google Shape;571;p25"/>
          <p:cNvCxnSpPr>
            <a:stCxn id="559" idx="3"/>
          </p:cNvCxnSpPr>
          <p:nvPr/>
        </p:nvCxnSpPr>
        <p:spPr>
          <a:xfrm>
            <a:off x="7681914" y="1192213"/>
            <a:ext cx="1420800" cy="365100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2" name="Google Shape;572;p25"/>
          <p:cNvCxnSpPr/>
          <p:nvPr/>
        </p:nvCxnSpPr>
        <p:spPr>
          <a:xfrm rot="10800000" flipH="1">
            <a:off x="7700963" y="1597026"/>
            <a:ext cx="1350962" cy="893763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3" name="Google Shape;573;p25"/>
          <p:cNvCxnSpPr>
            <a:endCxn id="574" idx="2"/>
          </p:cNvCxnSpPr>
          <p:nvPr/>
        </p:nvCxnSpPr>
        <p:spPr>
          <a:xfrm rot="10800000" flipH="1">
            <a:off x="7700964" y="1537494"/>
            <a:ext cx="1371600" cy="1416000"/>
          </a:xfrm>
          <a:prstGeom prst="straightConnector1">
            <a:avLst/>
          </a:prstGeom>
          <a:noFill/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5" name="Google Shape;575;p25"/>
          <p:cNvCxnSpPr>
            <a:endCxn id="574" idx="2"/>
          </p:cNvCxnSpPr>
          <p:nvPr/>
        </p:nvCxnSpPr>
        <p:spPr>
          <a:xfrm rot="10800000" flipH="1">
            <a:off x="7700964" y="1537494"/>
            <a:ext cx="1371600" cy="1863600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6" name="Google Shape;576;p25"/>
          <p:cNvCxnSpPr>
            <a:stCxn id="565" idx="3"/>
          </p:cNvCxnSpPr>
          <p:nvPr/>
        </p:nvCxnSpPr>
        <p:spPr>
          <a:xfrm rot="10800000" flipH="1">
            <a:off x="7681914" y="1644652"/>
            <a:ext cx="1350900" cy="3009900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7" name="Google Shape;577;p25"/>
          <p:cNvCxnSpPr>
            <a:endCxn id="574" idx="2"/>
          </p:cNvCxnSpPr>
          <p:nvPr/>
        </p:nvCxnSpPr>
        <p:spPr>
          <a:xfrm rot="10800000" flipH="1">
            <a:off x="7681764" y="1537494"/>
            <a:ext cx="1390800" cy="35655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8" name="Google Shape;578;p25"/>
          <p:cNvCxnSpPr>
            <a:endCxn id="574" idx="2"/>
          </p:cNvCxnSpPr>
          <p:nvPr/>
        </p:nvCxnSpPr>
        <p:spPr>
          <a:xfrm rot="10800000" flipH="1">
            <a:off x="7681764" y="1537494"/>
            <a:ext cx="1390800" cy="4013100"/>
          </a:xfrm>
          <a:prstGeom prst="straightConnector1">
            <a:avLst/>
          </a:prstGeom>
          <a:noFill/>
          <a:ln w="38100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74" name="Google Shape;574;p25"/>
          <p:cNvSpPr/>
          <p:nvPr/>
        </p:nvSpPr>
        <p:spPr>
          <a:xfrm>
            <a:off x="9072564" y="1177925"/>
            <a:ext cx="720725" cy="719138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9051926" y="2973389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5"/>
          <p:cNvSpPr/>
          <p:nvPr/>
        </p:nvSpPr>
        <p:spPr>
          <a:xfrm>
            <a:off x="1970088" y="160338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5"/>
          <p:cNvSpPr/>
          <p:nvPr/>
        </p:nvSpPr>
        <p:spPr>
          <a:xfrm>
            <a:off x="2522538" y="131763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5"/>
          <p:cNvSpPr/>
          <p:nvPr/>
        </p:nvSpPr>
        <p:spPr>
          <a:xfrm>
            <a:off x="3033713" y="146051"/>
            <a:ext cx="455612" cy="454025"/>
          </a:xfrm>
          <a:prstGeom prst="ellipse">
            <a:avLst/>
          </a:prstGeom>
          <a:noFill/>
          <a:ln w="762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5"/>
          <p:cNvSpPr/>
          <p:nvPr/>
        </p:nvSpPr>
        <p:spPr>
          <a:xfrm>
            <a:off x="1970088" y="619126"/>
            <a:ext cx="455612" cy="455613"/>
          </a:xfrm>
          <a:prstGeom prst="ellipse">
            <a:avLst/>
          </a:prstGeom>
          <a:noFill/>
          <a:ln w="762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5"/>
          <p:cNvSpPr/>
          <p:nvPr/>
        </p:nvSpPr>
        <p:spPr>
          <a:xfrm>
            <a:off x="2522538" y="590551"/>
            <a:ext cx="455612" cy="455613"/>
          </a:xfrm>
          <a:prstGeom prst="ellipse">
            <a:avLst/>
          </a:prstGeom>
          <a:noFill/>
          <a:ln w="762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3033713" y="603251"/>
            <a:ext cx="455612" cy="455613"/>
          </a:xfrm>
          <a:prstGeom prst="ellipse">
            <a:avLst/>
          </a:prstGeom>
          <a:noFill/>
          <a:ln w="762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5"/>
          <p:cNvSpPr/>
          <p:nvPr/>
        </p:nvSpPr>
        <p:spPr>
          <a:xfrm>
            <a:off x="1982788" y="1074738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2535238" y="1046163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5"/>
          <p:cNvSpPr/>
          <p:nvPr/>
        </p:nvSpPr>
        <p:spPr>
          <a:xfrm>
            <a:off x="3046413" y="1058863"/>
            <a:ext cx="455612" cy="455612"/>
          </a:xfrm>
          <a:prstGeom prst="ellipse">
            <a:avLst/>
          </a:prstGeom>
          <a:noFill/>
          <a:ln w="762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5"/>
          <p:cNvSpPr txBox="1"/>
          <p:nvPr/>
        </p:nvSpPr>
        <p:spPr>
          <a:xfrm>
            <a:off x="8039100" y="5761039"/>
            <a:ext cx="2628900" cy="460375"/>
          </a:xfrm>
          <a:prstGeom prst="rect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weights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0" name="Google Shape;590;p25"/>
          <p:cNvCxnSpPr>
            <a:stCxn id="558" idx="3"/>
            <a:endCxn id="579" idx="2"/>
          </p:cNvCxnSpPr>
          <p:nvPr/>
        </p:nvCxnSpPr>
        <p:spPr>
          <a:xfrm>
            <a:off x="7681914" y="749302"/>
            <a:ext cx="1370100" cy="2584500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1" name="Google Shape;591;p25"/>
          <p:cNvCxnSpPr>
            <a:stCxn id="559" idx="3"/>
            <a:endCxn id="579" idx="2"/>
          </p:cNvCxnSpPr>
          <p:nvPr/>
        </p:nvCxnSpPr>
        <p:spPr>
          <a:xfrm>
            <a:off x="7681914" y="1192213"/>
            <a:ext cx="1370100" cy="2141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2" name="Google Shape;592;p25"/>
          <p:cNvCxnSpPr>
            <a:stCxn id="560" idx="3"/>
            <a:endCxn id="579" idx="2"/>
          </p:cNvCxnSpPr>
          <p:nvPr/>
        </p:nvCxnSpPr>
        <p:spPr>
          <a:xfrm>
            <a:off x="7681914" y="1653382"/>
            <a:ext cx="1370100" cy="1680300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3" name="Google Shape;593;p25"/>
          <p:cNvCxnSpPr>
            <a:endCxn id="579" idx="2"/>
          </p:cNvCxnSpPr>
          <p:nvPr/>
        </p:nvCxnSpPr>
        <p:spPr>
          <a:xfrm>
            <a:off x="7710626" y="2981252"/>
            <a:ext cx="1341300" cy="3525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4" name="Google Shape;594;p25"/>
          <p:cNvCxnSpPr>
            <a:endCxn id="579" idx="2"/>
          </p:cNvCxnSpPr>
          <p:nvPr/>
        </p:nvCxnSpPr>
        <p:spPr>
          <a:xfrm rot="10800000" flipH="1">
            <a:off x="7697726" y="3333752"/>
            <a:ext cx="1354200" cy="125400"/>
          </a:xfrm>
          <a:prstGeom prst="straightConnector1">
            <a:avLst/>
          </a:prstGeom>
          <a:noFill/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5" name="Google Shape;595;p25"/>
          <p:cNvCxnSpPr>
            <a:endCxn id="579" idx="2"/>
          </p:cNvCxnSpPr>
          <p:nvPr/>
        </p:nvCxnSpPr>
        <p:spPr>
          <a:xfrm rot="10800000" flipH="1">
            <a:off x="7697726" y="3333752"/>
            <a:ext cx="1354200" cy="570000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6" name="Google Shape;596;p25"/>
          <p:cNvCxnSpPr>
            <a:stCxn id="566" idx="3"/>
          </p:cNvCxnSpPr>
          <p:nvPr/>
        </p:nvCxnSpPr>
        <p:spPr>
          <a:xfrm rot="10800000" flipH="1">
            <a:off x="7681914" y="3360664"/>
            <a:ext cx="1336800" cy="1762200"/>
          </a:xfrm>
          <a:prstGeom prst="straightConnector1">
            <a:avLst/>
          </a:prstGeom>
          <a:noFill/>
          <a:ln w="38100" cap="flat" cmpd="sng">
            <a:solidFill>
              <a:srgbClr val="00B0F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7" name="Google Shape;597;p25"/>
          <p:cNvCxnSpPr>
            <a:stCxn id="567" idx="3"/>
          </p:cNvCxnSpPr>
          <p:nvPr/>
        </p:nvCxnSpPr>
        <p:spPr>
          <a:xfrm rot="10800000" flipH="1">
            <a:off x="7681914" y="3327477"/>
            <a:ext cx="1359000" cy="2238300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8" name="Google Shape;598;p25"/>
          <p:cNvCxnSpPr>
            <a:stCxn id="568" idx="3"/>
          </p:cNvCxnSpPr>
          <p:nvPr/>
        </p:nvCxnSpPr>
        <p:spPr>
          <a:xfrm rot="10800000" flipH="1">
            <a:off x="7681914" y="3389239"/>
            <a:ext cx="1343100" cy="2638500"/>
          </a:xfrm>
          <a:prstGeom prst="straightConnector1">
            <a:avLst/>
          </a:prstGeom>
          <a:noFill/>
          <a:ln w="38100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9" name="Google Shape;599;p25"/>
          <p:cNvSpPr txBox="1"/>
          <p:nvPr/>
        </p:nvSpPr>
        <p:spPr>
          <a:xfrm>
            <a:off x="2232026" y="4640263"/>
            <a:ext cx="2347913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38625" y="1216025"/>
            <a:ext cx="2230438" cy="2243138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808080">
                <a:alpha val="42745"/>
              </a:srgbClr>
            </a:outerShdw>
          </a:effectLst>
        </p:spPr>
      </p:pic>
      <p:cxnSp>
        <p:nvCxnSpPr>
          <p:cNvPr id="601" name="Google Shape;601;p25"/>
          <p:cNvCxnSpPr/>
          <p:nvPr/>
        </p:nvCxnSpPr>
        <p:spPr>
          <a:xfrm rot="10800000" flipH="1">
            <a:off x="3852863" y="1557338"/>
            <a:ext cx="944562" cy="93345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2" name="Google Shape;602;p25"/>
          <p:cNvCxnSpPr/>
          <p:nvPr/>
        </p:nvCxnSpPr>
        <p:spPr>
          <a:xfrm>
            <a:off x="3546475" y="838200"/>
            <a:ext cx="1250950" cy="685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03" name="Google Shape;603;p25"/>
          <p:cNvSpPr txBox="1"/>
          <p:nvPr/>
        </p:nvSpPr>
        <p:spPr>
          <a:xfrm>
            <a:off x="2133600" y="5257801"/>
            <a:ext cx="3483048" cy="461665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Fewer parameters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5"/>
          <p:cNvSpPr txBox="1"/>
          <p:nvPr/>
        </p:nvSpPr>
        <p:spPr>
          <a:xfrm>
            <a:off x="2153478" y="5937960"/>
            <a:ext cx="3485322" cy="461665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 fewer parameters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6"/>
          <p:cNvSpPr txBox="1">
            <a:spLocks noGrp="1"/>
          </p:cNvSpPr>
          <p:nvPr>
            <p:ph type="title"/>
          </p:nvPr>
        </p:nvSpPr>
        <p:spPr>
          <a:xfrm>
            <a:off x="219075" y="34872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The whole CNN</a:t>
            </a:r>
            <a:endParaRPr/>
          </a:p>
        </p:txBody>
      </p:sp>
      <p:grpSp>
        <p:nvGrpSpPr>
          <p:cNvPr id="610" name="Google Shape;610;p26"/>
          <p:cNvGrpSpPr/>
          <p:nvPr/>
        </p:nvGrpSpPr>
        <p:grpSpPr>
          <a:xfrm>
            <a:off x="2273301" y="2274889"/>
            <a:ext cx="2906713" cy="3200400"/>
            <a:chOff x="-1626455" y="3999118"/>
            <a:chExt cx="2906568" cy="3201477"/>
          </a:xfrm>
        </p:grpSpPr>
        <p:pic>
          <p:nvPicPr>
            <p:cNvPr id="611" name="Google Shape;611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2" name="Google Shape;612;p26"/>
            <p:cNvSpPr txBox="1"/>
            <p:nvPr/>
          </p:nvSpPr>
          <p:spPr>
            <a:xfrm>
              <a:off x="-1626455" y="5442856"/>
              <a:ext cx="2906568" cy="707886"/>
            </a:xfrm>
            <a:prstGeom prst="rect">
              <a:avLst/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Fully Connected Feedforward network</a:t>
              </a:r>
              <a:endPara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13" name="Google Shape;613;p26" descr="http://s.hswstatic.com/gif/whiskers-sam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8938" y="192089"/>
            <a:ext cx="1771650" cy="12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6"/>
          <p:cNvSpPr txBox="1"/>
          <p:nvPr/>
        </p:nvSpPr>
        <p:spPr>
          <a:xfrm>
            <a:off x="2801939" y="1706564"/>
            <a:ext cx="2046287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 dog ……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6"/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 Pooling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Convolution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6"/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 Pooling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6"/>
          <p:cNvSpPr txBox="1"/>
          <p:nvPr/>
        </p:nvSpPr>
        <p:spPr>
          <a:xfrm>
            <a:off x="4848219" y="6055666"/>
            <a:ext cx="1556991" cy="400110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Flattened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6"/>
          <p:cNvSpPr/>
          <p:nvPr/>
        </p:nvSpPr>
        <p:spPr>
          <a:xfrm>
            <a:off x="7392988" y="1450976"/>
            <a:ext cx="546100" cy="44291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7392988" y="2562226"/>
            <a:ext cx="546100" cy="44291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7392988" y="3654426"/>
            <a:ext cx="546100" cy="4413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6"/>
          <p:cNvSpPr/>
          <p:nvPr/>
        </p:nvSpPr>
        <p:spPr>
          <a:xfrm>
            <a:off x="7392988" y="4689476"/>
            <a:ext cx="546100" cy="4413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6"/>
          <p:cNvSpPr/>
          <p:nvPr/>
        </p:nvSpPr>
        <p:spPr>
          <a:xfrm rot="10800000">
            <a:off x="6405563" y="5753101"/>
            <a:ext cx="1377950" cy="75247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6"/>
          <p:cNvSpPr/>
          <p:nvPr/>
        </p:nvSpPr>
        <p:spPr>
          <a:xfrm rot="-5400000">
            <a:off x="3678238" y="5340351"/>
            <a:ext cx="968375" cy="1238250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6"/>
          <p:cNvSpPr txBox="1"/>
          <p:nvPr/>
        </p:nvSpPr>
        <p:spPr>
          <a:xfrm>
            <a:off x="8948739" y="3414713"/>
            <a:ext cx="169068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repeat many times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6"/>
          <p:cNvSpPr/>
          <p:nvPr/>
        </p:nvSpPr>
        <p:spPr>
          <a:xfrm flipH="1">
            <a:off x="8550276" y="1806576"/>
            <a:ext cx="334963" cy="4048125"/>
          </a:xfrm>
          <a:prstGeom prst="leftBrace">
            <a:avLst>
              <a:gd name="adj1" fmla="val 72890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6692901" y="2976563"/>
            <a:ext cx="1857375" cy="69691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6692901" y="5080001"/>
            <a:ext cx="1857375" cy="69691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7"/>
          <p:cNvSpPr txBox="1">
            <a:spLocks noGrp="1"/>
          </p:cNvSpPr>
          <p:nvPr>
            <p:ph type="title"/>
          </p:nvPr>
        </p:nvSpPr>
        <p:spPr>
          <a:xfrm>
            <a:off x="160338" y="39528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Max Pooling</a:t>
            </a: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2419350" y="3284539"/>
            <a:ext cx="719138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7"/>
          <p:cNvSpPr/>
          <p:nvPr/>
        </p:nvSpPr>
        <p:spPr>
          <a:xfrm>
            <a:off x="3260726" y="3284539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7"/>
          <p:cNvSpPr/>
          <p:nvPr/>
        </p:nvSpPr>
        <p:spPr>
          <a:xfrm>
            <a:off x="4103689" y="3284539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7"/>
          <p:cNvSpPr/>
          <p:nvPr/>
        </p:nvSpPr>
        <p:spPr>
          <a:xfrm>
            <a:off x="4945064" y="3284539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7"/>
          <p:cNvSpPr/>
          <p:nvPr/>
        </p:nvSpPr>
        <p:spPr>
          <a:xfrm>
            <a:off x="2419350" y="4084639"/>
            <a:ext cx="719138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7"/>
          <p:cNvSpPr/>
          <p:nvPr/>
        </p:nvSpPr>
        <p:spPr>
          <a:xfrm>
            <a:off x="3260726" y="4084639"/>
            <a:ext cx="720725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7"/>
          <p:cNvSpPr/>
          <p:nvPr/>
        </p:nvSpPr>
        <p:spPr>
          <a:xfrm>
            <a:off x="4103689" y="4084639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7"/>
          <p:cNvSpPr/>
          <p:nvPr/>
        </p:nvSpPr>
        <p:spPr>
          <a:xfrm>
            <a:off x="4945064" y="4084639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7"/>
          <p:cNvSpPr/>
          <p:nvPr/>
        </p:nvSpPr>
        <p:spPr>
          <a:xfrm>
            <a:off x="2419350" y="4943475"/>
            <a:ext cx="719138" cy="719138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7"/>
          <p:cNvSpPr/>
          <p:nvPr/>
        </p:nvSpPr>
        <p:spPr>
          <a:xfrm>
            <a:off x="3260726" y="4943475"/>
            <a:ext cx="720725" cy="719138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7"/>
          <p:cNvSpPr/>
          <p:nvPr/>
        </p:nvSpPr>
        <p:spPr>
          <a:xfrm>
            <a:off x="4103689" y="4943475"/>
            <a:ext cx="719137" cy="719138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7"/>
          <p:cNvSpPr/>
          <p:nvPr/>
        </p:nvSpPr>
        <p:spPr>
          <a:xfrm>
            <a:off x="4945064" y="4943475"/>
            <a:ext cx="719137" cy="719138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7"/>
          <p:cNvSpPr/>
          <p:nvPr/>
        </p:nvSpPr>
        <p:spPr>
          <a:xfrm>
            <a:off x="2419350" y="5743575"/>
            <a:ext cx="719138" cy="719138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7"/>
          <p:cNvSpPr/>
          <p:nvPr/>
        </p:nvSpPr>
        <p:spPr>
          <a:xfrm>
            <a:off x="3260726" y="5743575"/>
            <a:ext cx="720725" cy="719138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7"/>
          <p:cNvSpPr/>
          <p:nvPr/>
        </p:nvSpPr>
        <p:spPr>
          <a:xfrm>
            <a:off x="4103689" y="5743575"/>
            <a:ext cx="719137" cy="719138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7"/>
          <p:cNvSpPr/>
          <p:nvPr/>
        </p:nvSpPr>
        <p:spPr>
          <a:xfrm>
            <a:off x="4945064" y="5743575"/>
            <a:ext cx="719137" cy="719138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1" name="Google Shape;651;p27"/>
          <p:cNvGraphicFramePr/>
          <p:nvPr/>
        </p:nvGraphicFramePr>
        <p:xfrm>
          <a:off x="7235826" y="1617663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2" name="Google Shape;652;p27"/>
          <p:cNvSpPr txBox="1"/>
          <p:nvPr/>
        </p:nvSpPr>
        <p:spPr>
          <a:xfrm>
            <a:off x="8724900" y="2085976"/>
            <a:ext cx="14478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7"/>
          <p:cNvSpPr/>
          <p:nvPr/>
        </p:nvSpPr>
        <p:spPr>
          <a:xfrm>
            <a:off x="6588126" y="3354389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7"/>
          <p:cNvSpPr/>
          <p:nvPr/>
        </p:nvSpPr>
        <p:spPr>
          <a:xfrm>
            <a:off x="7429501" y="3354389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7"/>
          <p:cNvSpPr/>
          <p:nvPr/>
        </p:nvSpPr>
        <p:spPr>
          <a:xfrm>
            <a:off x="8272464" y="3354389"/>
            <a:ext cx="719137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7"/>
          <p:cNvSpPr/>
          <p:nvPr/>
        </p:nvSpPr>
        <p:spPr>
          <a:xfrm>
            <a:off x="9113839" y="3354389"/>
            <a:ext cx="719137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7"/>
          <p:cNvSpPr/>
          <p:nvPr/>
        </p:nvSpPr>
        <p:spPr>
          <a:xfrm>
            <a:off x="6588126" y="4154489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7"/>
          <p:cNvSpPr/>
          <p:nvPr/>
        </p:nvSpPr>
        <p:spPr>
          <a:xfrm>
            <a:off x="7429501" y="4154489"/>
            <a:ext cx="720725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7"/>
          <p:cNvSpPr/>
          <p:nvPr/>
        </p:nvSpPr>
        <p:spPr>
          <a:xfrm>
            <a:off x="8272464" y="4154489"/>
            <a:ext cx="719137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7"/>
          <p:cNvSpPr/>
          <p:nvPr/>
        </p:nvSpPr>
        <p:spPr>
          <a:xfrm>
            <a:off x="9113839" y="4154489"/>
            <a:ext cx="719137" cy="719137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7"/>
          <p:cNvSpPr/>
          <p:nvPr/>
        </p:nvSpPr>
        <p:spPr>
          <a:xfrm>
            <a:off x="6588126" y="5011739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7"/>
          <p:cNvSpPr/>
          <p:nvPr/>
        </p:nvSpPr>
        <p:spPr>
          <a:xfrm>
            <a:off x="7429501" y="5011739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7"/>
          <p:cNvSpPr/>
          <p:nvPr/>
        </p:nvSpPr>
        <p:spPr>
          <a:xfrm>
            <a:off x="8272464" y="5011739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7"/>
          <p:cNvSpPr/>
          <p:nvPr/>
        </p:nvSpPr>
        <p:spPr>
          <a:xfrm>
            <a:off x="9113839" y="5011739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7"/>
          <p:cNvSpPr/>
          <p:nvPr/>
        </p:nvSpPr>
        <p:spPr>
          <a:xfrm>
            <a:off x="6588126" y="5811839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7"/>
          <p:cNvSpPr/>
          <p:nvPr/>
        </p:nvSpPr>
        <p:spPr>
          <a:xfrm>
            <a:off x="7429501" y="5811839"/>
            <a:ext cx="720725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7"/>
          <p:cNvSpPr/>
          <p:nvPr/>
        </p:nvSpPr>
        <p:spPr>
          <a:xfrm>
            <a:off x="8272464" y="5811839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7"/>
          <p:cNvSpPr/>
          <p:nvPr/>
        </p:nvSpPr>
        <p:spPr>
          <a:xfrm>
            <a:off x="9113839" y="5811839"/>
            <a:ext cx="719137" cy="720725"/>
          </a:xfrm>
          <a:prstGeom prst="ellipse">
            <a:avLst/>
          </a:prstGeom>
          <a:gradFill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0"/>
          </a:gradFill>
          <a:ln w="9525" cap="flat" cmpd="sng">
            <a:solidFill>
              <a:srgbClr val="C6C6F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9" name="Google Shape;669;p27"/>
          <p:cNvGraphicFramePr/>
          <p:nvPr/>
        </p:nvGraphicFramePr>
        <p:xfrm>
          <a:off x="3230564" y="1617663"/>
          <a:ext cx="1622400" cy="137163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-1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1</a:t>
                      </a:r>
                      <a:endParaRPr sz="2400" u="none" strike="noStrike" cap="none"/>
                    </a:p>
                  </a:txBody>
                  <a:tcPr marL="91450" marR="91450" marT="45725" marB="457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70" name="Google Shape;670;p27"/>
          <p:cNvSpPr txBox="1"/>
          <p:nvPr/>
        </p:nvSpPr>
        <p:spPr>
          <a:xfrm>
            <a:off x="4852988" y="2071688"/>
            <a:ext cx="14478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2419350" y="3284539"/>
            <a:ext cx="1562100" cy="1520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4103688" y="3284539"/>
            <a:ext cx="1560512" cy="1520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2419350" y="4940301"/>
            <a:ext cx="1562100" cy="1520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4103688" y="4940301"/>
            <a:ext cx="1560512" cy="15208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6588125" y="3325814"/>
            <a:ext cx="1562100" cy="1519237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8272463" y="3325814"/>
            <a:ext cx="1560512" cy="1519237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6588125" y="4981575"/>
            <a:ext cx="1562100" cy="1519238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8272463" y="4981575"/>
            <a:ext cx="1560512" cy="1519238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8"/>
          <p:cNvSpPr txBox="1">
            <a:spLocks noGrp="1"/>
          </p:cNvSpPr>
          <p:nvPr>
            <p:ph type="title"/>
          </p:nvPr>
        </p:nvSpPr>
        <p:spPr>
          <a:xfrm>
            <a:off x="241300" y="39740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Why Pooling</a:t>
            </a:r>
            <a:endParaRPr/>
          </a:p>
        </p:txBody>
      </p:sp>
      <p:sp>
        <p:nvSpPr>
          <p:cNvPr id="684" name="Google Shape;684;p28"/>
          <p:cNvSpPr txBox="1">
            <a:spLocks noGrp="1"/>
          </p:cNvSpPr>
          <p:nvPr>
            <p:ph type="body" idx="1"/>
          </p:nvPr>
        </p:nvSpPr>
        <p:spPr>
          <a:xfrm>
            <a:off x="2152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Subsampling pixels will not change the object</a:t>
            </a:r>
            <a:endParaRPr sz="2800"/>
          </a:p>
        </p:txBody>
      </p:sp>
      <p:pic>
        <p:nvPicPr>
          <p:cNvPr id="685" name="Google Shape;685;p28" descr="http://insider.si.edu/wordpress/wp-content/uploads/2016/04/Mountain_Bluebir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9675" y="2924175"/>
            <a:ext cx="3335338" cy="226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28" descr="http://insider.si.edu/wordpress/wp-content/uploads/2016/04/Mountain_Bluebird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96238" y="3433764"/>
            <a:ext cx="1757362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28"/>
          <p:cNvSpPr/>
          <p:nvPr/>
        </p:nvSpPr>
        <p:spPr>
          <a:xfrm>
            <a:off x="5921375" y="3627439"/>
            <a:ext cx="1860550" cy="80327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8"/>
          <p:cNvSpPr txBox="1"/>
          <p:nvPr/>
        </p:nvSpPr>
        <p:spPr>
          <a:xfrm>
            <a:off x="5815013" y="4424363"/>
            <a:ext cx="20764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Subsampling</a:t>
            </a:r>
            <a:endParaRPr sz="2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8"/>
          <p:cNvSpPr txBox="1"/>
          <p:nvPr/>
        </p:nvSpPr>
        <p:spPr>
          <a:xfrm>
            <a:off x="3400426" y="2408239"/>
            <a:ext cx="1495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bird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8"/>
          <p:cNvSpPr txBox="1"/>
          <p:nvPr/>
        </p:nvSpPr>
        <p:spPr>
          <a:xfrm>
            <a:off x="8128000" y="2900364"/>
            <a:ext cx="1493838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bird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8"/>
          <p:cNvSpPr txBox="1"/>
          <p:nvPr/>
        </p:nvSpPr>
        <p:spPr>
          <a:xfrm>
            <a:off x="2303464" y="5511801"/>
            <a:ext cx="819626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subsample the pixels to make image smaller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8"/>
          <p:cNvSpPr txBox="1"/>
          <p:nvPr/>
        </p:nvSpPr>
        <p:spPr>
          <a:xfrm>
            <a:off x="3400426" y="6021388"/>
            <a:ext cx="72675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fewer parameters to characterize the image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8"/>
          <p:cNvSpPr/>
          <p:nvPr/>
        </p:nvSpPr>
        <p:spPr>
          <a:xfrm>
            <a:off x="2389169" y="6040086"/>
            <a:ext cx="920750" cy="482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9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A CNN compresses a fully connected network in two ways:</a:t>
            </a:r>
            <a:endParaRPr/>
          </a:p>
        </p:txBody>
      </p:sp>
      <p:sp>
        <p:nvSpPr>
          <p:cNvPr id="699" name="Google Shape;699;p29"/>
          <p:cNvSpPr txBox="1">
            <a:spLocks noGrp="1"/>
          </p:cNvSpPr>
          <p:nvPr>
            <p:ph type="body" idx="1"/>
          </p:nvPr>
        </p:nvSpPr>
        <p:spPr>
          <a:xfrm>
            <a:off x="965200" y="2190750"/>
            <a:ext cx="9711267" cy="430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Reducing number of connections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Shared weights on the edges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Max pooling further reduces the complexity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0"/>
          <p:cNvSpPr txBox="1">
            <a:spLocks noGrp="1"/>
          </p:cNvSpPr>
          <p:nvPr>
            <p:ph type="title"/>
          </p:nvPr>
        </p:nvSpPr>
        <p:spPr>
          <a:xfrm>
            <a:off x="236539" y="48577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Max Pooling</a:t>
            </a:r>
            <a:endParaRPr/>
          </a:p>
        </p:txBody>
      </p:sp>
      <p:graphicFrame>
        <p:nvGraphicFramePr>
          <p:cNvPr id="705" name="Google Shape;705;p30"/>
          <p:cNvGraphicFramePr/>
          <p:nvPr/>
        </p:nvGraphicFramePr>
        <p:xfrm>
          <a:off x="1862138" y="2503488"/>
          <a:ext cx="2874900" cy="2743260"/>
        </p:xfrm>
        <a:graphic>
          <a:graphicData uri="http://schemas.openxmlformats.org/drawingml/2006/table">
            <a:tbl>
              <a:tblPr firstRow="1" bandRow="1">
                <a:noFill/>
                <a:tableStyleId>{F07CDD12-2A8E-4D08-8897-A3481EC531B9}</a:tableStyleId>
              </a:tblPr>
              <a:tblGrid>
                <a:gridCol w="47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75" marR="9147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FF"/>
                          </a:solidFill>
                        </a:rPr>
                        <a:t>1</a:t>
                      </a:r>
                      <a:endParaRPr sz="2400" u="none" strike="noStrike" cap="none">
                        <a:solidFill>
                          <a:srgbClr val="0000FF"/>
                        </a:solidFill>
                      </a:endParaRPr>
                    </a:p>
                  </a:txBody>
                  <a:tcPr marL="91475" marR="9147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0</a:t>
                      </a:r>
                      <a:endParaRPr sz="2400" u="none" strike="noStrike" cap="none"/>
                    </a:p>
                  </a:txBody>
                  <a:tcPr marL="91475" marR="91475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06" name="Google Shape;706;p30"/>
          <p:cNvSpPr txBox="1"/>
          <p:nvPr/>
        </p:nvSpPr>
        <p:spPr>
          <a:xfrm>
            <a:off x="2125663" y="5492751"/>
            <a:ext cx="2347912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x 6 image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8123239" y="308610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9094789" y="3086101"/>
            <a:ext cx="719137" cy="720725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9094789" y="4195764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8123239" y="4195764"/>
            <a:ext cx="719137" cy="719137"/>
          </a:xfrm>
          <a:prstGeom prst="ellipse">
            <a:avLst/>
          </a:prstGeom>
          <a:gradFill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0"/>
          </a:gradFill>
          <a:ln w="9525" cap="flat" cmpd="sng">
            <a:solidFill>
              <a:srgbClr val="D4D3E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0"/>
          <p:cNvSpPr/>
          <p:nvPr/>
        </p:nvSpPr>
        <p:spPr>
          <a:xfrm>
            <a:off x="8312151" y="3303589"/>
            <a:ext cx="720725" cy="720725"/>
          </a:xfrm>
          <a:prstGeom prst="ellipse">
            <a:avLst/>
          </a:prstGeom>
          <a:gradFill>
            <a:gsLst>
              <a:gs pos="0">
                <a:srgbClr val="F6F6FF"/>
              </a:gs>
              <a:gs pos="64999">
                <a:srgbClr val="EBEBFF"/>
              </a:gs>
              <a:gs pos="100000">
                <a:srgbClr val="E3E3FF"/>
              </a:gs>
            </a:gsLst>
            <a:lin ang="5400000" scaled="0"/>
          </a:gradFill>
          <a:ln w="9525" cap="flat" cmpd="sng">
            <a:solidFill>
              <a:srgbClr val="DCDCF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9318626" y="3281364"/>
            <a:ext cx="720725" cy="720725"/>
          </a:xfrm>
          <a:prstGeom prst="ellipse">
            <a:avLst/>
          </a:prstGeom>
          <a:gradFill>
            <a:gsLst>
              <a:gs pos="0">
                <a:srgbClr val="F6F6FF"/>
              </a:gs>
              <a:gs pos="64999">
                <a:srgbClr val="EBEBFF"/>
              </a:gs>
              <a:gs pos="100000">
                <a:srgbClr val="E3E3FF"/>
              </a:gs>
            </a:gsLst>
            <a:lin ang="5400000" scaled="0"/>
          </a:gradFill>
          <a:ln w="9525" cap="flat" cmpd="sng">
            <a:solidFill>
              <a:srgbClr val="DCDCF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0"/>
          <p:cNvSpPr/>
          <p:nvPr/>
        </p:nvSpPr>
        <p:spPr>
          <a:xfrm>
            <a:off x="9318626" y="4352925"/>
            <a:ext cx="720725" cy="719138"/>
          </a:xfrm>
          <a:prstGeom prst="ellipse">
            <a:avLst/>
          </a:prstGeom>
          <a:gradFill>
            <a:gsLst>
              <a:gs pos="0">
                <a:srgbClr val="F6F6FF"/>
              </a:gs>
              <a:gs pos="64999">
                <a:srgbClr val="EBEBFF"/>
              </a:gs>
              <a:gs pos="100000">
                <a:srgbClr val="E3E3FF"/>
              </a:gs>
            </a:gsLst>
            <a:lin ang="5400000" scaled="0"/>
          </a:gradFill>
          <a:ln w="9525" cap="flat" cmpd="sng">
            <a:solidFill>
              <a:srgbClr val="DCDCF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8326439" y="4354514"/>
            <a:ext cx="720725" cy="720725"/>
          </a:xfrm>
          <a:prstGeom prst="ellipse">
            <a:avLst/>
          </a:prstGeom>
          <a:gradFill>
            <a:gsLst>
              <a:gs pos="0">
                <a:srgbClr val="F6F6FF"/>
              </a:gs>
              <a:gs pos="64999">
                <a:srgbClr val="EBEBFF"/>
              </a:gs>
              <a:gs pos="100000">
                <a:srgbClr val="E3E3FF"/>
              </a:gs>
            </a:gsLst>
            <a:lin ang="5400000" scaled="0"/>
          </a:gradFill>
          <a:ln w="9525" cap="flat" cmpd="sng">
            <a:solidFill>
              <a:srgbClr val="DCDCF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80808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0"/>
          <p:cNvSpPr txBox="1"/>
          <p:nvPr/>
        </p:nvSpPr>
        <p:spPr>
          <a:xfrm>
            <a:off x="7950201" y="5186363"/>
            <a:ext cx="234632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x 2 image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0"/>
          <p:cNvSpPr txBox="1"/>
          <p:nvPr/>
        </p:nvSpPr>
        <p:spPr>
          <a:xfrm>
            <a:off x="7961313" y="5699126"/>
            <a:ext cx="2266950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Each filter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is a channel</a:t>
            </a:r>
            <a:endParaRPr sz="2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4676775" y="2728914"/>
            <a:ext cx="858838" cy="8477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0"/>
          <p:cNvSpPr txBox="1"/>
          <p:nvPr/>
        </p:nvSpPr>
        <p:spPr>
          <a:xfrm>
            <a:off x="7961313" y="1957389"/>
            <a:ext cx="2279650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image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smaller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5538789" y="2609850"/>
            <a:ext cx="1374775" cy="1068388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5535613" y="4187825"/>
            <a:ext cx="1377950" cy="106680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Pooling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0"/>
          <p:cNvSpPr/>
          <p:nvPr/>
        </p:nvSpPr>
        <p:spPr>
          <a:xfrm>
            <a:off x="6902450" y="4289425"/>
            <a:ext cx="858838" cy="84613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0"/>
          <p:cNvSpPr/>
          <p:nvPr/>
        </p:nvSpPr>
        <p:spPr>
          <a:xfrm rot="5400000">
            <a:off x="5978526" y="3517901"/>
            <a:ext cx="492125" cy="8477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1"/>
          <p:cNvSpPr txBox="1">
            <a:spLocks noGrp="1"/>
          </p:cNvSpPr>
          <p:nvPr>
            <p:ph type="title"/>
          </p:nvPr>
        </p:nvSpPr>
        <p:spPr>
          <a:xfrm>
            <a:off x="280194" y="50082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The whole CNN</a:t>
            </a:r>
            <a:endParaRPr/>
          </a:p>
        </p:txBody>
      </p:sp>
      <p:pic>
        <p:nvPicPr>
          <p:cNvPr id="728" name="Google Shape;728;p31" descr="http://s.hswstatic.com/gif/whiskers-sam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8938" y="192089"/>
            <a:ext cx="1771650" cy="12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31"/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Convolution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 Pooling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Convolution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1"/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 Pooling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1"/>
          <p:cNvSpPr/>
          <p:nvPr/>
        </p:nvSpPr>
        <p:spPr>
          <a:xfrm>
            <a:off x="7392988" y="1450976"/>
            <a:ext cx="546100" cy="44291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1"/>
          <p:cNvSpPr/>
          <p:nvPr/>
        </p:nvSpPr>
        <p:spPr>
          <a:xfrm>
            <a:off x="7392988" y="2562226"/>
            <a:ext cx="546100" cy="44291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7392988" y="3654426"/>
            <a:ext cx="546100" cy="4413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7392988" y="4689476"/>
            <a:ext cx="546100" cy="4413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1"/>
          <p:cNvSpPr txBox="1"/>
          <p:nvPr/>
        </p:nvSpPr>
        <p:spPr>
          <a:xfrm>
            <a:off x="8948739" y="3414713"/>
            <a:ext cx="169068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repeat many times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1"/>
          <p:cNvSpPr/>
          <p:nvPr/>
        </p:nvSpPr>
        <p:spPr>
          <a:xfrm flipH="1">
            <a:off x="8550276" y="1806576"/>
            <a:ext cx="334963" cy="4048125"/>
          </a:xfrm>
          <a:prstGeom prst="leftBrace">
            <a:avLst>
              <a:gd name="adj1" fmla="val 72890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1"/>
          <p:cNvSpPr/>
          <p:nvPr/>
        </p:nvSpPr>
        <p:spPr>
          <a:xfrm>
            <a:off x="6713539" y="1847850"/>
            <a:ext cx="1857375" cy="190023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1"/>
          <p:cNvSpPr txBox="1"/>
          <p:nvPr/>
        </p:nvSpPr>
        <p:spPr>
          <a:xfrm>
            <a:off x="2905457" y="3568647"/>
            <a:ext cx="2097183" cy="461665"/>
          </a:xfrm>
          <a:prstGeom prst="rect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new image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 txBox="1"/>
          <p:nvPr/>
        </p:nvSpPr>
        <p:spPr>
          <a:xfrm>
            <a:off x="2098676" y="5210175"/>
            <a:ext cx="4289425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channels is the number of filters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31"/>
          <p:cNvSpPr txBox="1"/>
          <p:nvPr/>
        </p:nvSpPr>
        <p:spPr>
          <a:xfrm>
            <a:off x="2098675" y="4251325"/>
            <a:ext cx="4249738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Smaller than the original image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3" name="Google Shape;743;p31"/>
          <p:cNvCxnSpPr/>
          <p:nvPr/>
        </p:nvCxnSpPr>
        <p:spPr>
          <a:xfrm rot="10800000">
            <a:off x="5059364" y="3875088"/>
            <a:ext cx="2270125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44" name="Google Shape;744;p31"/>
          <p:cNvSpPr/>
          <p:nvPr/>
        </p:nvSpPr>
        <p:spPr>
          <a:xfrm>
            <a:off x="6713539" y="4002089"/>
            <a:ext cx="1857375" cy="1900237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5" name="Google Shape;745;p31"/>
          <p:cNvGrpSpPr/>
          <p:nvPr/>
        </p:nvGrpSpPr>
        <p:grpSpPr>
          <a:xfrm>
            <a:off x="3086101" y="1611313"/>
            <a:ext cx="1947863" cy="1771650"/>
            <a:chOff x="1561968" y="1612084"/>
            <a:chExt cx="1947915" cy="1771562"/>
          </a:xfrm>
        </p:grpSpPr>
        <p:sp>
          <p:nvSpPr>
            <p:cNvPr id="746" name="Google Shape;746;p31"/>
            <p:cNvSpPr/>
            <p:nvPr/>
          </p:nvSpPr>
          <p:spPr>
            <a:xfrm>
              <a:off x="1593719" y="1612084"/>
              <a:ext cx="719157" cy="720689"/>
            </a:xfrm>
            <a:prstGeom prst="ellipse">
              <a:avLst/>
            </a:prstGeom>
            <a:gradFill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0"/>
            </a:gradFill>
            <a:ln w="9525" cap="flat" cmpd="sng">
              <a:solidFill>
                <a:srgbClr val="D4D3E7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31"/>
            <p:cNvSpPr/>
            <p:nvPr/>
          </p:nvSpPr>
          <p:spPr>
            <a:xfrm>
              <a:off x="2565295" y="1612084"/>
              <a:ext cx="719157" cy="720689"/>
            </a:xfrm>
            <a:prstGeom prst="ellipse">
              <a:avLst/>
            </a:prstGeom>
            <a:gradFill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0"/>
            </a:gradFill>
            <a:ln w="9525" cap="flat" cmpd="sng">
              <a:solidFill>
                <a:srgbClr val="D4D3E7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31"/>
            <p:cNvSpPr/>
            <p:nvPr/>
          </p:nvSpPr>
          <p:spPr>
            <a:xfrm>
              <a:off x="2533544" y="2504215"/>
              <a:ext cx="720744" cy="720689"/>
            </a:xfrm>
            <a:prstGeom prst="ellipse">
              <a:avLst/>
            </a:prstGeom>
            <a:gradFill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0"/>
            </a:gradFill>
            <a:ln w="9525" cap="flat" cmpd="sng">
              <a:solidFill>
                <a:srgbClr val="D4D3E7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31"/>
            <p:cNvSpPr/>
            <p:nvPr/>
          </p:nvSpPr>
          <p:spPr>
            <a:xfrm>
              <a:off x="1561968" y="2504215"/>
              <a:ext cx="720744" cy="720689"/>
            </a:xfrm>
            <a:prstGeom prst="ellipse">
              <a:avLst/>
            </a:prstGeom>
            <a:gradFill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0"/>
            </a:gradFill>
            <a:ln w="9525" cap="flat" cmpd="sng">
              <a:solidFill>
                <a:srgbClr val="D4D3E7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1"/>
            <p:cNvSpPr/>
            <p:nvPr/>
          </p:nvSpPr>
          <p:spPr>
            <a:xfrm>
              <a:off x="1782637" y="1829560"/>
              <a:ext cx="720744" cy="719102"/>
            </a:xfrm>
            <a:prstGeom prst="ellipse">
              <a:avLst/>
            </a:prstGeom>
            <a:gradFill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0"/>
            </a:gradFill>
            <a:ln w="9525" cap="flat" cmpd="sng">
              <a:solidFill>
                <a:srgbClr val="DCDCFA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31"/>
            <p:cNvSpPr/>
            <p:nvPr/>
          </p:nvSpPr>
          <p:spPr>
            <a:xfrm>
              <a:off x="2789139" y="1805749"/>
              <a:ext cx="720744" cy="720689"/>
            </a:xfrm>
            <a:prstGeom prst="ellipse">
              <a:avLst/>
            </a:prstGeom>
            <a:gradFill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0"/>
            </a:gradFill>
            <a:ln w="9525" cap="flat" cmpd="sng">
              <a:solidFill>
                <a:srgbClr val="DCDCFA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31"/>
            <p:cNvSpPr/>
            <p:nvPr/>
          </p:nvSpPr>
          <p:spPr>
            <a:xfrm>
              <a:off x="2758975" y="2661369"/>
              <a:ext cx="719157" cy="719102"/>
            </a:xfrm>
            <a:prstGeom prst="ellipse">
              <a:avLst/>
            </a:prstGeom>
            <a:gradFill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0"/>
            </a:gradFill>
            <a:ln w="9525" cap="flat" cmpd="sng">
              <a:solidFill>
                <a:srgbClr val="DCDCFA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31"/>
            <p:cNvSpPr/>
            <p:nvPr/>
          </p:nvSpPr>
          <p:spPr>
            <a:xfrm>
              <a:off x="1766761" y="2662957"/>
              <a:ext cx="719156" cy="720689"/>
            </a:xfrm>
            <a:prstGeom prst="ellipse">
              <a:avLst/>
            </a:prstGeom>
            <a:gradFill>
              <a:gsLst>
                <a:gs pos="0">
                  <a:srgbClr val="F6F6FF"/>
                </a:gs>
                <a:gs pos="64999">
                  <a:srgbClr val="EBEBFF"/>
                </a:gs>
                <a:gs pos="100000">
                  <a:srgbClr val="E3E3FF"/>
                </a:gs>
              </a:gsLst>
              <a:lin ang="5400000" scaled="0"/>
            </a:gradFill>
            <a:ln w="9525" cap="flat" cmpd="sng">
              <a:solidFill>
                <a:srgbClr val="DCDCFA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80808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2"/>
          <p:cNvSpPr txBox="1">
            <a:spLocks noGrp="1"/>
          </p:cNvSpPr>
          <p:nvPr>
            <p:ph type="title"/>
          </p:nvPr>
        </p:nvSpPr>
        <p:spPr>
          <a:xfrm>
            <a:off x="342901" y="48498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The whole CNN</a:t>
            </a:r>
            <a:endParaRPr/>
          </a:p>
        </p:txBody>
      </p:sp>
      <p:grpSp>
        <p:nvGrpSpPr>
          <p:cNvPr id="759" name="Google Shape;759;p32"/>
          <p:cNvGrpSpPr/>
          <p:nvPr/>
        </p:nvGrpSpPr>
        <p:grpSpPr>
          <a:xfrm>
            <a:off x="2273301" y="2274889"/>
            <a:ext cx="2906713" cy="3200400"/>
            <a:chOff x="-1626455" y="3999118"/>
            <a:chExt cx="2906568" cy="3201477"/>
          </a:xfrm>
        </p:grpSpPr>
        <p:pic>
          <p:nvPicPr>
            <p:cNvPr id="760" name="Google Shape;760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 flipH="1">
              <a:off x="-1736746" y="4748962"/>
              <a:ext cx="3201477" cy="17017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1" name="Google Shape;761;p32"/>
            <p:cNvSpPr txBox="1"/>
            <p:nvPr/>
          </p:nvSpPr>
          <p:spPr>
            <a:xfrm>
              <a:off x="-1626455" y="5442856"/>
              <a:ext cx="2906568" cy="707886"/>
            </a:xfrm>
            <a:prstGeom prst="rect">
              <a:avLst/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Fully Connected Feedforward network</a:t>
              </a:r>
              <a:endPara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62" name="Google Shape;762;p32" descr="http://s.hswstatic.com/gif/whiskers-sam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8938" y="192089"/>
            <a:ext cx="1771650" cy="12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32"/>
          <p:cNvSpPr txBox="1"/>
          <p:nvPr/>
        </p:nvSpPr>
        <p:spPr>
          <a:xfrm>
            <a:off x="2801939" y="1706564"/>
            <a:ext cx="2046287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 dog ……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2"/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Convolution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2"/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 Pooling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2"/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Convolution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2"/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 Pooling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2"/>
          <p:cNvSpPr txBox="1"/>
          <p:nvPr/>
        </p:nvSpPr>
        <p:spPr>
          <a:xfrm>
            <a:off x="4848219" y="6055667"/>
            <a:ext cx="1556991" cy="461665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Flattened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2"/>
          <p:cNvSpPr/>
          <p:nvPr/>
        </p:nvSpPr>
        <p:spPr>
          <a:xfrm>
            <a:off x="7392988" y="1450976"/>
            <a:ext cx="546100" cy="44291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2"/>
          <p:cNvSpPr/>
          <p:nvPr/>
        </p:nvSpPr>
        <p:spPr>
          <a:xfrm>
            <a:off x="7392988" y="2562226"/>
            <a:ext cx="546100" cy="44291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2"/>
          <p:cNvSpPr/>
          <p:nvPr/>
        </p:nvSpPr>
        <p:spPr>
          <a:xfrm>
            <a:off x="7392988" y="3654426"/>
            <a:ext cx="546100" cy="4413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2"/>
          <p:cNvSpPr/>
          <p:nvPr/>
        </p:nvSpPr>
        <p:spPr>
          <a:xfrm>
            <a:off x="7392988" y="4689476"/>
            <a:ext cx="546100" cy="4413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2"/>
          <p:cNvSpPr/>
          <p:nvPr/>
        </p:nvSpPr>
        <p:spPr>
          <a:xfrm rot="10800000">
            <a:off x="6405563" y="5753101"/>
            <a:ext cx="1377950" cy="75247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2"/>
          <p:cNvSpPr/>
          <p:nvPr/>
        </p:nvSpPr>
        <p:spPr>
          <a:xfrm rot="-5400000">
            <a:off x="3678238" y="5340351"/>
            <a:ext cx="968375" cy="1238250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2152650" y="2562225"/>
            <a:ext cx="4368800" cy="407193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2"/>
          <p:cNvSpPr txBox="1"/>
          <p:nvPr/>
        </p:nvSpPr>
        <p:spPr>
          <a:xfrm>
            <a:off x="8229601" y="3657601"/>
            <a:ext cx="2097183" cy="461665"/>
          </a:xfrm>
          <a:prstGeom prst="rect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new image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2"/>
          <p:cNvSpPr txBox="1"/>
          <p:nvPr/>
        </p:nvSpPr>
        <p:spPr>
          <a:xfrm>
            <a:off x="8001001" y="5943601"/>
            <a:ext cx="2097183" cy="461665"/>
          </a:xfrm>
          <a:prstGeom prst="rect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new image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3"/>
          <p:cNvSpPr txBox="1">
            <a:spLocks noGrp="1"/>
          </p:cNvSpPr>
          <p:nvPr>
            <p:ph type="title"/>
          </p:nvPr>
        </p:nvSpPr>
        <p:spPr>
          <a:xfrm>
            <a:off x="154517" y="500882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Flattening</a:t>
            </a:r>
            <a:endParaRPr/>
          </a:p>
        </p:txBody>
      </p:sp>
      <p:grpSp>
        <p:nvGrpSpPr>
          <p:cNvPr id="783" name="Google Shape;783;p33"/>
          <p:cNvGrpSpPr/>
          <p:nvPr/>
        </p:nvGrpSpPr>
        <p:grpSpPr>
          <a:xfrm>
            <a:off x="1790700" y="2473326"/>
            <a:ext cx="1943100" cy="2049463"/>
            <a:chOff x="758373" y="2759289"/>
            <a:chExt cx="1943214" cy="2049364"/>
          </a:xfrm>
        </p:grpSpPr>
        <p:sp>
          <p:nvSpPr>
            <p:cNvPr id="784" name="Google Shape;784;p33"/>
            <p:cNvSpPr/>
            <p:nvPr/>
          </p:nvSpPr>
          <p:spPr>
            <a:xfrm>
              <a:off x="758373" y="2759289"/>
              <a:ext cx="720000" cy="720000"/>
            </a:xfrm>
            <a:prstGeom prst="ellipse">
              <a:avLst/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33"/>
            <p:cNvSpPr/>
            <p:nvPr/>
          </p:nvSpPr>
          <p:spPr>
            <a:xfrm>
              <a:off x="1729980" y="2759289"/>
              <a:ext cx="720000" cy="720000"/>
            </a:xfrm>
            <a:prstGeom prst="ellipse">
              <a:avLst/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3"/>
            <p:cNvSpPr/>
            <p:nvPr/>
          </p:nvSpPr>
          <p:spPr>
            <a:xfrm>
              <a:off x="1729980" y="3867588"/>
              <a:ext cx="720000" cy="720000"/>
            </a:xfrm>
            <a:prstGeom prst="ellipse">
              <a:avLst/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33"/>
            <p:cNvSpPr/>
            <p:nvPr/>
          </p:nvSpPr>
          <p:spPr>
            <a:xfrm>
              <a:off x="758373" y="3867588"/>
              <a:ext cx="720000" cy="720000"/>
            </a:xfrm>
            <a:prstGeom prst="ellipse">
              <a:avLst/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33"/>
            <p:cNvSpPr/>
            <p:nvPr/>
          </p:nvSpPr>
          <p:spPr>
            <a:xfrm>
              <a:off x="936506" y="2999566"/>
              <a:ext cx="720000" cy="720000"/>
            </a:xfrm>
            <a:prstGeom prst="ellipse">
              <a:avLst/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33"/>
            <p:cNvSpPr/>
            <p:nvPr/>
          </p:nvSpPr>
          <p:spPr>
            <a:xfrm>
              <a:off x="1981587" y="2999566"/>
              <a:ext cx="720000" cy="720000"/>
            </a:xfrm>
            <a:prstGeom prst="ellipse">
              <a:avLst/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3"/>
            <p:cNvSpPr/>
            <p:nvPr/>
          </p:nvSpPr>
          <p:spPr>
            <a:xfrm>
              <a:off x="1981587" y="4088653"/>
              <a:ext cx="720000" cy="720000"/>
            </a:xfrm>
            <a:prstGeom prst="ellipse">
              <a:avLst/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33"/>
            <p:cNvSpPr/>
            <p:nvPr/>
          </p:nvSpPr>
          <p:spPr>
            <a:xfrm>
              <a:off x="962806" y="4027123"/>
              <a:ext cx="720000" cy="720000"/>
            </a:xfrm>
            <a:prstGeom prst="ellipse">
              <a:avLst/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2" name="Google Shape;792;p33"/>
          <p:cNvSpPr txBox="1"/>
          <p:nvPr/>
        </p:nvSpPr>
        <p:spPr>
          <a:xfrm>
            <a:off x="3886200" y="3886201"/>
            <a:ext cx="15240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Flattened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3"/>
          <p:cNvSpPr/>
          <p:nvPr/>
        </p:nvSpPr>
        <p:spPr>
          <a:xfrm>
            <a:off x="5736000" y="194885"/>
            <a:ext cx="720000" cy="720000"/>
          </a:xfrm>
          <a:prstGeom prst="ellipse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3"/>
          <p:cNvSpPr/>
          <p:nvPr/>
        </p:nvSpPr>
        <p:spPr>
          <a:xfrm>
            <a:off x="5736000" y="1084384"/>
            <a:ext cx="720000" cy="720000"/>
          </a:xfrm>
          <a:prstGeom prst="ellipse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5736000" y="1923284"/>
            <a:ext cx="720000" cy="720000"/>
          </a:xfrm>
          <a:prstGeom prst="ellipse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3"/>
          <p:cNvSpPr/>
          <p:nvPr/>
        </p:nvSpPr>
        <p:spPr>
          <a:xfrm>
            <a:off x="5736000" y="2778220"/>
            <a:ext cx="720000" cy="720000"/>
          </a:xfrm>
          <a:prstGeom prst="ellipse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3"/>
          <p:cNvSpPr/>
          <p:nvPr/>
        </p:nvSpPr>
        <p:spPr>
          <a:xfrm>
            <a:off x="5736000" y="3615067"/>
            <a:ext cx="720000" cy="720000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3"/>
          <p:cNvSpPr/>
          <p:nvPr/>
        </p:nvSpPr>
        <p:spPr>
          <a:xfrm>
            <a:off x="5736000" y="4402756"/>
            <a:ext cx="720000" cy="720000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5736000" y="5204579"/>
            <a:ext cx="720000" cy="720000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3"/>
          <p:cNvSpPr/>
          <p:nvPr/>
        </p:nvSpPr>
        <p:spPr>
          <a:xfrm>
            <a:off x="5736000" y="6029276"/>
            <a:ext cx="720000" cy="720000"/>
          </a:xfrm>
          <a:prstGeom prst="ellipse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3"/>
          <p:cNvSpPr/>
          <p:nvPr/>
        </p:nvSpPr>
        <p:spPr>
          <a:xfrm>
            <a:off x="6511926" y="3190876"/>
            <a:ext cx="557213" cy="72866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3"/>
          <p:cNvSpPr/>
          <p:nvPr/>
        </p:nvSpPr>
        <p:spPr>
          <a:xfrm>
            <a:off x="8997951" y="3419476"/>
            <a:ext cx="557213" cy="72866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3" name="Google Shape;803;p33"/>
          <p:cNvGrpSpPr/>
          <p:nvPr/>
        </p:nvGrpSpPr>
        <p:grpSpPr>
          <a:xfrm>
            <a:off x="7126288" y="2724151"/>
            <a:ext cx="3200400" cy="2506663"/>
            <a:chOff x="-2630921" y="4440114"/>
            <a:chExt cx="3201477" cy="2506507"/>
          </a:xfrm>
        </p:grpSpPr>
        <p:pic>
          <p:nvPicPr>
            <p:cNvPr id="804" name="Google Shape;804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10800000" flipH="1">
              <a:off x="-2630921" y="4440114"/>
              <a:ext cx="3201477" cy="17017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5" name="Google Shape;805;p33"/>
            <p:cNvSpPr txBox="1"/>
            <p:nvPr/>
          </p:nvSpPr>
          <p:spPr>
            <a:xfrm>
              <a:off x="-2630921" y="6238735"/>
              <a:ext cx="2906568" cy="707886"/>
            </a:xfrm>
            <a:prstGeom prst="rect">
              <a:avLst/>
            </a:prstGeom>
            <a:gradFill>
              <a:gsLst>
                <a:gs pos="0">
                  <a:srgbClr val="70A5DA"/>
                </a:gs>
                <a:gs pos="50000">
                  <a:srgbClr val="539BDB"/>
                </a:gs>
                <a:gs pos="100000">
                  <a:srgbClr val="42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Fully Connected Feedforward network</a:t>
              </a:r>
              <a:endPara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6" name="Google Shape;806;p33"/>
          <p:cNvSpPr/>
          <p:nvPr/>
        </p:nvSpPr>
        <p:spPr>
          <a:xfrm>
            <a:off x="3849689" y="3201988"/>
            <a:ext cx="1831975" cy="72866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82D51A2-E569-ADD6-8123-38C008AC3B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448" y="657023"/>
            <a:ext cx="9589455" cy="702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Recurrent</a:t>
            </a:r>
            <a:r>
              <a:rPr spc="-45" dirty="0"/>
              <a:t> </a:t>
            </a:r>
            <a:r>
              <a:rPr dirty="0"/>
              <a:t>Neural</a:t>
            </a:r>
            <a:r>
              <a:rPr spc="-35" dirty="0"/>
              <a:t> </a:t>
            </a:r>
            <a:r>
              <a:rPr spc="-10" dirty="0"/>
              <a:t>Network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B65F5B-D0DB-D777-DEF7-66C31C2E0829}"/>
              </a:ext>
            </a:extLst>
          </p:cNvPr>
          <p:cNvGrpSpPr/>
          <p:nvPr/>
        </p:nvGrpSpPr>
        <p:grpSpPr>
          <a:xfrm>
            <a:off x="5004948" y="1967258"/>
            <a:ext cx="3005195" cy="4233719"/>
            <a:chOff x="3799792" y="1021033"/>
            <a:chExt cx="1572502" cy="3208506"/>
          </a:xfrm>
        </p:grpSpPr>
        <p:grpSp>
          <p:nvGrpSpPr>
            <p:cNvPr id="6" name="object 3">
              <a:extLst>
                <a:ext uri="{FF2B5EF4-FFF2-40B4-BE49-F238E27FC236}">
                  <a16:creationId xmlns:a16="http://schemas.microsoft.com/office/drawing/2014/main" id="{E37A8ADA-39B0-DB11-A792-4C4B04217DAF}"/>
                </a:ext>
              </a:extLst>
            </p:cNvPr>
            <p:cNvGrpSpPr/>
            <p:nvPr/>
          </p:nvGrpSpPr>
          <p:grpSpPr>
            <a:xfrm>
              <a:off x="4101790" y="2960809"/>
              <a:ext cx="429895" cy="1268730"/>
              <a:chOff x="4101790" y="2960809"/>
              <a:chExt cx="429895" cy="1268730"/>
            </a:xfrm>
          </p:grpSpPr>
          <p:sp>
            <p:nvSpPr>
              <p:cNvPr id="14" name="object 4">
                <a:extLst>
                  <a:ext uri="{FF2B5EF4-FFF2-40B4-BE49-F238E27FC236}">
                    <a16:creationId xmlns:a16="http://schemas.microsoft.com/office/drawing/2014/main" id="{158D5E48-4AF2-0136-80CC-01A41025D173}"/>
                  </a:ext>
                </a:extLst>
              </p:cNvPr>
              <p:cNvSpPr/>
              <p:nvPr/>
            </p:nvSpPr>
            <p:spPr>
              <a:xfrm>
                <a:off x="4106552" y="3308571"/>
                <a:ext cx="420370" cy="916305"/>
              </a:xfrm>
              <a:custGeom>
                <a:avLst/>
                <a:gdLst/>
                <a:ahLst/>
                <a:cxnLst/>
                <a:rect l="l" t="t" r="r" b="b"/>
                <a:pathLst>
                  <a:path w="420370" h="916304">
                    <a:moveTo>
                      <a:pt x="419876" y="915690"/>
                    </a:moveTo>
                    <a:lnTo>
                      <a:pt x="0" y="915690"/>
                    </a:lnTo>
                    <a:lnTo>
                      <a:pt x="0" y="0"/>
                    </a:lnTo>
                    <a:lnTo>
                      <a:pt x="419876" y="0"/>
                    </a:lnTo>
                    <a:lnTo>
                      <a:pt x="419876" y="915690"/>
                    </a:lnTo>
                    <a:close/>
                  </a:path>
                </a:pathLst>
              </a:custGeom>
              <a:solidFill>
                <a:srgbClr val="F4CCC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5">
                <a:extLst>
                  <a:ext uri="{FF2B5EF4-FFF2-40B4-BE49-F238E27FC236}">
                    <a16:creationId xmlns:a16="http://schemas.microsoft.com/office/drawing/2014/main" id="{52D5E07B-5789-E25B-FFFA-5476C3F131AA}"/>
                  </a:ext>
                </a:extLst>
              </p:cNvPr>
              <p:cNvSpPr/>
              <p:nvPr/>
            </p:nvSpPr>
            <p:spPr>
              <a:xfrm>
                <a:off x="4106552" y="3308571"/>
                <a:ext cx="420370" cy="916305"/>
              </a:xfrm>
              <a:custGeom>
                <a:avLst/>
                <a:gdLst/>
                <a:ahLst/>
                <a:cxnLst/>
                <a:rect l="l" t="t" r="r" b="b"/>
                <a:pathLst>
                  <a:path w="420370" h="916304">
                    <a:moveTo>
                      <a:pt x="0" y="0"/>
                    </a:moveTo>
                    <a:lnTo>
                      <a:pt x="419876" y="0"/>
                    </a:lnTo>
                    <a:lnTo>
                      <a:pt x="419876" y="915690"/>
                    </a:lnTo>
                    <a:lnTo>
                      <a:pt x="0" y="915690"/>
                    </a:lnTo>
                    <a:lnTo>
                      <a:pt x="0" y="0"/>
                    </a:lnTo>
                    <a:close/>
                  </a:path>
                </a:pathLst>
              </a:custGeom>
              <a:ln w="952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6" name="object 6">
                <a:extLst>
                  <a:ext uri="{FF2B5EF4-FFF2-40B4-BE49-F238E27FC236}">
                    <a16:creationId xmlns:a16="http://schemas.microsoft.com/office/drawing/2014/main" id="{B34CE9D2-6E30-69D3-2FAF-D5044AC3E9EA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275500" y="2960809"/>
                <a:ext cx="81981" cy="347762"/>
              </a:xfrm>
              <a:prstGeom prst="rect">
                <a:avLst/>
              </a:prstGeom>
            </p:spPr>
          </p:pic>
        </p:grp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F074A6A-7753-25CB-A2B4-F326787FAB25}"/>
                </a:ext>
              </a:extLst>
            </p:cNvPr>
            <p:cNvSpPr txBox="1"/>
            <p:nvPr/>
          </p:nvSpPr>
          <p:spPr>
            <a:xfrm>
              <a:off x="3799792" y="2285354"/>
              <a:ext cx="1033780" cy="657225"/>
            </a:xfrm>
            <a:prstGeom prst="rect">
              <a:avLst/>
            </a:prstGeom>
            <a:solidFill>
              <a:srgbClr val="37761C"/>
            </a:solidFill>
          </p:spPr>
          <p:txBody>
            <a:bodyPr vert="horz" wrap="square" lIns="0" tIns="182245" rIns="0" bIns="0" rtlCol="0">
              <a:spAutoFit/>
            </a:bodyPr>
            <a:lstStyle/>
            <a:p>
              <a:pPr marL="268605">
                <a:lnSpc>
                  <a:spcPct val="100000"/>
                </a:lnSpc>
                <a:spcBef>
                  <a:spcPts val="1435"/>
                </a:spcBef>
              </a:pPr>
              <a:r>
                <a:rPr sz="1800" spc="-25" dirty="0">
                  <a:solidFill>
                    <a:srgbClr val="FFFFFF"/>
                  </a:solidFill>
                  <a:latin typeface="Arial MT"/>
                  <a:cs typeface="Arial MT"/>
                </a:rPr>
                <a:t>RNN</a:t>
              </a:r>
              <a:endParaRPr sz="1800">
                <a:latin typeface="Arial MT"/>
                <a:cs typeface="Arial MT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DF6AD8F-80BC-1127-75DA-3B231C3305B0}"/>
                </a:ext>
              </a:extLst>
            </p:cNvPr>
            <p:cNvSpPr txBox="1"/>
            <p:nvPr/>
          </p:nvSpPr>
          <p:spPr>
            <a:xfrm>
              <a:off x="4106552" y="1021033"/>
              <a:ext cx="420370" cy="916305"/>
            </a:xfrm>
            <a:prstGeom prst="rect">
              <a:avLst/>
            </a:prstGeom>
            <a:solidFill>
              <a:srgbClr val="C9DAF7"/>
            </a:solidFill>
            <a:ln w="9524">
              <a:solidFill>
                <a:srgbClr val="000000"/>
              </a:solidFill>
            </a:ln>
          </p:spPr>
          <p:txBody>
            <a:bodyPr vert="horz" wrap="square" lIns="0" tIns="4826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80"/>
                </a:spcBef>
              </a:pPr>
              <a:endParaRPr sz="18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</a:pPr>
              <a:r>
                <a:rPr sz="1800" spc="-50" dirty="0">
                  <a:latin typeface="Arial MT"/>
                  <a:cs typeface="Arial MT"/>
                </a:rPr>
                <a:t>y</a:t>
              </a:r>
              <a:endParaRPr sz="1800" dirty="0">
                <a:latin typeface="Arial MT"/>
                <a:cs typeface="Arial MT"/>
              </a:endParaRPr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61008AA9-16E8-3A06-D462-2B0E36D6595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5499" y="1954995"/>
              <a:ext cx="81981" cy="330359"/>
            </a:xfrm>
            <a:prstGeom prst="rect">
              <a:avLst/>
            </a:prstGeom>
          </p:spPr>
        </p:pic>
        <p:grpSp>
          <p:nvGrpSpPr>
            <p:cNvPr id="10" name="object 10">
              <a:extLst>
                <a:ext uri="{FF2B5EF4-FFF2-40B4-BE49-F238E27FC236}">
                  <a16:creationId xmlns:a16="http://schemas.microsoft.com/office/drawing/2014/main" id="{360448F1-86A9-AA04-CE1D-4E644CB42CD2}"/>
                </a:ext>
              </a:extLst>
            </p:cNvPr>
            <p:cNvGrpSpPr/>
            <p:nvPr/>
          </p:nvGrpSpPr>
          <p:grpSpPr>
            <a:xfrm>
              <a:off x="4802699" y="2442129"/>
              <a:ext cx="569595" cy="320675"/>
              <a:chOff x="4802699" y="2442129"/>
              <a:chExt cx="569595" cy="320675"/>
            </a:xfrm>
          </p:grpSpPr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552E572E-7D1A-D373-9FE1-FBF08003754D}"/>
                  </a:ext>
                </a:extLst>
              </p:cNvPr>
              <p:cNvSpPr/>
              <p:nvPr/>
            </p:nvSpPr>
            <p:spPr>
              <a:xfrm>
                <a:off x="4812224" y="2451654"/>
                <a:ext cx="550545" cy="294640"/>
              </a:xfrm>
              <a:custGeom>
                <a:avLst/>
                <a:gdLst/>
                <a:ahLst/>
                <a:cxnLst/>
                <a:rect l="l" t="t" r="r" b="b"/>
                <a:pathLst>
                  <a:path w="550545" h="294639">
                    <a:moveTo>
                      <a:pt x="23210" y="0"/>
                    </a:moveTo>
                    <a:lnTo>
                      <a:pt x="51856" y="8202"/>
                    </a:lnTo>
                    <a:lnTo>
                      <a:pt x="92412" y="18643"/>
                    </a:lnTo>
                    <a:lnTo>
                      <a:pt x="142117" y="30964"/>
                    </a:lnTo>
                    <a:lnTo>
                      <a:pt x="198210" y="44805"/>
                    </a:lnTo>
                    <a:lnTo>
                      <a:pt x="257929" y="59806"/>
                    </a:lnTo>
                    <a:lnTo>
                      <a:pt x="318515" y="75606"/>
                    </a:lnTo>
                    <a:lnTo>
                      <a:pt x="377206" y="91847"/>
                    </a:lnTo>
                    <a:lnTo>
                      <a:pt x="431242" y="108169"/>
                    </a:lnTo>
                    <a:lnTo>
                      <a:pt x="477861" y="124212"/>
                    </a:lnTo>
                    <a:lnTo>
                      <a:pt x="514303" y="139616"/>
                    </a:lnTo>
                    <a:lnTo>
                      <a:pt x="545610" y="167068"/>
                    </a:lnTo>
                    <a:lnTo>
                      <a:pt x="535800" y="179458"/>
                    </a:lnTo>
                    <a:lnTo>
                      <a:pt x="471519" y="204605"/>
                    </a:lnTo>
                    <a:lnTo>
                      <a:pt x="422650" y="217062"/>
                    </a:lnTo>
                    <a:lnTo>
                      <a:pt x="366364" y="229239"/>
                    </a:lnTo>
                    <a:lnTo>
                      <a:pt x="305462" y="240987"/>
                    </a:lnTo>
                    <a:lnTo>
                      <a:pt x="242746" y="252154"/>
                    </a:lnTo>
                    <a:lnTo>
                      <a:pt x="181017" y="262590"/>
                    </a:lnTo>
                    <a:lnTo>
                      <a:pt x="123076" y="272145"/>
                    </a:lnTo>
                    <a:lnTo>
                      <a:pt x="71726" y="280669"/>
                    </a:lnTo>
                    <a:lnTo>
                      <a:pt x="29766" y="288009"/>
                    </a:lnTo>
                    <a:lnTo>
                      <a:pt x="0" y="294016"/>
                    </a:lnTo>
                  </a:path>
                  <a:path w="550545" h="294639">
                    <a:moveTo>
                      <a:pt x="550425" y="178095"/>
                    </a:moveTo>
                    <a:lnTo>
                      <a:pt x="112372" y="270342"/>
                    </a:lnTo>
                  </a:path>
                </a:pathLst>
              </a:custGeom>
              <a:ln w="1904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12">
                <a:extLst>
                  <a:ext uri="{FF2B5EF4-FFF2-40B4-BE49-F238E27FC236}">
                    <a16:creationId xmlns:a16="http://schemas.microsoft.com/office/drawing/2014/main" id="{11F83D78-0872-78DA-AE2E-E7EFC071968A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830476" y="2681681"/>
                <a:ext cx="110129" cy="80630"/>
              </a:xfrm>
              <a:prstGeom prst="rect">
                <a:avLst/>
              </a:prstGeom>
            </p:spPr>
          </p:pic>
        </p:grp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A3B2E038-7818-EEA3-7AA9-8115EC1164FD}"/>
                </a:ext>
              </a:extLst>
            </p:cNvPr>
            <p:cNvSpPr txBox="1"/>
            <p:nvPr/>
          </p:nvSpPr>
          <p:spPr>
            <a:xfrm>
              <a:off x="4246640" y="3629067"/>
              <a:ext cx="139700" cy="28130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090"/>
                </a:lnSpc>
              </a:pPr>
              <a:r>
                <a:rPr sz="1800" spc="-50" dirty="0">
                  <a:latin typeface="Arial MT"/>
                  <a:cs typeface="Arial MT"/>
                </a:rPr>
                <a:t>x</a:t>
              </a:r>
              <a:endParaRPr sz="1800">
                <a:latin typeface="Arial MT"/>
                <a:cs typeface="Arial M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865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619" y="566218"/>
            <a:ext cx="7074747" cy="707031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Recurrent</a:t>
            </a:r>
            <a:r>
              <a:rPr spc="-60" dirty="0"/>
              <a:t> </a:t>
            </a:r>
            <a:r>
              <a:rPr dirty="0"/>
              <a:t>Neural</a:t>
            </a:r>
            <a:r>
              <a:rPr spc="-47" dirty="0"/>
              <a:t> </a:t>
            </a:r>
            <a:r>
              <a:rPr spc="-13" dirty="0"/>
              <a:t>Network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69053" y="3947745"/>
            <a:ext cx="573193" cy="1691640"/>
            <a:chOff x="4101789" y="2960809"/>
            <a:chExt cx="429895" cy="1268730"/>
          </a:xfrm>
        </p:grpSpPr>
        <p:sp>
          <p:nvSpPr>
            <p:cNvPr id="4" name="object 4"/>
            <p:cNvSpPr/>
            <p:nvPr/>
          </p:nvSpPr>
          <p:spPr>
            <a:xfrm>
              <a:off x="4106551" y="3308571"/>
              <a:ext cx="420370" cy="916305"/>
            </a:xfrm>
            <a:custGeom>
              <a:avLst/>
              <a:gdLst/>
              <a:ahLst/>
              <a:cxnLst/>
              <a:rect l="l" t="t" r="r" b="b"/>
              <a:pathLst>
                <a:path w="420370" h="916304">
                  <a:moveTo>
                    <a:pt x="419875" y="915690"/>
                  </a:moveTo>
                  <a:lnTo>
                    <a:pt x="0" y="915690"/>
                  </a:lnTo>
                  <a:lnTo>
                    <a:pt x="0" y="0"/>
                  </a:lnTo>
                  <a:lnTo>
                    <a:pt x="419875" y="0"/>
                  </a:lnTo>
                  <a:lnTo>
                    <a:pt x="419875" y="915690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5" name="object 5"/>
            <p:cNvSpPr/>
            <p:nvPr/>
          </p:nvSpPr>
          <p:spPr>
            <a:xfrm>
              <a:off x="4106551" y="3308571"/>
              <a:ext cx="420370" cy="916305"/>
            </a:xfrm>
            <a:custGeom>
              <a:avLst/>
              <a:gdLst/>
              <a:ahLst/>
              <a:cxnLst/>
              <a:rect l="l" t="t" r="r" b="b"/>
              <a:pathLst>
                <a:path w="420370" h="916304">
                  <a:moveTo>
                    <a:pt x="0" y="0"/>
                  </a:moveTo>
                  <a:lnTo>
                    <a:pt x="419875" y="0"/>
                  </a:lnTo>
                  <a:lnTo>
                    <a:pt x="419875" y="915690"/>
                  </a:lnTo>
                  <a:lnTo>
                    <a:pt x="0" y="91569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5498" y="2960809"/>
              <a:ext cx="81981" cy="34776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066390" y="3047140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5402" y="1361378"/>
            <a:ext cx="560493" cy="803639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64347" rIns="0" bIns="0" rtlCol="0">
            <a:spAutoFit/>
          </a:bodyPr>
          <a:lstStyle/>
          <a:p>
            <a:pPr>
              <a:spcBef>
                <a:spcPts val="507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67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0665" y="2606661"/>
            <a:ext cx="109308" cy="44047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403597" y="2895932"/>
            <a:ext cx="1254759" cy="787400"/>
            <a:chOff x="4802697" y="2171949"/>
            <a:chExt cx="941069" cy="590550"/>
          </a:xfrm>
        </p:grpSpPr>
        <p:sp>
          <p:nvSpPr>
            <p:cNvPr id="11" name="object 11"/>
            <p:cNvSpPr/>
            <p:nvPr/>
          </p:nvSpPr>
          <p:spPr>
            <a:xfrm>
              <a:off x="4812222" y="2451654"/>
              <a:ext cx="546100" cy="294640"/>
            </a:xfrm>
            <a:custGeom>
              <a:avLst/>
              <a:gdLst/>
              <a:ahLst/>
              <a:cxnLst/>
              <a:rect l="l" t="t" r="r" b="b"/>
              <a:pathLst>
                <a:path w="546100" h="294639">
                  <a:moveTo>
                    <a:pt x="23210" y="0"/>
                  </a:moveTo>
                  <a:lnTo>
                    <a:pt x="51857" y="8202"/>
                  </a:lnTo>
                  <a:lnTo>
                    <a:pt x="92413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30" y="59806"/>
                  </a:lnTo>
                  <a:lnTo>
                    <a:pt x="318515" y="75606"/>
                  </a:lnTo>
                  <a:lnTo>
                    <a:pt x="377207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0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4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7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2" name="object 12"/>
            <p:cNvSpPr/>
            <p:nvPr/>
          </p:nvSpPr>
          <p:spPr>
            <a:xfrm>
              <a:off x="5460220" y="2181474"/>
              <a:ext cx="273685" cy="236220"/>
            </a:xfrm>
            <a:custGeom>
              <a:avLst/>
              <a:gdLst/>
              <a:ahLst/>
              <a:cxnLst/>
              <a:rect l="l" t="t" r="r" b="b"/>
              <a:pathLst>
                <a:path w="273685" h="236219">
                  <a:moveTo>
                    <a:pt x="273679" y="0"/>
                  </a:moveTo>
                  <a:lnTo>
                    <a:pt x="0" y="235624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5180" y="2383729"/>
              <a:ext cx="105094" cy="993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24597" y="2629749"/>
              <a:ext cx="438150" cy="92710"/>
            </a:xfrm>
            <a:custGeom>
              <a:avLst/>
              <a:gdLst/>
              <a:ahLst/>
              <a:cxnLst/>
              <a:rect l="l" t="t" r="r" b="b"/>
              <a:pathLst>
                <a:path w="438150" h="92710">
                  <a:moveTo>
                    <a:pt x="438052" y="0"/>
                  </a:moveTo>
                  <a:lnTo>
                    <a:pt x="0" y="9224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0476" y="2681681"/>
              <a:ext cx="110129" cy="8063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869799" y="2260760"/>
            <a:ext cx="3506893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Key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idea: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RNNs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have</a:t>
            </a:r>
            <a:r>
              <a:rPr sz="2400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an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“internal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state”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that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is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updated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as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sequence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is </a:t>
            </a:r>
            <a:r>
              <a:rPr sz="2400" spc="-13" dirty="0">
                <a:solidFill>
                  <a:srgbClr val="FF0000"/>
                </a:solidFill>
                <a:latin typeface="Arial MT"/>
                <a:cs typeface="Arial MT"/>
              </a:rPr>
              <a:t>processed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62187" y="4838757"/>
            <a:ext cx="18626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787"/>
              </a:lnSpc>
            </a:pPr>
            <a:r>
              <a:rPr sz="2400" spc="-67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34</a:t>
            </a:fld>
            <a:endParaRPr spc="-33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3835" y="300571"/>
            <a:ext cx="3793067" cy="707031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Unrolled</a:t>
            </a:r>
            <a:r>
              <a:rPr spc="-53" dirty="0"/>
              <a:t> </a:t>
            </a:r>
            <a:r>
              <a:rPr spc="-33" dirty="0"/>
              <a:t>RNN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6402" y="4343578"/>
            <a:ext cx="560493" cy="79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7388" y="2979289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6402" y="1293526"/>
            <a:ext cx="560493" cy="798510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1664" y="2538809"/>
            <a:ext cx="109307" cy="4404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664" y="3879896"/>
            <a:ext cx="109307" cy="46368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13835" y="4343578"/>
            <a:ext cx="560493" cy="79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4822" y="2979289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13835" y="1293526"/>
            <a:ext cx="560493" cy="798510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9098" y="2538809"/>
            <a:ext cx="109308" cy="44047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9098" y="3879896"/>
            <a:ext cx="109308" cy="46368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581268" y="4343562"/>
            <a:ext cx="560493" cy="79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72256" y="2979273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81268" y="1293511"/>
            <a:ext cx="560493" cy="798510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6531" y="2538794"/>
            <a:ext cx="109308" cy="44047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6531" y="3879879"/>
            <a:ext cx="109308" cy="463683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015248" y="3362756"/>
            <a:ext cx="865293" cy="110067"/>
            <a:chOff x="2261436" y="2522067"/>
            <a:chExt cx="648970" cy="82550"/>
          </a:xfrm>
        </p:grpSpPr>
        <p:sp>
          <p:nvSpPr>
            <p:cNvPr id="19" name="object 19"/>
            <p:cNvSpPr/>
            <p:nvPr/>
          </p:nvSpPr>
          <p:spPr>
            <a:xfrm>
              <a:off x="2261436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4811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282683" y="3362756"/>
            <a:ext cx="865293" cy="110067"/>
            <a:chOff x="3962012" y="2522067"/>
            <a:chExt cx="648970" cy="82550"/>
          </a:xfrm>
        </p:grpSpPr>
        <p:sp>
          <p:nvSpPr>
            <p:cNvPr id="22" name="object 22"/>
            <p:cNvSpPr/>
            <p:nvPr/>
          </p:nvSpPr>
          <p:spPr>
            <a:xfrm>
              <a:off x="3962012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5387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7550115" y="3374373"/>
            <a:ext cx="865293" cy="110067"/>
            <a:chOff x="5662586" y="2530780"/>
            <a:chExt cx="648970" cy="82550"/>
          </a:xfrm>
        </p:grpSpPr>
        <p:sp>
          <p:nvSpPr>
            <p:cNvPr id="25" name="object 25"/>
            <p:cNvSpPr/>
            <p:nvPr/>
          </p:nvSpPr>
          <p:spPr>
            <a:xfrm>
              <a:off x="5662586" y="2571771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5961" y="2530780"/>
              <a:ext cx="105500" cy="8198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8537067" y="3212175"/>
            <a:ext cx="2878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...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14002" y="4352711"/>
            <a:ext cx="560493" cy="79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75256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04990" y="2988422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514002" y="1302660"/>
            <a:ext cx="560493" cy="798510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75256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39266" y="2547942"/>
            <a:ext cx="109308" cy="44047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9266" y="3889029"/>
            <a:ext cx="109308" cy="463681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41" y="379070"/>
            <a:ext cx="6876627" cy="707031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RNN</a:t>
            </a:r>
            <a:r>
              <a:rPr spc="-80" dirty="0"/>
              <a:t> </a:t>
            </a:r>
            <a:r>
              <a:rPr dirty="0"/>
              <a:t>hidden</a:t>
            </a:r>
            <a:r>
              <a:rPr spc="-67" dirty="0"/>
              <a:t> </a:t>
            </a:r>
            <a:r>
              <a:rPr dirty="0"/>
              <a:t>state</a:t>
            </a:r>
            <a:r>
              <a:rPr spc="-67" dirty="0"/>
              <a:t> </a:t>
            </a:r>
            <a:r>
              <a:rPr spc="-13" dirty="0"/>
              <a:t>update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0868" y="4343562"/>
            <a:ext cx="560493" cy="803639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4347" rIns="0" bIns="0" rtlCol="0">
            <a:spAutoFit/>
          </a:bodyPr>
          <a:lstStyle/>
          <a:p>
            <a:pPr>
              <a:spcBef>
                <a:spcPts val="507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67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61856" y="2979273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70868" y="1293511"/>
            <a:ext cx="560493" cy="803639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64347" rIns="0" bIns="0" rtlCol="0">
            <a:spAutoFit/>
          </a:bodyPr>
          <a:lstStyle/>
          <a:p>
            <a:pPr>
              <a:spcBef>
                <a:spcPts val="507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67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96131" y="2538794"/>
            <a:ext cx="109308" cy="4404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6131" y="3879879"/>
            <a:ext cx="109308" cy="46368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199063" y="3188306"/>
            <a:ext cx="777240" cy="428413"/>
            <a:chOff x="8399297" y="2391229"/>
            <a:chExt cx="582930" cy="321310"/>
          </a:xfrm>
        </p:grpSpPr>
        <p:sp>
          <p:nvSpPr>
            <p:cNvPr id="9" name="object 9"/>
            <p:cNvSpPr/>
            <p:nvPr/>
          </p:nvSpPr>
          <p:spPr>
            <a:xfrm>
              <a:off x="8408822" y="2400754"/>
              <a:ext cx="563880" cy="294640"/>
            </a:xfrm>
            <a:custGeom>
              <a:avLst/>
              <a:gdLst/>
              <a:ahLst/>
              <a:cxnLst/>
              <a:rect l="l" t="t" r="r" b="b"/>
              <a:pathLst>
                <a:path w="563879" h="294639">
                  <a:moveTo>
                    <a:pt x="23209" y="0"/>
                  </a:moveTo>
                  <a:lnTo>
                    <a:pt x="51856" y="8202"/>
                  </a:lnTo>
                  <a:lnTo>
                    <a:pt x="92412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29" y="59806"/>
                  </a:lnTo>
                  <a:lnTo>
                    <a:pt x="318515" y="75606"/>
                  </a:lnTo>
                  <a:lnTo>
                    <a:pt x="377206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1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3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6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  <a:path w="563879" h="294639">
                  <a:moveTo>
                    <a:pt x="563298" y="179020"/>
                  </a:moveTo>
                  <a:lnTo>
                    <a:pt x="125245" y="27126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39947" y="2631706"/>
              <a:ext cx="110128" cy="8063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9623" y="1822498"/>
            <a:ext cx="888066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lang="en-US" sz="2400" dirty="0">
                <a:solidFill>
                  <a:srgbClr val="FF0000"/>
                </a:solidFill>
                <a:latin typeface="Arial MT"/>
                <a:cs typeface="Arial MT"/>
              </a:rPr>
              <a:t>P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rocess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sequence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vectors</a:t>
            </a:r>
            <a:r>
              <a:rPr sz="2400" spc="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FF0000"/>
                </a:solidFill>
              </a:rPr>
              <a:t>x</a:t>
            </a:r>
            <a:r>
              <a:rPr sz="2400" b="1" spc="-20" dirty="0">
                <a:solidFill>
                  <a:srgbClr val="FF0000"/>
                </a:solidFill>
              </a:rPr>
              <a:t> 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by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applying</a:t>
            </a:r>
            <a:r>
              <a:rPr sz="2400" spc="-4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FF0000"/>
                </a:solidFill>
              </a:rPr>
              <a:t>recurrence</a:t>
            </a:r>
            <a:r>
              <a:rPr sz="2400" b="1" spc="-33" dirty="0">
                <a:solidFill>
                  <a:srgbClr val="FF0000"/>
                </a:solidFill>
              </a:rPr>
              <a:t> </a:t>
            </a:r>
            <a:r>
              <a:rPr sz="2400" b="1" dirty="0">
                <a:solidFill>
                  <a:srgbClr val="FF0000"/>
                </a:solidFill>
              </a:rPr>
              <a:t>formula</a:t>
            </a:r>
            <a:r>
              <a:rPr sz="2400" b="1" spc="-13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at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every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time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FF0000"/>
                </a:solidFill>
                <a:latin typeface="Arial MT"/>
                <a:cs typeface="Arial MT"/>
              </a:rPr>
              <a:t>step: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79832" y="2747167"/>
            <a:ext cx="5345005" cy="872067"/>
            <a:chOff x="1784874" y="2060375"/>
            <a:chExt cx="4008754" cy="65405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1248" y="2132316"/>
              <a:ext cx="3932242" cy="56955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4399" y="2069900"/>
              <a:ext cx="621030" cy="614680"/>
            </a:xfrm>
            <a:custGeom>
              <a:avLst/>
              <a:gdLst/>
              <a:ahLst/>
              <a:cxnLst/>
              <a:rect l="l" t="t" r="r" b="b"/>
              <a:pathLst>
                <a:path w="621030" h="614680">
                  <a:moveTo>
                    <a:pt x="0" y="0"/>
                  </a:moveTo>
                  <a:lnTo>
                    <a:pt x="620699" y="0"/>
                  </a:lnTo>
                  <a:lnTo>
                    <a:pt x="6206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5" name="object 15"/>
            <p:cNvSpPr/>
            <p:nvPr/>
          </p:nvSpPr>
          <p:spPr>
            <a:xfrm>
              <a:off x="3958024" y="2090550"/>
              <a:ext cx="939800" cy="614680"/>
            </a:xfrm>
            <a:custGeom>
              <a:avLst/>
              <a:gdLst/>
              <a:ahLst/>
              <a:cxnLst/>
              <a:rect l="l" t="t" r="r" b="b"/>
              <a:pathLst>
                <a:path w="939800" h="614680">
                  <a:moveTo>
                    <a:pt x="0" y="0"/>
                  </a:moveTo>
                  <a:lnTo>
                    <a:pt x="939299" y="0"/>
                  </a:lnTo>
                  <a:lnTo>
                    <a:pt x="9392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6" name="object 16"/>
            <p:cNvSpPr/>
            <p:nvPr/>
          </p:nvSpPr>
          <p:spPr>
            <a:xfrm>
              <a:off x="5070450" y="2090550"/>
              <a:ext cx="549275" cy="614680"/>
            </a:xfrm>
            <a:custGeom>
              <a:avLst/>
              <a:gdLst/>
              <a:ahLst/>
              <a:cxnLst/>
              <a:rect l="l" t="t" r="r" b="b"/>
              <a:pathLst>
                <a:path w="549275" h="614680">
                  <a:moveTo>
                    <a:pt x="0" y="0"/>
                  </a:moveTo>
                  <a:lnTo>
                    <a:pt x="548699" y="0"/>
                  </a:lnTo>
                  <a:lnTo>
                    <a:pt x="5486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92701" y="3675211"/>
            <a:ext cx="773430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3439921" algn="l"/>
                <a:tab pos="5166231" algn="l"/>
              </a:tabLst>
            </a:pPr>
            <a:r>
              <a:rPr sz="4800" baseline="2314" dirty="0">
                <a:solidFill>
                  <a:srgbClr val="0000FF"/>
                </a:solidFill>
                <a:latin typeface="Arial MT"/>
                <a:cs typeface="Arial MT"/>
              </a:rPr>
              <a:t>new</a:t>
            </a:r>
            <a:r>
              <a:rPr sz="4800" spc="-119" baseline="231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4800" spc="-20" baseline="2314" dirty="0">
                <a:solidFill>
                  <a:srgbClr val="0000FF"/>
                </a:solidFill>
                <a:latin typeface="Arial MT"/>
                <a:cs typeface="Arial MT"/>
              </a:rPr>
              <a:t>state</a:t>
            </a:r>
            <a:r>
              <a:rPr sz="4800" baseline="2314" dirty="0">
                <a:solidFill>
                  <a:srgbClr val="0000FF"/>
                </a:solidFill>
                <a:latin typeface="Arial MT"/>
                <a:cs typeface="Arial MT"/>
              </a:rPr>
              <a:t>	</a:t>
            </a:r>
            <a:r>
              <a:rPr sz="4800" baseline="2314" dirty="0">
                <a:solidFill>
                  <a:srgbClr val="37761C"/>
                </a:solidFill>
                <a:latin typeface="Arial MT"/>
                <a:cs typeface="Arial MT"/>
              </a:rPr>
              <a:t>old</a:t>
            </a:r>
            <a:r>
              <a:rPr sz="4800" spc="-100" baseline="2314" dirty="0">
                <a:solidFill>
                  <a:srgbClr val="37761C"/>
                </a:solidFill>
                <a:latin typeface="Arial MT"/>
                <a:cs typeface="Arial MT"/>
              </a:rPr>
              <a:t> </a:t>
            </a:r>
            <a:r>
              <a:rPr sz="4800" spc="-20" baseline="2314" dirty="0">
                <a:solidFill>
                  <a:srgbClr val="37761C"/>
                </a:solidFill>
                <a:latin typeface="Arial MT"/>
                <a:cs typeface="Arial MT"/>
              </a:rPr>
              <a:t>state</a:t>
            </a:r>
            <a:r>
              <a:rPr sz="4800" baseline="2314" dirty="0">
                <a:solidFill>
                  <a:srgbClr val="37761C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input</a:t>
            </a:r>
            <a:r>
              <a:rPr sz="32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vector</a:t>
            </a:r>
            <a:r>
              <a:rPr sz="32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33" dirty="0">
                <a:solidFill>
                  <a:srgbClr val="FF0000"/>
                </a:solidFill>
                <a:latin typeface="Arial MT"/>
                <a:cs typeface="Arial MT"/>
              </a:rPr>
              <a:t>at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42933" y="4162891"/>
            <a:ext cx="278807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some</a:t>
            </a:r>
            <a:r>
              <a:rPr sz="32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time</a:t>
            </a:r>
            <a:r>
              <a:rPr sz="3200" spc="-9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27" dirty="0">
                <a:solidFill>
                  <a:srgbClr val="FF0000"/>
                </a:solidFill>
                <a:latin typeface="Arial MT"/>
                <a:cs typeface="Arial MT"/>
              </a:rPr>
              <a:t>step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024967" y="2759867"/>
            <a:ext cx="960120" cy="819573"/>
          </a:xfrm>
          <a:custGeom>
            <a:avLst/>
            <a:gdLst/>
            <a:ahLst/>
            <a:cxnLst/>
            <a:rect l="l" t="t" r="r" b="b"/>
            <a:pathLst>
              <a:path w="720089" h="614680">
                <a:moveTo>
                  <a:pt x="0" y="0"/>
                </a:moveTo>
                <a:lnTo>
                  <a:pt x="719699" y="0"/>
                </a:lnTo>
                <a:lnTo>
                  <a:pt x="719699" y="614099"/>
                </a:lnTo>
                <a:lnTo>
                  <a:pt x="0" y="6140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20" name="object 20"/>
          <p:cNvSpPr txBox="1"/>
          <p:nvPr/>
        </p:nvSpPr>
        <p:spPr>
          <a:xfrm>
            <a:off x="2809500" y="4550811"/>
            <a:ext cx="3420533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dirty="0">
                <a:solidFill>
                  <a:srgbClr val="9900FF"/>
                </a:solidFill>
                <a:latin typeface="Arial MT"/>
                <a:cs typeface="Arial MT"/>
              </a:rPr>
              <a:t>some</a:t>
            </a:r>
            <a:r>
              <a:rPr sz="3200" spc="-107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3200" spc="-13" dirty="0">
                <a:solidFill>
                  <a:srgbClr val="9900FF"/>
                </a:solidFill>
                <a:latin typeface="Arial MT"/>
                <a:cs typeface="Arial MT"/>
              </a:rPr>
              <a:t>function</a:t>
            </a:r>
            <a:endParaRPr sz="3200">
              <a:latin typeface="Arial MT"/>
              <a:cs typeface="Arial MT"/>
            </a:endParaRPr>
          </a:p>
          <a:p>
            <a:pPr marL="16933"/>
            <a:r>
              <a:rPr sz="3200" dirty="0">
                <a:solidFill>
                  <a:srgbClr val="9900FF"/>
                </a:solidFill>
                <a:latin typeface="Arial MT"/>
                <a:cs typeface="Arial MT"/>
              </a:rPr>
              <a:t>with</a:t>
            </a:r>
            <a:r>
              <a:rPr sz="3200" spc="-127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9900FF"/>
                </a:solidFill>
                <a:latin typeface="Arial MT"/>
                <a:cs typeface="Arial MT"/>
              </a:rPr>
              <a:t>parameters</a:t>
            </a:r>
            <a:r>
              <a:rPr sz="3200" spc="-127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3200" spc="-67" dirty="0">
                <a:solidFill>
                  <a:srgbClr val="9900FF"/>
                </a:solidFill>
                <a:latin typeface="Arial MT"/>
                <a:cs typeface="Arial MT"/>
              </a:rPr>
              <a:t>W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75165" y="3680265"/>
            <a:ext cx="228600" cy="907627"/>
          </a:xfrm>
          <a:custGeom>
            <a:avLst/>
            <a:gdLst/>
            <a:ahLst/>
            <a:cxnLst/>
            <a:rect l="l" t="t" r="r" b="b"/>
            <a:pathLst>
              <a:path w="171450" h="680720">
                <a:moveTo>
                  <a:pt x="0" y="680399"/>
                </a:moveTo>
                <a:lnTo>
                  <a:pt x="170999" y="0"/>
                </a:lnTo>
              </a:path>
            </a:pathLst>
          </a:custGeom>
          <a:ln w="9524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36</a:t>
            </a:fld>
            <a:endParaRPr spc="-33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22500" y="2767033"/>
            <a:ext cx="4162213" cy="1009227"/>
            <a:chOff x="1891875" y="2075275"/>
            <a:chExt cx="3121660" cy="756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1875" y="2161361"/>
              <a:ext cx="3121452" cy="6402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72325" y="2084800"/>
              <a:ext cx="598170" cy="737870"/>
            </a:xfrm>
            <a:custGeom>
              <a:avLst/>
              <a:gdLst/>
              <a:ahLst/>
              <a:cxnLst/>
              <a:rect l="l" t="t" r="r" b="b"/>
              <a:pathLst>
                <a:path w="598170" h="737869">
                  <a:moveTo>
                    <a:pt x="0" y="0"/>
                  </a:moveTo>
                  <a:lnTo>
                    <a:pt x="597599" y="0"/>
                  </a:lnTo>
                  <a:lnTo>
                    <a:pt x="597599" y="737399"/>
                  </a:lnTo>
                  <a:lnTo>
                    <a:pt x="0" y="737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0967" y="275895"/>
            <a:ext cx="6264487" cy="707031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RNN</a:t>
            </a:r>
            <a:r>
              <a:rPr spc="-100" dirty="0"/>
              <a:t> </a:t>
            </a:r>
            <a:r>
              <a:rPr dirty="0"/>
              <a:t>output</a:t>
            </a:r>
            <a:r>
              <a:rPr spc="-87" dirty="0"/>
              <a:t> </a:t>
            </a:r>
            <a:r>
              <a:rPr spc="-13" dirty="0"/>
              <a:t>generation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70870" y="4343562"/>
            <a:ext cx="560493" cy="803639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4347" rIns="0" bIns="0" rtlCol="0">
            <a:spAutoFit/>
          </a:bodyPr>
          <a:lstStyle/>
          <a:p>
            <a:pPr>
              <a:spcBef>
                <a:spcPts val="507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67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61856" y="2979273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0870" y="1293511"/>
            <a:ext cx="560493" cy="803639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64347" rIns="0" bIns="0" rtlCol="0">
            <a:spAutoFit/>
          </a:bodyPr>
          <a:lstStyle/>
          <a:p>
            <a:pPr>
              <a:spcBef>
                <a:spcPts val="507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67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6134" y="2538794"/>
            <a:ext cx="109308" cy="4404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96134" y="3879879"/>
            <a:ext cx="109308" cy="46368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1199064" y="3188306"/>
            <a:ext cx="777240" cy="428413"/>
            <a:chOff x="8399298" y="2391229"/>
            <a:chExt cx="582930" cy="321310"/>
          </a:xfrm>
        </p:grpSpPr>
        <p:sp>
          <p:nvSpPr>
            <p:cNvPr id="12" name="object 12"/>
            <p:cNvSpPr/>
            <p:nvPr/>
          </p:nvSpPr>
          <p:spPr>
            <a:xfrm>
              <a:off x="8408823" y="2400754"/>
              <a:ext cx="563880" cy="294640"/>
            </a:xfrm>
            <a:custGeom>
              <a:avLst/>
              <a:gdLst/>
              <a:ahLst/>
              <a:cxnLst/>
              <a:rect l="l" t="t" r="r" b="b"/>
              <a:pathLst>
                <a:path w="563879" h="294639">
                  <a:moveTo>
                    <a:pt x="23210" y="0"/>
                  </a:moveTo>
                  <a:lnTo>
                    <a:pt x="51856" y="8202"/>
                  </a:lnTo>
                  <a:lnTo>
                    <a:pt x="92412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29" y="59806"/>
                  </a:lnTo>
                  <a:lnTo>
                    <a:pt x="318515" y="75606"/>
                  </a:lnTo>
                  <a:lnTo>
                    <a:pt x="377206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0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4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7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  <a:path w="563879" h="294639">
                  <a:moveTo>
                    <a:pt x="563296" y="179020"/>
                  </a:moveTo>
                  <a:lnTo>
                    <a:pt x="125243" y="27126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39947" y="2631706"/>
              <a:ext cx="110128" cy="8063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025300" y="3679645"/>
            <a:ext cx="177292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dirty="0">
                <a:solidFill>
                  <a:srgbClr val="0000FF"/>
                </a:solidFill>
                <a:latin typeface="Arial MT"/>
                <a:cs typeface="Arial MT"/>
              </a:rPr>
              <a:t>new</a:t>
            </a:r>
            <a:r>
              <a:rPr sz="3200" spc="-8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200" spc="-13" dirty="0">
                <a:solidFill>
                  <a:srgbClr val="0000FF"/>
                </a:solidFill>
                <a:latin typeface="Arial MT"/>
                <a:cs typeface="Arial MT"/>
              </a:rPr>
              <a:t>state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397966" y="2747167"/>
            <a:ext cx="3100493" cy="1009227"/>
            <a:chOff x="1798474" y="2060375"/>
            <a:chExt cx="2325370" cy="756920"/>
          </a:xfrm>
        </p:grpSpPr>
        <p:sp>
          <p:nvSpPr>
            <p:cNvPr id="17" name="object 17"/>
            <p:cNvSpPr/>
            <p:nvPr/>
          </p:nvSpPr>
          <p:spPr>
            <a:xfrm>
              <a:off x="1807999" y="2146450"/>
              <a:ext cx="775970" cy="614680"/>
            </a:xfrm>
            <a:custGeom>
              <a:avLst/>
              <a:gdLst/>
              <a:ahLst/>
              <a:cxnLst/>
              <a:rect l="l" t="t" r="r" b="b"/>
              <a:pathLst>
                <a:path w="775969" h="614680">
                  <a:moveTo>
                    <a:pt x="0" y="0"/>
                  </a:moveTo>
                  <a:lnTo>
                    <a:pt x="775499" y="0"/>
                  </a:lnTo>
                  <a:lnTo>
                    <a:pt x="775499" y="614099"/>
                  </a:lnTo>
                  <a:lnTo>
                    <a:pt x="0" y="614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8" name="object 18"/>
            <p:cNvSpPr/>
            <p:nvPr/>
          </p:nvSpPr>
          <p:spPr>
            <a:xfrm>
              <a:off x="3018724" y="2069900"/>
              <a:ext cx="1095375" cy="737870"/>
            </a:xfrm>
            <a:custGeom>
              <a:avLst/>
              <a:gdLst/>
              <a:ahLst/>
              <a:cxnLst/>
              <a:rect l="l" t="t" r="r" b="b"/>
              <a:pathLst>
                <a:path w="1095375" h="737869">
                  <a:moveTo>
                    <a:pt x="0" y="0"/>
                  </a:moveTo>
                  <a:lnTo>
                    <a:pt x="1094999" y="0"/>
                  </a:lnTo>
                  <a:lnTo>
                    <a:pt x="1094999" y="737399"/>
                  </a:lnTo>
                  <a:lnTo>
                    <a:pt x="0" y="7373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775634" y="4550811"/>
            <a:ext cx="3639820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 marR="40639">
              <a:spcBef>
                <a:spcPts val="133"/>
              </a:spcBef>
            </a:pPr>
            <a:r>
              <a:rPr sz="3200" dirty="0">
                <a:solidFill>
                  <a:srgbClr val="9900FF"/>
                </a:solidFill>
                <a:latin typeface="Arial MT"/>
                <a:cs typeface="Arial MT"/>
              </a:rPr>
              <a:t>another</a:t>
            </a:r>
            <a:r>
              <a:rPr sz="3200" spc="-120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3200" spc="-13" dirty="0">
                <a:solidFill>
                  <a:srgbClr val="9900FF"/>
                </a:solidFill>
                <a:latin typeface="Arial MT"/>
                <a:cs typeface="Arial MT"/>
              </a:rPr>
              <a:t>function </a:t>
            </a:r>
            <a:r>
              <a:rPr sz="3200" dirty="0">
                <a:solidFill>
                  <a:srgbClr val="9900FF"/>
                </a:solidFill>
                <a:latin typeface="Arial MT"/>
                <a:cs typeface="Arial MT"/>
              </a:rPr>
              <a:t>with</a:t>
            </a:r>
            <a:r>
              <a:rPr sz="3200" spc="-127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9900FF"/>
                </a:solidFill>
                <a:latin typeface="Arial MT"/>
                <a:cs typeface="Arial MT"/>
              </a:rPr>
              <a:t>parameters</a:t>
            </a:r>
            <a:r>
              <a:rPr sz="3200" spc="-127" dirty="0">
                <a:solidFill>
                  <a:srgbClr val="9900FF"/>
                </a:solidFill>
                <a:latin typeface="Arial MT"/>
                <a:cs typeface="Arial MT"/>
              </a:rPr>
              <a:t> </a:t>
            </a:r>
            <a:r>
              <a:rPr sz="3200" spc="-33" dirty="0">
                <a:solidFill>
                  <a:srgbClr val="9900FF"/>
                </a:solidFill>
                <a:latin typeface="Arial MT"/>
                <a:cs typeface="Arial MT"/>
              </a:rPr>
              <a:t>W</a:t>
            </a:r>
            <a:r>
              <a:rPr sz="3200" spc="-49" baseline="-31250" dirty="0">
                <a:solidFill>
                  <a:srgbClr val="9900FF"/>
                </a:solidFill>
                <a:latin typeface="Arial MT"/>
                <a:cs typeface="Arial MT"/>
              </a:rPr>
              <a:t>o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175165" y="3680265"/>
            <a:ext cx="228600" cy="907627"/>
          </a:xfrm>
          <a:custGeom>
            <a:avLst/>
            <a:gdLst/>
            <a:ahLst/>
            <a:cxnLst/>
            <a:rect l="l" t="t" r="r" b="b"/>
            <a:pathLst>
              <a:path w="171450" h="680720">
                <a:moveTo>
                  <a:pt x="0" y="680399"/>
                </a:moveTo>
                <a:lnTo>
                  <a:pt x="170999" y="0"/>
                </a:lnTo>
              </a:path>
            </a:pathLst>
          </a:custGeom>
          <a:ln w="9524">
            <a:solidFill>
              <a:srgbClr val="9900FF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21" name="object 21"/>
          <p:cNvSpPr txBox="1"/>
          <p:nvPr/>
        </p:nvSpPr>
        <p:spPr>
          <a:xfrm>
            <a:off x="1234533" y="3761378"/>
            <a:ext cx="116247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13" dirty="0">
                <a:solidFill>
                  <a:srgbClr val="37761C"/>
                </a:solidFill>
                <a:latin typeface="Arial MT"/>
                <a:cs typeface="Arial MT"/>
              </a:rPr>
              <a:t>output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37</a:t>
            </a:fld>
            <a:endParaRPr spc="-33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1A970E0B-848A-043F-FF0A-12B6D2C6BA40}"/>
              </a:ext>
            </a:extLst>
          </p:cNvPr>
          <p:cNvSpPr txBox="1"/>
          <p:nvPr/>
        </p:nvSpPr>
        <p:spPr>
          <a:xfrm>
            <a:off x="309623" y="1822498"/>
            <a:ext cx="888066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lang="en-US" sz="2400" dirty="0">
                <a:solidFill>
                  <a:srgbClr val="FF0000"/>
                </a:solidFill>
                <a:latin typeface="Arial MT"/>
                <a:cs typeface="Arial MT"/>
              </a:rPr>
              <a:t>P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rocess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sequence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vectors</a:t>
            </a:r>
            <a:r>
              <a:rPr sz="2400" spc="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FF0000"/>
                </a:solidFill>
              </a:rPr>
              <a:t>x</a:t>
            </a:r>
            <a:r>
              <a:rPr sz="2400" b="1" spc="-20" dirty="0">
                <a:solidFill>
                  <a:srgbClr val="FF0000"/>
                </a:solidFill>
              </a:rPr>
              <a:t> 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by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applying</a:t>
            </a:r>
            <a:r>
              <a:rPr sz="2400" spc="-4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FF0000"/>
                </a:solidFill>
              </a:rPr>
              <a:t>recurrence</a:t>
            </a:r>
            <a:r>
              <a:rPr sz="2400" b="1" spc="-33" dirty="0">
                <a:solidFill>
                  <a:srgbClr val="FF0000"/>
                </a:solidFill>
              </a:rPr>
              <a:t> </a:t>
            </a:r>
            <a:r>
              <a:rPr sz="2400" b="1" dirty="0">
                <a:solidFill>
                  <a:srgbClr val="FF0000"/>
                </a:solidFill>
              </a:rPr>
              <a:t>formula</a:t>
            </a:r>
            <a:r>
              <a:rPr sz="2400" b="1" spc="-13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at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every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time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FF0000"/>
                </a:solidFill>
                <a:latin typeface="Arial MT"/>
                <a:cs typeface="Arial MT"/>
              </a:rPr>
              <a:t>step: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984" y="325297"/>
            <a:ext cx="7074747" cy="707031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Recurrent</a:t>
            </a:r>
            <a:r>
              <a:rPr spc="-60" dirty="0"/>
              <a:t> </a:t>
            </a:r>
            <a:r>
              <a:rPr dirty="0"/>
              <a:t>Neural</a:t>
            </a:r>
            <a:r>
              <a:rPr spc="-47" dirty="0"/>
              <a:t> </a:t>
            </a:r>
            <a:r>
              <a:rPr spc="-13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6402" y="4343578"/>
            <a:ext cx="560493" cy="79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7388" y="2979289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6402" y="1293526"/>
            <a:ext cx="560493" cy="798510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1664" y="2538809"/>
            <a:ext cx="109307" cy="4404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1664" y="3879896"/>
            <a:ext cx="109307" cy="46368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13835" y="4343578"/>
            <a:ext cx="560493" cy="79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4822" y="2979289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13835" y="1293526"/>
            <a:ext cx="560493" cy="798510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9098" y="2538809"/>
            <a:ext cx="109308" cy="44047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9098" y="3879896"/>
            <a:ext cx="109308" cy="46368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581268" y="4343562"/>
            <a:ext cx="560493" cy="79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72256" y="2979273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81268" y="1293511"/>
            <a:ext cx="560493" cy="798510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46470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6531" y="2538794"/>
            <a:ext cx="109308" cy="44047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6531" y="3879879"/>
            <a:ext cx="109308" cy="463683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015248" y="3362756"/>
            <a:ext cx="865293" cy="110067"/>
            <a:chOff x="2261436" y="2522067"/>
            <a:chExt cx="648970" cy="82550"/>
          </a:xfrm>
        </p:grpSpPr>
        <p:sp>
          <p:nvSpPr>
            <p:cNvPr id="19" name="object 19"/>
            <p:cNvSpPr/>
            <p:nvPr/>
          </p:nvSpPr>
          <p:spPr>
            <a:xfrm>
              <a:off x="2261436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4811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282683" y="3362756"/>
            <a:ext cx="865293" cy="110067"/>
            <a:chOff x="3962012" y="2522067"/>
            <a:chExt cx="648970" cy="82550"/>
          </a:xfrm>
        </p:grpSpPr>
        <p:sp>
          <p:nvSpPr>
            <p:cNvPr id="22" name="object 22"/>
            <p:cNvSpPr/>
            <p:nvPr/>
          </p:nvSpPr>
          <p:spPr>
            <a:xfrm>
              <a:off x="3962012" y="25630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5387" y="2522067"/>
              <a:ext cx="105500" cy="8198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7550115" y="3374373"/>
            <a:ext cx="865293" cy="110067"/>
            <a:chOff x="5662586" y="2530780"/>
            <a:chExt cx="648970" cy="82550"/>
          </a:xfrm>
        </p:grpSpPr>
        <p:sp>
          <p:nvSpPr>
            <p:cNvPr id="25" name="object 25"/>
            <p:cNvSpPr/>
            <p:nvPr/>
          </p:nvSpPr>
          <p:spPr>
            <a:xfrm>
              <a:off x="5662586" y="2571771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5961" y="2530780"/>
              <a:ext cx="105500" cy="8198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8537067" y="3212175"/>
            <a:ext cx="2878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...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14002" y="4352711"/>
            <a:ext cx="560493" cy="798510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75256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04990" y="2988422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514002" y="1302660"/>
            <a:ext cx="560493" cy="798510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181187" rIns="0" bIns="0" rtlCol="0">
            <a:spAutoFit/>
          </a:bodyPr>
          <a:lstStyle/>
          <a:p>
            <a:pPr>
              <a:spcBef>
                <a:spcPts val="1427"/>
              </a:spcBef>
            </a:pPr>
            <a:endParaRPr sz="1600">
              <a:latin typeface="Times New Roman"/>
              <a:cs typeface="Times New Roman"/>
            </a:endParaRPr>
          </a:p>
          <a:p>
            <a:pPr marL="175256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39266" y="2547942"/>
            <a:ext cx="109308" cy="44047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39266" y="3889029"/>
            <a:ext cx="109308" cy="46368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3267971" y="2921774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35404" y="2921774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02836" y="293340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47815" y="3348357"/>
            <a:ext cx="865293" cy="110067"/>
            <a:chOff x="560861" y="2511268"/>
            <a:chExt cx="648970" cy="82550"/>
          </a:xfrm>
        </p:grpSpPr>
        <p:sp>
          <p:nvSpPr>
            <p:cNvPr id="37" name="object 37"/>
            <p:cNvSpPr/>
            <p:nvPr/>
          </p:nvSpPr>
          <p:spPr>
            <a:xfrm>
              <a:off x="560861" y="2552258"/>
              <a:ext cx="553085" cy="0"/>
            </a:xfrm>
            <a:custGeom>
              <a:avLst/>
              <a:gdLst/>
              <a:ahLst/>
              <a:cxnLst/>
              <a:rect l="l" t="t" r="r" b="b"/>
              <a:pathLst>
                <a:path w="553085">
                  <a:moveTo>
                    <a:pt x="0" y="0"/>
                  </a:moveTo>
                  <a:lnTo>
                    <a:pt x="5528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4237" y="2511268"/>
              <a:ext cx="105500" cy="8198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000537" y="2907375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504" y="490041"/>
            <a:ext cx="7074747" cy="707031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Recurrent</a:t>
            </a:r>
            <a:r>
              <a:rPr spc="-60" dirty="0"/>
              <a:t> </a:t>
            </a:r>
            <a:r>
              <a:rPr dirty="0"/>
              <a:t>Neural</a:t>
            </a:r>
            <a:r>
              <a:rPr spc="-47" dirty="0"/>
              <a:t> </a:t>
            </a:r>
            <a:r>
              <a:rPr spc="-13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0868" y="4343562"/>
            <a:ext cx="560493" cy="803639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64347" rIns="0" bIns="0" rtlCol="0">
            <a:spAutoFit/>
          </a:bodyPr>
          <a:lstStyle/>
          <a:p>
            <a:pPr>
              <a:spcBef>
                <a:spcPts val="507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67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61856" y="2979273"/>
            <a:ext cx="1378373" cy="614698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42993" rIns="0" bIns="0" rtlCol="0">
            <a:spAutoFit/>
          </a:bodyPr>
          <a:lstStyle/>
          <a:p>
            <a:pPr marL="358131">
              <a:spcBef>
                <a:spcPts val="191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70868" y="1293511"/>
            <a:ext cx="560493" cy="803639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64347" rIns="0" bIns="0" rtlCol="0">
            <a:spAutoFit/>
          </a:bodyPr>
          <a:lstStyle/>
          <a:p>
            <a:pPr>
              <a:spcBef>
                <a:spcPts val="507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67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96131" y="2538794"/>
            <a:ext cx="109308" cy="4404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6131" y="3879879"/>
            <a:ext cx="109308" cy="46368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199063" y="3188306"/>
            <a:ext cx="777240" cy="428413"/>
            <a:chOff x="8399297" y="2391229"/>
            <a:chExt cx="582930" cy="321310"/>
          </a:xfrm>
        </p:grpSpPr>
        <p:sp>
          <p:nvSpPr>
            <p:cNvPr id="9" name="object 9"/>
            <p:cNvSpPr/>
            <p:nvPr/>
          </p:nvSpPr>
          <p:spPr>
            <a:xfrm>
              <a:off x="8408822" y="2400754"/>
              <a:ext cx="563880" cy="294640"/>
            </a:xfrm>
            <a:custGeom>
              <a:avLst/>
              <a:gdLst/>
              <a:ahLst/>
              <a:cxnLst/>
              <a:rect l="l" t="t" r="r" b="b"/>
              <a:pathLst>
                <a:path w="563879" h="294639">
                  <a:moveTo>
                    <a:pt x="23209" y="0"/>
                  </a:moveTo>
                  <a:lnTo>
                    <a:pt x="51856" y="8202"/>
                  </a:lnTo>
                  <a:lnTo>
                    <a:pt x="92412" y="18643"/>
                  </a:lnTo>
                  <a:lnTo>
                    <a:pt x="142117" y="30964"/>
                  </a:lnTo>
                  <a:lnTo>
                    <a:pt x="198210" y="44805"/>
                  </a:lnTo>
                  <a:lnTo>
                    <a:pt x="257929" y="59806"/>
                  </a:lnTo>
                  <a:lnTo>
                    <a:pt x="318515" y="75606"/>
                  </a:lnTo>
                  <a:lnTo>
                    <a:pt x="377206" y="91847"/>
                  </a:lnTo>
                  <a:lnTo>
                    <a:pt x="431242" y="108169"/>
                  </a:lnTo>
                  <a:lnTo>
                    <a:pt x="477861" y="124212"/>
                  </a:lnTo>
                  <a:lnTo>
                    <a:pt x="514303" y="139616"/>
                  </a:lnTo>
                  <a:lnTo>
                    <a:pt x="545610" y="167068"/>
                  </a:lnTo>
                  <a:lnTo>
                    <a:pt x="535801" y="179458"/>
                  </a:lnTo>
                  <a:lnTo>
                    <a:pt x="471519" y="204605"/>
                  </a:lnTo>
                  <a:lnTo>
                    <a:pt x="422650" y="217062"/>
                  </a:lnTo>
                  <a:lnTo>
                    <a:pt x="366363" y="229239"/>
                  </a:lnTo>
                  <a:lnTo>
                    <a:pt x="305462" y="240987"/>
                  </a:lnTo>
                  <a:lnTo>
                    <a:pt x="242746" y="252154"/>
                  </a:lnTo>
                  <a:lnTo>
                    <a:pt x="181017" y="262590"/>
                  </a:lnTo>
                  <a:lnTo>
                    <a:pt x="123076" y="272145"/>
                  </a:lnTo>
                  <a:lnTo>
                    <a:pt x="71726" y="280669"/>
                  </a:lnTo>
                  <a:lnTo>
                    <a:pt x="29766" y="288009"/>
                  </a:lnTo>
                  <a:lnTo>
                    <a:pt x="0" y="294016"/>
                  </a:lnTo>
                </a:path>
                <a:path w="563879" h="294639">
                  <a:moveTo>
                    <a:pt x="563298" y="179020"/>
                  </a:moveTo>
                  <a:lnTo>
                    <a:pt x="125245" y="27126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39947" y="2631706"/>
              <a:ext cx="110128" cy="80630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1664" y="2843088"/>
            <a:ext cx="5242989" cy="75940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6133" y="4537211"/>
            <a:ext cx="7843520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Notice:</a:t>
            </a:r>
            <a:r>
              <a:rPr sz="3200" spc="-10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3200" spc="-10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same</a:t>
            </a:r>
            <a:r>
              <a:rPr sz="32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sz="3200" spc="-10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32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3200" spc="-10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same</a:t>
            </a:r>
            <a:r>
              <a:rPr sz="32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33" dirty="0">
                <a:solidFill>
                  <a:srgbClr val="FF0000"/>
                </a:solidFill>
                <a:latin typeface="Arial MT"/>
                <a:cs typeface="Arial MT"/>
              </a:rPr>
              <a:t>set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32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parameters</a:t>
            </a:r>
            <a:r>
              <a:rPr sz="3200" spc="-7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32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used</a:t>
            </a:r>
            <a:r>
              <a:rPr sz="3200" spc="-7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at</a:t>
            </a:r>
            <a:r>
              <a:rPr sz="3200" spc="-7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every</a:t>
            </a:r>
            <a:r>
              <a:rPr sz="32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time</a:t>
            </a:r>
            <a:r>
              <a:rPr sz="3200" spc="-7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3" dirty="0">
                <a:solidFill>
                  <a:srgbClr val="FF0000"/>
                </a:solidFill>
                <a:latin typeface="Arial MT"/>
                <a:cs typeface="Arial MT"/>
              </a:rPr>
              <a:t>step.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39</a:t>
            </a:fld>
            <a:endParaRPr spc="-33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  <p:sp>
        <p:nvSpPr>
          <p:cNvPr id="17" name="object 17"/>
          <p:cNvSpPr txBox="1"/>
          <p:nvPr/>
        </p:nvSpPr>
        <p:spPr>
          <a:xfrm>
            <a:off x="193634" y="6410279"/>
            <a:ext cx="470069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787"/>
              </a:lnSpc>
            </a:pPr>
            <a:r>
              <a:rPr sz="2400" spc="-13" dirty="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Li,</a:t>
            </a: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Jiajun</a:t>
            </a: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Wu,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Ruohan</a:t>
            </a: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 Gao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51303613-B32B-F7CE-2036-A96737855976}"/>
              </a:ext>
            </a:extLst>
          </p:cNvPr>
          <p:cNvSpPr txBox="1"/>
          <p:nvPr/>
        </p:nvSpPr>
        <p:spPr>
          <a:xfrm>
            <a:off x="309623" y="1822498"/>
            <a:ext cx="888066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lang="en-US" sz="2400" dirty="0">
                <a:solidFill>
                  <a:srgbClr val="FF0000"/>
                </a:solidFill>
                <a:latin typeface="Arial MT"/>
                <a:cs typeface="Arial MT"/>
              </a:rPr>
              <a:t>P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rocess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sequence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vectors</a:t>
            </a:r>
            <a:r>
              <a:rPr sz="2400" spc="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FF0000"/>
                </a:solidFill>
              </a:rPr>
              <a:t>x</a:t>
            </a:r>
            <a:r>
              <a:rPr sz="2400" b="1" spc="-20" dirty="0">
                <a:solidFill>
                  <a:srgbClr val="FF0000"/>
                </a:solidFill>
              </a:rPr>
              <a:t> 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by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applying</a:t>
            </a:r>
            <a:r>
              <a:rPr sz="2400" spc="-4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FF0000"/>
                </a:solidFill>
              </a:rPr>
              <a:t>recurrence</a:t>
            </a:r>
            <a:r>
              <a:rPr sz="2400" b="1" spc="-33" dirty="0">
                <a:solidFill>
                  <a:srgbClr val="FF0000"/>
                </a:solidFill>
              </a:rPr>
              <a:t> </a:t>
            </a:r>
            <a:r>
              <a:rPr sz="2400" b="1" dirty="0">
                <a:solidFill>
                  <a:srgbClr val="FF0000"/>
                </a:solidFill>
              </a:rPr>
              <a:t>formula</a:t>
            </a:r>
            <a:r>
              <a:rPr sz="2400" b="1" spc="-13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at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every</a:t>
            </a:r>
            <a:r>
              <a:rPr sz="2400" spc="-3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time</a:t>
            </a:r>
            <a:r>
              <a:rPr sz="2400" spc="-2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FF0000"/>
                </a:solidFill>
                <a:latin typeface="Arial MT"/>
                <a:cs typeface="Arial MT"/>
              </a:rPr>
              <a:t>step:</a:t>
            </a:r>
            <a:endParaRPr sz="24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699" y="272258"/>
            <a:ext cx="11434751" cy="1076363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13" dirty="0">
                <a:solidFill>
                  <a:srgbClr val="FF0000"/>
                </a:solidFill>
              </a:rPr>
              <a:t>(Vanilla)</a:t>
            </a:r>
            <a:r>
              <a:rPr b="1" spc="-127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rgbClr val="FF0000"/>
                </a:solidFill>
              </a:rPr>
              <a:t>Recurrent</a:t>
            </a:r>
            <a:r>
              <a:rPr b="1" spc="-127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rgbClr val="FF0000"/>
                </a:solidFill>
              </a:rPr>
              <a:t>Neural</a:t>
            </a:r>
            <a:r>
              <a:rPr b="1" spc="-127" dirty="0">
                <a:solidFill>
                  <a:srgbClr val="FF0000"/>
                </a:solidFill>
              </a:rPr>
              <a:t> </a:t>
            </a:r>
            <a:r>
              <a:rPr b="1" spc="-13" dirty="0">
                <a:solidFill>
                  <a:srgbClr val="FF0000"/>
                </a:solidFill>
              </a:rPr>
              <a:t>Network</a:t>
            </a:r>
          </a:p>
          <a:p>
            <a:pPr marL="337812">
              <a:lnSpc>
                <a:spcPct val="100000"/>
              </a:lnSpc>
              <a:spcBef>
                <a:spcPts val="20"/>
              </a:spcBef>
            </a:pPr>
            <a:r>
              <a:rPr sz="2400" dirty="0"/>
              <a:t>The</a:t>
            </a:r>
            <a:r>
              <a:rPr sz="2400" spc="-20" dirty="0"/>
              <a:t> </a:t>
            </a:r>
            <a:r>
              <a:rPr sz="2400" dirty="0"/>
              <a:t>state</a:t>
            </a:r>
            <a:r>
              <a:rPr sz="2400" spc="-13" dirty="0"/>
              <a:t> </a:t>
            </a:r>
            <a:r>
              <a:rPr sz="2400" dirty="0"/>
              <a:t>consists</a:t>
            </a:r>
            <a:r>
              <a:rPr sz="2400" spc="-20" dirty="0"/>
              <a:t> </a:t>
            </a:r>
            <a:r>
              <a:rPr sz="2400" dirty="0"/>
              <a:t>of</a:t>
            </a:r>
            <a:r>
              <a:rPr sz="2400" spc="-13" dirty="0"/>
              <a:t> </a:t>
            </a:r>
            <a:r>
              <a:rPr sz="2400" dirty="0"/>
              <a:t>a</a:t>
            </a:r>
            <a:r>
              <a:rPr sz="2400" spc="-20" dirty="0"/>
              <a:t> </a:t>
            </a:r>
            <a:r>
              <a:rPr sz="2400" dirty="0"/>
              <a:t>single</a:t>
            </a:r>
            <a:r>
              <a:rPr sz="2400" spc="7" dirty="0"/>
              <a:t> </a:t>
            </a:r>
            <a:r>
              <a:rPr sz="2400" i="1" dirty="0">
                <a:latin typeface="Arial"/>
                <a:cs typeface="Arial"/>
              </a:rPr>
              <a:t>“hidden”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/>
              <a:t>vector</a:t>
            </a:r>
            <a:r>
              <a:rPr sz="2400" spc="-7" dirty="0"/>
              <a:t> </a:t>
            </a:r>
            <a:r>
              <a:rPr sz="2400" b="1" spc="-33" dirty="0">
                <a:latin typeface="Arial"/>
                <a:cs typeface="Arial"/>
              </a:rPr>
              <a:t>h</a:t>
            </a:r>
            <a:r>
              <a:rPr sz="2400" spc="-33" dirty="0"/>
              <a:t>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33" y="4453299"/>
            <a:ext cx="530860" cy="772006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>
              <a:spcBef>
                <a:spcPts val="260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67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034" y="3159766"/>
            <a:ext cx="1306407" cy="591615"/>
          </a:xfrm>
          <a:prstGeom prst="rect">
            <a:avLst/>
          </a:prstGeom>
          <a:solidFill>
            <a:srgbClr val="37761C"/>
          </a:solidFill>
        </p:spPr>
        <p:txBody>
          <a:bodyPr vert="horz" wrap="square" lIns="0" tIns="220133" rIns="0" bIns="0" rtlCol="0">
            <a:spAutoFit/>
          </a:bodyPr>
          <a:lstStyle/>
          <a:p>
            <a:pPr marL="322572">
              <a:spcBef>
                <a:spcPts val="173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RNN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833" y="1561434"/>
            <a:ext cx="530860" cy="772006"/>
          </a:xfrm>
          <a:prstGeom prst="rect">
            <a:avLst/>
          </a:prstGeom>
          <a:solidFill>
            <a:srgbClr val="C9DAF7"/>
          </a:solidFill>
          <a:ln w="9524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>
              <a:spcBef>
                <a:spcPts val="260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spc="-67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7579" y="2743399"/>
            <a:ext cx="109307" cy="4163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7579" y="4014933"/>
            <a:ext cx="109307" cy="43836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946232" y="3357299"/>
            <a:ext cx="740833" cy="418253"/>
            <a:chOff x="1459673" y="2517974"/>
            <a:chExt cx="555625" cy="313690"/>
          </a:xfrm>
        </p:grpSpPr>
        <p:sp>
          <p:nvSpPr>
            <p:cNvPr id="9" name="object 9"/>
            <p:cNvSpPr/>
            <p:nvPr/>
          </p:nvSpPr>
          <p:spPr>
            <a:xfrm>
              <a:off x="1469198" y="2527499"/>
              <a:ext cx="536575" cy="278765"/>
            </a:xfrm>
            <a:custGeom>
              <a:avLst/>
              <a:gdLst/>
              <a:ahLst/>
              <a:cxnLst/>
              <a:rect l="l" t="t" r="r" b="b"/>
              <a:pathLst>
                <a:path w="536575" h="278764">
                  <a:moveTo>
                    <a:pt x="22006" y="0"/>
                  </a:moveTo>
                  <a:lnTo>
                    <a:pt x="52235" y="8594"/>
                  </a:lnTo>
                  <a:lnTo>
                    <a:pt x="95620" y="19678"/>
                  </a:lnTo>
                  <a:lnTo>
                    <a:pt x="148761" y="32809"/>
                  </a:lnTo>
                  <a:lnTo>
                    <a:pt x="208260" y="47544"/>
                  </a:lnTo>
                  <a:lnTo>
                    <a:pt x="270719" y="63440"/>
                  </a:lnTo>
                  <a:lnTo>
                    <a:pt x="332739" y="80054"/>
                  </a:lnTo>
                  <a:lnTo>
                    <a:pt x="390922" y="96944"/>
                  </a:lnTo>
                  <a:lnTo>
                    <a:pt x="441870" y="113667"/>
                  </a:lnTo>
                  <a:lnTo>
                    <a:pt x="482183" y="129780"/>
                  </a:lnTo>
                  <a:lnTo>
                    <a:pt x="517313" y="158404"/>
                  </a:lnTo>
                  <a:lnTo>
                    <a:pt x="506383" y="171229"/>
                  </a:lnTo>
                  <a:lnTo>
                    <a:pt x="435277" y="197233"/>
                  </a:lnTo>
                  <a:lnTo>
                    <a:pt x="381998" y="210041"/>
                  </a:lnTo>
                  <a:lnTo>
                    <a:pt x="321499" y="222472"/>
                  </a:lnTo>
                  <a:lnTo>
                    <a:pt x="257229" y="234341"/>
                  </a:lnTo>
                  <a:lnTo>
                    <a:pt x="192636" y="245463"/>
                  </a:lnTo>
                  <a:lnTo>
                    <a:pt x="131168" y="255651"/>
                  </a:lnTo>
                  <a:lnTo>
                    <a:pt x="76274" y="264722"/>
                  </a:lnTo>
                  <a:lnTo>
                    <a:pt x="31401" y="272489"/>
                  </a:lnTo>
                  <a:lnTo>
                    <a:pt x="0" y="278767"/>
                  </a:lnTo>
                </a:path>
                <a:path w="536575" h="278764">
                  <a:moveTo>
                    <a:pt x="536062" y="171066"/>
                  </a:moveTo>
                  <a:lnTo>
                    <a:pt x="98009" y="263313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3087" y="2750498"/>
              <a:ext cx="110129" cy="80630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82634" y="3625598"/>
            <a:ext cx="6141959" cy="52271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82634" y="4673148"/>
            <a:ext cx="2477692" cy="52198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68399" y="1876185"/>
            <a:ext cx="4008075" cy="58052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616140" y="2718899"/>
            <a:ext cx="55033" cy="566420"/>
            <a:chOff x="4962104" y="2039174"/>
            <a:chExt cx="41275" cy="424815"/>
          </a:xfrm>
        </p:grpSpPr>
        <p:sp>
          <p:nvSpPr>
            <p:cNvPr id="15" name="object 15"/>
            <p:cNvSpPr/>
            <p:nvPr/>
          </p:nvSpPr>
          <p:spPr>
            <a:xfrm>
              <a:off x="4982600" y="2039174"/>
              <a:ext cx="0" cy="377190"/>
            </a:xfrm>
            <a:custGeom>
              <a:avLst/>
              <a:gdLst/>
              <a:ahLst/>
              <a:cxnLst/>
              <a:rect l="l" t="t" r="r" b="b"/>
              <a:pathLst>
                <a:path h="377189">
                  <a:moveTo>
                    <a:pt x="0" y="0"/>
                  </a:moveTo>
                  <a:lnTo>
                    <a:pt x="0" y="37664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6" name="object 16"/>
            <p:cNvSpPr/>
            <p:nvPr/>
          </p:nvSpPr>
          <p:spPr>
            <a:xfrm>
              <a:off x="4966867" y="2415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6867" y="24158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421333" y="5416385"/>
            <a:ext cx="4204547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Sometimes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called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“Vanilla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RNN”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or</a:t>
            </a:r>
            <a:r>
              <a:rPr sz="1867" spc="-33" dirty="0">
                <a:latin typeface="Arial MT"/>
                <a:cs typeface="Arial MT"/>
              </a:rPr>
              <a:t> an </a:t>
            </a:r>
            <a:r>
              <a:rPr sz="1867" dirty="0">
                <a:latin typeface="Arial MT"/>
                <a:cs typeface="Arial MT"/>
              </a:rPr>
              <a:t>“Elman</a:t>
            </a:r>
            <a:r>
              <a:rPr sz="1867" spc="-5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RNN”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after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Prof.</a:t>
            </a:r>
            <a:r>
              <a:rPr sz="1867" spc="-4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Jeffrey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Elman</a:t>
            </a:r>
            <a:endParaRPr sz="1867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40</a:t>
            </a:fld>
            <a:endParaRPr spc="-33"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3665" y="2868633"/>
            <a:ext cx="528320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21917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4368" y="2868633"/>
            <a:ext cx="528320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21917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67580" y="3752299"/>
            <a:ext cx="110067" cy="576579"/>
            <a:chOff x="1925685" y="2814224"/>
            <a:chExt cx="82550" cy="432434"/>
          </a:xfrm>
        </p:grpSpPr>
        <p:sp>
          <p:nvSpPr>
            <p:cNvPr id="6" name="object 6"/>
            <p:cNvSpPr/>
            <p:nvPr/>
          </p:nvSpPr>
          <p:spPr>
            <a:xfrm>
              <a:off x="19666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1666" y="3332779"/>
            <a:ext cx="451967" cy="10930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976218" y="3332872"/>
            <a:ext cx="503767" cy="110067"/>
            <a:chOff x="2232163" y="2499654"/>
            <a:chExt cx="377825" cy="82550"/>
          </a:xfrm>
        </p:grpSpPr>
        <p:sp>
          <p:nvSpPr>
            <p:cNvPr id="10" name="object 10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358034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41</a:t>
            </a:fld>
            <a:endParaRPr spc="-33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4409" y="1398271"/>
            <a:ext cx="5761591" cy="863326"/>
          </a:xfrm>
          <a:prstGeom prst="rect">
            <a:avLst/>
          </a:prstGeom>
        </p:spPr>
        <p:txBody>
          <a:bodyPr spcFirstLastPara="1" vert="horz" wrap="square" lIns="0" tIns="273380" rIns="0" bIns="0" rtlCol="0" anchor="ctr" anchorCtr="0">
            <a:spAutoFit/>
          </a:bodyPr>
          <a:lstStyle/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sz="3733" dirty="0">
                <a:solidFill>
                  <a:srgbClr val="FF0000"/>
                </a:solidFill>
              </a:rPr>
              <a:t>RNN:</a:t>
            </a:r>
            <a:r>
              <a:rPr sz="3733" spc="-140" dirty="0">
                <a:solidFill>
                  <a:srgbClr val="FF0000"/>
                </a:solidFill>
              </a:rPr>
              <a:t> </a:t>
            </a:r>
            <a:r>
              <a:rPr sz="3733" spc="-13" dirty="0">
                <a:solidFill>
                  <a:srgbClr val="FF0000"/>
                </a:solidFill>
              </a:rPr>
              <a:t>Computational</a:t>
            </a:r>
            <a:r>
              <a:rPr sz="3733" spc="-133" dirty="0">
                <a:solidFill>
                  <a:srgbClr val="FF0000"/>
                </a:solidFill>
              </a:rPr>
              <a:t> </a:t>
            </a:r>
            <a:r>
              <a:rPr sz="3733" spc="-13" dirty="0">
                <a:solidFill>
                  <a:srgbClr val="FF0000"/>
                </a:solidFill>
              </a:rPr>
              <a:t>Graph</a:t>
            </a:r>
            <a:endParaRPr sz="3733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3665" y="2868633"/>
            <a:ext cx="528320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21917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4368" y="2868633"/>
            <a:ext cx="528320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21917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67580" y="3752299"/>
            <a:ext cx="110067" cy="576579"/>
            <a:chOff x="1925685" y="2814224"/>
            <a:chExt cx="82550" cy="432434"/>
          </a:xfrm>
        </p:grpSpPr>
        <p:sp>
          <p:nvSpPr>
            <p:cNvPr id="6" name="object 6"/>
            <p:cNvSpPr/>
            <p:nvPr/>
          </p:nvSpPr>
          <p:spPr>
            <a:xfrm>
              <a:off x="19666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1666" y="3332779"/>
            <a:ext cx="451967" cy="10930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976218" y="3332872"/>
            <a:ext cx="503767" cy="110067"/>
            <a:chOff x="2232163" y="2499654"/>
            <a:chExt cx="377825" cy="82550"/>
          </a:xfrm>
        </p:grpSpPr>
        <p:sp>
          <p:nvSpPr>
            <p:cNvPr id="10" name="object 10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508909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450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2369" y="3332779"/>
            <a:ext cx="451967" cy="109307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808263" y="3752299"/>
            <a:ext cx="110067" cy="576579"/>
            <a:chOff x="3606197" y="2814224"/>
            <a:chExt cx="82550" cy="432434"/>
          </a:xfrm>
        </p:grpSpPr>
        <p:sp>
          <p:nvSpPr>
            <p:cNvPr id="16" name="object 16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5216910" y="3332872"/>
            <a:ext cx="503767" cy="110067"/>
            <a:chOff x="3912682" y="2499654"/>
            <a:chExt cx="377825" cy="82550"/>
          </a:xfrm>
        </p:grpSpPr>
        <p:sp>
          <p:nvSpPr>
            <p:cNvPr id="19" name="object 19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598717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42</a:t>
            </a:fld>
            <a:endParaRPr spc="-33"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  <p:sp>
        <p:nvSpPr>
          <p:cNvPr id="22" name="object 22"/>
          <p:cNvSpPr txBox="1"/>
          <p:nvPr/>
        </p:nvSpPr>
        <p:spPr>
          <a:xfrm>
            <a:off x="2358034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07708E90-C80B-CEDB-CF61-769677C4BFAC}"/>
              </a:ext>
            </a:extLst>
          </p:cNvPr>
          <p:cNvSpPr txBox="1">
            <a:spLocks/>
          </p:cNvSpPr>
          <p:nvPr/>
        </p:nvSpPr>
        <p:spPr>
          <a:xfrm>
            <a:off x="334409" y="1398271"/>
            <a:ext cx="5761591" cy="86332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273380" rIns="0" bIns="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lang="en-ID" sz="3733">
                <a:solidFill>
                  <a:srgbClr val="FF0000"/>
                </a:solidFill>
              </a:rPr>
              <a:t>RNN:</a:t>
            </a:r>
            <a:r>
              <a:rPr lang="en-ID" sz="3733" spc="-140">
                <a:solidFill>
                  <a:srgbClr val="FF0000"/>
                </a:solidFill>
              </a:rPr>
              <a:t> </a:t>
            </a:r>
            <a:r>
              <a:rPr lang="en-ID" sz="3733" spc="-13">
                <a:solidFill>
                  <a:srgbClr val="FF0000"/>
                </a:solidFill>
              </a:rPr>
              <a:t>Computational</a:t>
            </a:r>
            <a:r>
              <a:rPr lang="en-ID" sz="3733" spc="-133">
                <a:solidFill>
                  <a:srgbClr val="FF0000"/>
                </a:solidFill>
              </a:rPr>
              <a:t> </a:t>
            </a:r>
            <a:r>
              <a:rPr lang="en-ID" sz="3733" spc="-13">
                <a:solidFill>
                  <a:srgbClr val="FF0000"/>
                </a:solidFill>
              </a:rPr>
              <a:t>Graph</a:t>
            </a:r>
            <a:endParaRPr lang="en-ID" sz="3733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3665" y="2868633"/>
            <a:ext cx="528320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21917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4368" y="2868633"/>
            <a:ext cx="528320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21917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67580" y="3752299"/>
            <a:ext cx="110067" cy="576579"/>
            <a:chOff x="1925685" y="2814224"/>
            <a:chExt cx="82550" cy="432434"/>
          </a:xfrm>
        </p:grpSpPr>
        <p:sp>
          <p:nvSpPr>
            <p:cNvPr id="6" name="object 6"/>
            <p:cNvSpPr/>
            <p:nvPr/>
          </p:nvSpPr>
          <p:spPr>
            <a:xfrm>
              <a:off x="19666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1666" y="3332779"/>
            <a:ext cx="451967" cy="10930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976218" y="3332872"/>
            <a:ext cx="503767" cy="110067"/>
            <a:chOff x="2232163" y="2499654"/>
            <a:chExt cx="377825" cy="82550"/>
          </a:xfrm>
        </p:grpSpPr>
        <p:sp>
          <p:nvSpPr>
            <p:cNvPr id="10" name="object 10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508909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450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2369" y="3332779"/>
            <a:ext cx="451967" cy="109307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808263" y="3752299"/>
            <a:ext cx="110067" cy="576579"/>
            <a:chOff x="3606197" y="2814224"/>
            <a:chExt cx="82550" cy="432434"/>
          </a:xfrm>
        </p:grpSpPr>
        <p:sp>
          <p:nvSpPr>
            <p:cNvPr id="16" name="object 16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5216910" y="3332872"/>
            <a:ext cx="503767" cy="110067"/>
            <a:chOff x="3912682" y="2499654"/>
            <a:chExt cx="377825" cy="82550"/>
          </a:xfrm>
        </p:grpSpPr>
        <p:sp>
          <p:nvSpPr>
            <p:cNvPr id="19" name="object 19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749602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3450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857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39402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048947" y="3752299"/>
            <a:ext cx="110067" cy="576579"/>
            <a:chOff x="5286710" y="2814224"/>
            <a:chExt cx="82550" cy="432434"/>
          </a:xfrm>
        </p:grpSpPr>
        <p:sp>
          <p:nvSpPr>
            <p:cNvPr id="25" name="object 25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12631" y="3332779"/>
            <a:ext cx="412367" cy="109307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7457602" y="3332872"/>
            <a:ext cx="503767" cy="110067"/>
            <a:chOff x="5593201" y="2499654"/>
            <a:chExt cx="377825" cy="82550"/>
          </a:xfrm>
        </p:grpSpPr>
        <p:sp>
          <p:nvSpPr>
            <p:cNvPr id="29" name="object 29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53331" y="3332779"/>
            <a:ext cx="390768" cy="109307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9014800" y="2838089"/>
            <a:ext cx="84666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spc="-67" dirty="0">
                <a:latin typeface="Arial MT"/>
                <a:cs typeface="Arial MT"/>
              </a:rPr>
              <a:t>…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98717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58034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305132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6310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10666" y="3332779"/>
            <a:ext cx="390767" cy="109307"/>
          </a:xfrm>
          <a:prstGeom prst="rect">
            <a:avLst/>
          </a:prstGeom>
        </p:spPr>
      </p:pic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43</a:t>
            </a:fld>
            <a:endParaRPr spc="-33" dirty="0"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49F8C75D-A418-3248-A0DB-D7A30F2B0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object 13">
            <a:extLst>
              <a:ext uri="{FF2B5EF4-FFF2-40B4-BE49-F238E27FC236}">
                <a16:creationId xmlns:a16="http://schemas.microsoft.com/office/drawing/2014/main" id="{4AB3BB6F-1D66-0835-5DA4-E862F74DCA23}"/>
              </a:ext>
            </a:extLst>
          </p:cNvPr>
          <p:cNvSpPr txBox="1">
            <a:spLocks/>
          </p:cNvSpPr>
          <p:nvPr/>
        </p:nvSpPr>
        <p:spPr>
          <a:xfrm>
            <a:off x="334409" y="1398271"/>
            <a:ext cx="5761591" cy="86332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273380" rIns="0" bIns="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lang="en-ID" sz="3733">
                <a:solidFill>
                  <a:srgbClr val="FF0000"/>
                </a:solidFill>
              </a:rPr>
              <a:t>RNN:</a:t>
            </a:r>
            <a:r>
              <a:rPr lang="en-ID" sz="3733" spc="-140">
                <a:solidFill>
                  <a:srgbClr val="FF0000"/>
                </a:solidFill>
              </a:rPr>
              <a:t> </a:t>
            </a:r>
            <a:r>
              <a:rPr lang="en-ID" sz="3733" spc="-13">
                <a:solidFill>
                  <a:srgbClr val="FF0000"/>
                </a:solidFill>
              </a:rPr>
              <a:t>Computational</a:t>
            </a:r>
            <a:r>
              <a:rPr lang="en-ID" sz="3733" spc="-133">
                <a:solidFill>
                  <a:srgbClr val="FF0000"/>
                </a:solidFill>
              </a:rPr>
              <a:t> </a:t>
            </a:r>
            <a:r>
              <a:rPr lang="en-ID" sz="3733" spc="-13">
                <a:solidFill>
                  <a:srgbClr val="FF0000"/>
                </a:solidFill>
              </a:rPr>
              <a:t>Graph</a:t>
            </a:r>
            <a:endParaRPr lang="en-ID" sz="3733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7317" y="2862284"/>
            <a:ext cx="541020" cy="1050713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356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98018" y="2862284"/>
            <a:ext cx="541020" cy="1050713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763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91666" y="3332779"/>
            <a:ext cx="1688253" cy="1008380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508909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38681" y="2862284"/>
            <a:ext cx="580812" cy="1050713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36768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32368" y="3332779"/>
            <a:ext cx="1688253" cy="1008380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749602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3450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857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39402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12631" y="3332779"/>
            <a:ext cx="845820" cy="1008380"/>
            <a:chOff x="4734473" y="2499584"/>
            <a:chExt cx="634365" cy="756285"/>
          </a:xfrm>
        </p:grpSpPr>
        <p:sp>
          <p:nvSpPr>
            <p:cNvPr id="32" name="object 32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7457602" y="3332872"/>
            <a:ext cx="503767" cy="110067"/>
            <a:chOff x="5593201" y="2499654"/>
            <a:chExt cx="377825" cy="82550"/>
          </a:xfrm>
        </p:grpSpPr>
        <p:sp>
          <p:nvSpPr>
            <p:cNvPr id="36" name="object 36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53331" y="3332779"/>
            <a:ext cx="390768" cy="109307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9014800" y="2838089"/>
            <a:ext cx="84666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spc="-67" dirty="0">
                <a:latin typeface="Arial MT"/>
                <a:cs typeface="Arial MT"/>
              </a:rPr>
              <a:t>…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98717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58034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044709" y="4765177"/>
            <a:ext cx="721360" cy="693420"/>
            <a:chOff x="783532" y="3573882"/>
            <a:chExt cx="541020" cy="520065"/>
          </a:xfrm>
        </p:grpSpPr>
        <p:sp>
          <p:nvSpPr>
            <p:cNvPr id="43" name="object 43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4" name="object 44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148427" y="4834697"/>
            <a:ext cx="4182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67" dirty="0">
                <a:latin typeface="Arial MT"/>
                <a:cs typeface="Arial MT"/>
              </a:rPr>
              <a:t>W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65697" y="3727494"/>
            <a:ext cx="8506460" cy="2203873"/>
            <a:chOff x="724272" y="2795620"/>
            <a:chExt cx="6379845" cy="1652905"/>
          </a:xfrm>
        </p:grpSpPr>
        <p:sp>
          <p:nvSpPr>
            <p:cNvPr id="47" name="object 47"/>
            <p:cNvSpPr/>
            <p:nvPr/>
          </p:nvSpPr>
          <p:spPr>
            <a:xfrm>
              <a:off x="1053795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053795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53795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33797" y="3001585"/>
              <a:ext cx="6273800" cy="1087755"/>
            </a:xfrm>
            <a:custGeom>
              <a:avLst/>
              <a:gdLst/>
              <a:ahLst/>
              <a:cxnLst/>
              <a:rect l="l" t="t" r="r" b="b"/>
              <a:pathLst>
                <a:path w="6273800" h="1087754">
                  <a:moveTo>
                    <a:pt x="319997" y="1087359"/>
                  </a:moveTo>
                  <a:lnTo>
                    <a:pt x="213331" y="1040630"/>
                  </a:lnTo>
                  <a:lnTo>
                    <a:pt x="35555" y="917437"/>
                  </a:lnTo>
                  <a:lnTo>
                    <a:pt x="0" y="743267"/>
                  </a:lnTo>
                  <a:lnTo>
                    <a:pt x="319997" y="543609"/>
                  </a:lnTo>
                  <a:lnTo>
                    <a:pt x="374056" y="525075"/>
                  </a:lnTo>
                  <a:lnTo>
                    <a:pt x="432762" y="506561"/>
                  </a:lnTo>
                  <a:lnTo>
                    <a:pt x="496064" y="488084"/>
                  </a:lnTo>
                  <a:lnTo>
                    <a:pt x="563906" y="469666"/>
                  </a:lnTo>
                  <a:lnTo>
                    <a:pt x="636237" y="451323"/>
                  </a:lnTo>
                  <a:lnTo>
                    <a:pt x="674068" y="442187"/>
                  </a:lnTo>
                  <a:lnTo>
                    <a:pt x="713002" y="433077"/>
                  </a:lnTo>
                  <a:lnTo>
                    <a:pt x="753030" y="423995"/>
                  </a:lnTo>
                  <a:lnTo>
                    <a:pt x="794147" y="414945"/>
                  </a:lnTo>
                  <a:lnTo>
                    <a:pt x="836346" y="405928"/>
                  </a:lnTo>
                  <a:lnTo>
                    <a:pt x="879621" y="396948"/>
                  </a:lnTo>
                  <a:lnTo>
                    <a:pt x="923964" y="388005"/>
                  </a:lnTo>
                  <a:lnTo>
                    <a:pt x="969368" y="379103"/>
                  </a:lnTo>
                  <a:lnTo>
                    <a:pt x="1015828" y="370245"/>
                  </a:lnTo>
                  <a:lnTo>
                    <a:pt x="1063336" y="361431"/>
                  </a:lnTo>
                  <a:lnTo>
                    <a:pt x="1111886" y="352666"/>
                  </a:lnTo>
                  <a:lnTo>
                    <a:pt x="1161472" y="343951"/>
                  </a:lnTo>
                  <a:lnTo>
                    <a:pt x="1212085" y="335288"/>
                  </a:lnTo>
                  <a:lnTo>
                    <a:pt x="1263721" y="326681"/>
                  </a:lnTo>
                  <a:lnTo>
                    <a:pt x="1316372" y="318131"/>
                  </a:lnTo>
                  <a:lnTo>
                    <a:pt x="1370031" y="309641"/>
                  </a:lnTo>
                  <a:lnTo>
                    <a:pt x="1424691" y="301213"/>
                  </a:lnTo>
                  <a:lnTo>
                    <a:pt x="1480347" y="292850"/>
                  </a:lnTo>
                  <a:lnTo>
                    <a:pt x="1536991" y="284554"/>
                  </a:lnTo>
                  <a:lnTo>
                    <a:pt x="1594617" y="276327"/>
                  </a:lnTo>
                  <a:lnTo>
                    <a:pt x="1653218" y="268172"/>
                  </a:lnTo>
                  <a:lnTo>
                    <a:pt x="1712788" y="260091"/>
                  </a:lnTo>
                  <a:lnTo>
                    <a:pt x="1773319" y="252087"/>
                  </a:lnTo>
                  <a:lnTo>
                    <a:pt x="1834805" y="244162"/>
                  </a:lnTo>
                  <a:lnTo>
                    <a:pt x="1897239" y="236318"/>
                  </a:lnTo>
                  <a:lnTo>
                    <a:pt x="1960615" y="228558"/>
                  </a:lnTo>
                  <a:lnTo>
                    <a:pt x="2024926" y="220884"/>
                  </a:lnTo>
                  <a:lnTo>
                    <a:pt x="2090165" y="213299"/>
                  </a:lnTo>
                  <a:lnTo>
                    <a:pt x="2156326" y="205804"/>
                  </a:lnTo>
                  <a:lnTo>
                    <a:pt x="2223402" y="198403"/>
                  </a:lnTo>
                  <a:lnTo>
                    <a:pt x="2291386" y="191098"/>
                  </a:lnTo>
                  <a:lnTo>
                    <a:pt x="2360271" y="183891"/>
                  </a:lnTo>
                  <a:lnTo>
                    <a:pt x="2430052" y="176784"/>
                  </a:lnTo>
                  <a:lnTo>
                    <a:pt x="2500720" y="169781"/>
                  </a:lnTo>
                  <a:lnTo>
                    <a:pt x="2545592" y="165432"/>
                  </a:lnTo>
                  <a:lnTo>
                    <a:pt x="2590811" y="161126"/>
                  </a:lnTo>
                  <a:lnTo>
                    <a:pt x="2636374" y="156862"/>
                  </a:lnTo>
                  <a:lnTo>
                    <a:pt x="2682281" y="152642"/>
                  </a:lnTo>
                  <a:lnTo>
                    <a:pt x="2728530" y="148466"/>
                  </a:lnTo>
                  <a:lnTo>
                    <a:pt x="2775118" y="144335"/>
                  </a:lnTo>
                  <a:lnTo>
                    <a:pt x="2822045" y="140248"/>
                  </a:lnTo>
                  <a:lnTo>
                    <a:pt x="2869309" y="136208"/>
                  </a:lnTo>
                  <a:lnTo>
                    <a:pt x="2916907" y="132214"/>
                  </a:lnTo>
                  <a:lnTo>
                    <a:pt x="2964839" y="128266"/>
                  </a:lnTo>
                  <a:lnTo>
                    <a:pt x="3013103" y="124367"/>
                  </a:lnTo>
                  <a:lnTo>
                    <a:pt x="3061697" y="120515"/>
                  </a:lnTo>
                  <a:lnTo>
                    <a:pt x="3110619" y="116712"/>
                  </a:lnTo>
                  <a:lnTo>
                    <a:pt x="3159868" y="112959"/>
                  </a:lnTo>
                  <a:lnTo>
                    <a:pt x="3209442" y="109255"/>
                  </a:lnTo>
                  <a:lnTo>
                    <a:pt x="3259339" y="105602"/>
                  </a:lnTo>
                  <a:lnTo>
                    <a:pt x="3309558" y="102001"/>
                  </a:lnTo>
                  <a:lnTo>
                    <a:pt x="3360097" y="98450"/>
                  </a:lnTo>
                  <a:lnTo>
                    <a:pt x="3410955" y="94953"/>
                  </a:lnTo>
                  <a:lnTo>
                    <a:pt x="3462129" y="91508"/>
                  </a:lnTo>
                  <a:lnTo>
                    <a:pt x="3513619" y="88116"/>
                  </a:lnTo>
                  <a:lnTo>
                    <a:pt x="3565422" y="84779"/>
                  </a:lnTo>
                  <a:lnTo>
                    <a:pt x="3617537" y="81496"/>
                  </a:lnTo>
                  <a:lnTo>
                    <a:pt x="3669962" y="78269"/>
                  </a:lnTo>
                  <a:lnTo>
                    <a:pt x="3722695" y="75098"/>
                  </a:lnTo>
                  <a:lnTo>
                    <a:pt x="3775736" y="71983"/>
                  </a:lnTo>
                  <a:lnTo>
                    <a:pt x="3829081" y="68925"/>
                  </a:lnTo>
                  <a:lnTo>
                    <a:pt x="3882730" y="65925"/>
                  </a:lnTo>
                  <a:lnTo>
                    <a:pt x="3936681" y="62983"/>
                  </a:lnTo>
                  <a:lnTo>
                    <a:pt x="3990932" y="60099"/>
                  </a:lnTo>
                  <a:lnTo>
                    <a:pt x="4045482" y="57276"/>
                  </a:lnTo>
                  <a:lnTo>
                    <a:pt x="4100328" y="54512"/>
                  </a:lnTo>
                  <a:lnTo>
                    <a:pt x="4155470" y="51809"/>
                  </a:lnTo>
                  <a:lnTo>
                    <a:pt x="4210905" y="49167"/>
                  </a:lnTo>
                  <a:lnTo>
                    <a:pt x="4266632" y="46587"/>
                  </a:lnTo>
                  <a:lnTo>
                    <a:pt x="4315632" y="44381"/>
                  </a:lnTo>
                  <a:lnTo>
                    <a:pt x="4364852" y="42223"/>
                  </a:lnTo>
                  <a:lnTo>
                    <a:pt x="4414293" y="40114"/>
                  </a:lnTo>
                  <a:lnTo>
                    <a:pt x="4463952" y="38053"/>
                  </a:lnTo>
                  <a:lnTo>
                    <a:pt x="4513830" y="36042"/>
                  </a:lnTo>
                  <a:lnTo>
                    <a:pt x="4563923" y="34081"/>
                  </a:lnTo>
                  <a:lnTo>
                    <a:pt x="4614233" y="32169"/>
                  </a:lnTo>
                  <a:lnTo>
                    <a:pt x="4664757" y="30309"/>
                  </a:lnTo>
                  <a:lnTo>
                    <a:pt x="4715494" y="28499"/>
                  </a:lnTo>
                  <a:lnTo>
                    <a:pt x="4766443" y="26741"/>
                  </a:lnTo>
                  <a:lnTo>
                    <a:pt x="4817604" y="25035"/>
                  </a:lnTo>
                  <a:lnTo>
                    <a:pt x="4868974" y="23380"/>
                  </a:lnTo>
                  <a:lnTo>
                    <a:pt x="4920554" y="21779"/>
                  </a:lnTo>
                  <a:lnTo>
                    <a:pt x="4972341" y="20230"/>
                  </a:lnTo>
                  <a:lnTo>
                    <a:pt x="5024335" y="18734"/>
                  </a:lnTo>
                  <a:lnTo>
                    <a:pt x="5076534" y="17293"/>
                  </a:lnTo>
                  <a:lnTo>
                    <a:pt x="5128938" y="15905"/>
                  </a:lnTo>
                  <a:lnTo>
                    <a:pt x="5181545" y="14572"/>
                  </a:lnTo>
                  <a:lnTo>
                    <a:pt x="5234355" y="13295"/>
                  </a:lnTo>
                  <a:lnTo>
                    <a:pt x="5287365" y="12072"/>
                  </a:lnTo>
                  <a:lnTo>
                    <a:pt x="5335730" y="11009"/>
                  </a:lnTo>
                  <a:lnTo>
                    <a:pt x="5384260" y="9992"/>
                  </a:lnTo>
                  <a:lnTo>
                    <a:pt x="5432953" y="9022"/>
                  </a:lnTo>
                  <a:lnTo>
                    <a:pt x="5481808" y="8099"/>
                  </a:lnTo>
                  <a:lnTo>
                    <a:pt x="5530826" y="7224"/>
                  </a:lnTo>
                  <a:lnTo>
                    <a:pt x="5580005" y="6395"/>
                  </a:lnTo>
                  <a:lnTo>
                    <a:pt x="5629344" y="5615"/>
                  </a:lnTo>
                  <a:lnTo>
                    <a:pt x="5678843" y="4883"/>
                  </a:lnTo>
                  <a:lnTo>
                    <a:pt x="5728500" y="4199"/>
                  </a:lnTo>
                  <a:lnTo>
                    <a:pt x="5778315" y="3564"/>
                  </a:lnTo>
                  <a:lnTo>
                    <a:pt x="5828287" y="2979"/>
                  </a:lnTo>
                  <a:lnTo>
                    <a:pt x="5883436" y="2391"/>
                  </a:lnTo>
                  <a:lnTo>
                    <a:pt x="5938774" y="1864"/>
                  </a:lnTo>
                  <a:lnTo>
                    <a:pt x="5994297" y="1397"/>
                  </a:lnTo>
                  <a:lnTo>
                    <a:pt x="6050007" y="992"/>
                  </a:lnTo>
                  <a:lnTo>
                    <a:pt x="6105900" y="647"/>
                  </a:lnTo>
                  <a:lnTo>
                    <a:pt x="6176025" y="304"/>
                  </a:lnTo>
                  <a:lnTo>
                    <a:pt x="6246434" y="57"/>
                  </a:lnTo>
                  <a:lnTo>
                    <a:pt x="627379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98031" y="2960595"/>
              <a:ext cx="105538" cy="81980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2529434" y="1592840"/>
            <a:ext cx="673777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 MT"/>
                <a:cs typeface="Arial MT"/>
              </a:rPr>
              <a:t>Re-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1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weight</a:t>
            </a:r>
            <a:r>
              <a:rPr sz="2400" spc="-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matrix</a:t>
            </a:r>
            <a:r>
              <a:rPr sz="2400" spc="-1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1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time-</a:t>
            </a:r>
            <a:r>
              <a:rPr sz="2400" spc="-27" dirty="0">
                <a:latin typeface="Arial MT"/>
                <a:cs typeface="Arial MT"/>
              </a:rPr>
              <a:t>step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305132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6310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58" name="object 5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10666" y="3332779"/>
            <a:ext cx="390767" cy="109307"/>
          </a:xfrm>
          <a:prstGeom prst="rect">
            <a:avLst/>
          </a:prstGeom>
        </p:spPr>
      </p:pic>
      <p:sp>
        <p:nvSpPr>
          <p:cNvPr id="59" name="object 59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44</a:t>
            </a:fld>
            <a:endParaRPr spc="-33" dirty="0"/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  <p:sp>
        <p:nvSpPr>
          <p:cNvPr id="64" name="Title 63">
            <a:extLst>
              <a:ext uri="{FF2B5EF4-FFF2-40B4-BE49-F238E27FC236}">
                <a16:creationId xmlns:a16="http://schemas.microsoft.com/office/drawing/2014/main" id="{D9575EF1-A353-659F-9C35-1CA72D4C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5" name="object 13">
            <a:extLst>
              <a:ext uri="{FF2B5EF4-FFF2-40B4-BE49-F238E27FC236}">
                <a16:creationId xmlns:a16="http://schemas.microsoft.com/office/drawing/2014/main" id="{B727E6CC-7DE5-D4C2-B5FB-70ABA93AF19B}"/>
              </a:ext>
            </a:extLst>
          </p:cNvPr>
          <p:cNvSpPr txBox="1">
            <a:spLocks/>
          </p:cNvSpPr>
          <p:nvPr/>
        </p:nvSpPr>
        <p:spPr>
          <a:xfrm>
            <a:off x="256032" y="302358"/>
            <a:ext cx="5761591" cy="86332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273380" rIns="0" bIns="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sz="4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lang="en-ID" sz="3733">
                <a:solidFill>
                  <a:srgbClr val="FF0000"/>
                </a:solidFill>
              </a:rPr>
              <a:t>RNN:</a:t>
            </a:r>
            <a:r>
              <a:rPr lang="en-ID" sz="3733" spc="-140">
                <a:solidFill>
                  <a:srgbClr val="FF0000"/>
                </a:solidFill>
              </a:rPr>
              <a:t> </a:t>
            </a:r>
            <a:r>
              <a:rPr lang="en-ID" sz="3733" spc="-13">
                <a:solidFill>
                  <a:srgbClr val="FF0000"/>
                </a:solidFill>
              </a:rPr>
              <a:t>Computational</a:t>
            </a:r>
            <a:r>
              <a:rPr lang="en-ID" sz="3733" spc="-133">
                <a:solidFill>
                  <a:srgbClr val="FF0000"/>
                </a:solidFill>
              </a:rPr>
              <a:t> </a:t>
            </a:r>
            <a:r>
              <a:rPr lang="en-ID" sz="3733" spc="-13">
                <a:solidFill>
                  <a:srgbClr val="FF0000"/>
                </a:solidFill>
              </a:rPr>
              <a:t>Graph</a:t>
            </a:r>
            <a:endParaRPr lang="en-ID" sz="3733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7317" y="2862284"/>
            <a:ext cx="541020" cy="1050713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356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98018" y="2862284"/>
            <a:ext cx="541020" cy="1050713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763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91666" y="3332779"/>
            <a:ext cx="1688253" cy="1008380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508909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38681" y="2862284"/>
            <a:ext cx="580812" cy="1050713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36768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32368" y="3332779"/>
            <a:ext cx="1688253" cy="1008380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749602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3450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857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39402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12631" y="3332779"/>
            <a:ext cx="845820" cy="1008380"/>
            <a:chOff x="4734473" y="2499584"/>
            <a:chExt cx="634365" cy="756285"/>
          </a:xfrm>
        </p:grpSpPr>
        <p:sp>
          <p:nvSpPr>
            <p:cNvPr id="32" name="object 32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7457602" y="3332872"/>
            <a:ext cx="503767" cy="110067"/>
            <a:chOff x="5593201" y="2499654"/>
            <a:chExt cx="377825" cy="82550"/>
          </a:xfrm>
        </p:grpSpPr>
        <p:sp>
          <p:nvSpPr>
            <p:cNvPr id="36" name="object 36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0305132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4776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53331" y="3332779"/>
            <a:ext cx="390768" cy="109307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10534277" y="2388265"/>
            <a:ext cx="110067" cy="480907"/>
            <a:chOff x="7900708" y="1791199"/>
            <a:chExt cx="82550" cy="360680"/>
          </a:xfrm>
        </p:grpSpPr>
        <p:sp>
          <p:nvSpPr>
            <p:cNvPr id="41" name="object 41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9014800" y="2838089"/>
            <a:ext cx="84666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spc="-67" dirty="0">
                <a:latin typeface="Arial MT"/>
                <a:cs typeface="Arial MT"/>
              </a:rPr>
              <a:t>…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98717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58034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044709" y="4765177"/>
            <a:ext cx="721360" cy="693420"/>
            <a:chOff x="783532" y="3573882"/>
            <a:chExt cx="541020" cy="520065"/>
          </a:xfrm>
        </p:grpSpPr>
        <p:sp>
          <p:nvSpPr>
            <p:cNvPr id="47" name="object 47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8" name="object 48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148427" y="4834697"/>
            <a:ext cx="4182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67" dirty="0">
                <a:latin typeface="Arial MT"/>
                <a:cs typeface="Arial MT"/>
              </a:rPr>
              <a:t>W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392360" y="3727494"/>
            <a:ext cx="8142393" cy="2327485"/>
            <a:chOff x="1044269" y="2795620"/>
            <a:chExt cx="6106795" cy="1745614"/>
          </a:xfrm>
        </p:grpSpPr>
        <p:sp>
          <p:nvSpPr>
            <p:cNvPr id="51" name="object 51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207235" y="102833"/>
            <a:ext cx="15556992" cy="863326"/>
          </a:xfrm>
          <a:prstGeom prst="rect">
            <a:avLst/>
          </a:prstGeom>
        </p:spPr>
        <p:txBody>
          <a:bodyPr spcFirstLastPara="1" vert="horz" wrap="square" lIns="0" tIns="273380" rIns="0" bIns="0" rtlCol="0" anchor="ctr" anchorCtr="0">
            <a:spAutoFit/>
          </a:bodyPr>
          <a:lstStyle/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RNN:</a:t>
            </a:r>
            <a:r>
              <a:rPr sz="3733" spc="-120" dirty="0"/>
              <a:t> </a:t>
            </a:r>
            <a:r>
              <a:rPr sz="3733" spc="-13" dirty="0"/>
              <a:t>Computational</a:t>
            </a:r>
            <a:r>
              <a:rPr sz="3733" spc="-113" dirty="0"/>
              <a:t> </a:t>
            </a:r>
            <a:r>
              <a:rPr sz="3733" dirty="0"/>
              <a:t>Graph:</a:t>
            </a:r>
            <a:r>
              <a:rPr sz="3733" spc="-113" dirty="0"/>
              <a:t> </a:t>
            </a:r>
            <a:r>
              <a:rPr sz="3733" dirty="0"/>
              <a:t>Many</a:t>
            </a:r>
            <a:r>
              <a:rPr sz="3733" spc="-113" dirty="0"/>
              <a:t> </a:t>
            </a:r>
            <a:r>
              <a:rPr sz="3733" dirty="0"/>
              <a:t>to</a:t>
            </a:r>
            <a:r>
              <a:rPr sz="3733" spc="-113" dirty="0"/>
              <a:t> </a:t>
            </a:r>
            <a:r>
              <a:rPr sz="3733" spc="-27" dirty="0"/>
              <a:t>Many</a:t>
            </a:r>
            <a:endParaRPr sz="3733" dirty="0"/>
          </a:p>
        </p:txBody>
      </p:sp>
      <p:sp>
        <p:nvSpPr>
          <p:cNvPr id="60" name="object 60"/>
          <p:cNvSpPr txBox="1"/>
          <p:nvPr/>
        </p:nvSpPr>
        <p:spPr>
          <a:xfrm>
            <a:off x="10305132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6310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61" name="object 6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10666" y="3332779"/>
            <a:ext cx="390767" cy="109307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79857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7450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84565" y="1362400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713713" y="2388265"/>
            <a:ext cx="4610947" cy="480907"/>
            <a:chOff x="2785285" y="1791199"/>
            <a:chExt cx="3458210" cy="360680"/>
          </a:xfrm>
        </p:grpSpPr>
        <p:sp>
          <p:nvSpPr>
            <p:cNvPr id="66" name="object 66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</p:grpSp>
      <p:sp>
        <p:nvSpPr>
          <p:cNvPr id="71" name="object 71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45</a:t>
            </a:fld>
            <a:endParaRPr spc="-33" dirty="0"/>
          </a:p>
        </p:txBody>
      </p:sp>
      <p:sp>
        <p:nvSpPr>
          <p:cNvPr id="73" name="object 73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42034" y="6371852"/>
            <a:ext cx="212259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solidFill>
                  <a:srgbClr val="FFFFFF"/>
                </a:solidFill>
                <a:latin typeface="Arial MT"/>
                <a:cs typeface="Arial MT"/>
              </a:rPr>
              <a:t>April</a:t>
            </a:r>
            <a:r>
              <a:rPr sz="2667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FFFFFF"/>
                </a:solidFill>
                <a:latin typeface="Arial MT"/>
                <a:cs typeface="Arial MT"/>
              </a:rPr>
              <a:t>28,</a:t>
            </a:r>
            <a:r>
              <a:rPr sz="26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7" spc="-27" dirty="0">
                <a:solidFill>
                  <a:srgbClr val="FFFFFF"/>
                </a:solidFill>
                <a:latin typeface="Arial MT"/>
                <a:cs typeface="Arial MT"/>
              </a:rPr>
              <a:t>2022</a:t>
            </a:r>
            <a:endParaRPr sz="2667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9234" y="6371852"/>
            <a:ext cx="235627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solidFill>
                  <a:srgbClr val="FFFFFF"/>
                </a:solidFill>
                <a:latin typeface="Arial MT"/>
                <a:cs typeface="Arial MT"/>
              </a:rPr>
              <a:t>Lecture</a:t>
            </a:r>
            <a:r>
              <a:rPr sz="2667" spc="-3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r>
              <a:rPr sz="2667" spc="-2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667" spc="3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49" baseline="1388" dirty="0">
                <a:solidFill>
                  <a:srgbClr val="FFFFFF"/>
                </a:solidFill>
                <a:latin typeface="Arial MT"/>
                <a:cs typeface="Arial MT"/>
              </a:rPr>
              <a:t>28</a:t>
            </a:r>
            <a:endParaRPr sz="4000" baseline="1388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57317" y="2862284"/>
            <a:ext cx="541020" cy="1050713"/>
            <a:chOff x="942987" y="2146712"/>
            <a:chExt cx="405765" cy="788035"/>
          </a:xfrm>
        </p:grpSpPr>
        <p:sp>
          <p:nvSpPr>
            <p:cNvPr id="6" name="object 6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7" name="object 7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356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98018" y="2862284"/>
            <a:ext cx="541020" cy="1050713"/>
            <a:chOff x="2623513" y="2146712"/>
            <a:chExt cx="405765" cy="788035"/>
          </a:xfrm>
        </p:grpSpPr>
        <p:sp>
          <p:nvSpPr>
            <p:cNvPr id="11" name="object 11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5763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91666" y="3332779"/>
            <a:ext cx="1688253" cy="1008380"/>
            <a:chOff x="1343749" y="2499584"/>
            <a:chExt cx="1266190" cy="756285"/>
          </a:xfrm>
        </p:grpSpPr>
        <p:sp>
          <p:nvSpPr>
            <p:cNvPr id="15" name="object 15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508909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38681" y="2862284"/>
            <a:ext cx="580812" cy="1050713"/>
            <a:chOff x="4304010" y="2146712"/>
            <a:chExt cx="435609" cy="788035"/>
          </a:xfrm>
        </p:grpSpPr>
        <p:sp>
          <p:nvSpPr>
            <p:cNvPr id="22" name="object 22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3" name="object 23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836768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032368" y="3332779"/>
            <a:ext cx="1688253" cy="1008380"/>
            <a:chOff x="3024276" y="2499584"/>
            <a:chExt cx="1266190" cy="75628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749602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3450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857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39402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12631" y="3332779"/>
            <a:ext cx="845820" cy="1008380"/>
            <a:chOff x="4734473" y="2499584"/>
            <a:chExt cx="634365" cy="756285"/>
          </a:xfrm>
        </p:grpSpPr>
        <p:sp>
          <p:nvSpPr>
            <p:cNvPr id="35" name="object 35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7457602" y="3332872"/>
            <a:ext cx="503767" cy="110067"/>
            <a:chOff x="5593201" y="2499654"/>
            <a:chExt cx="377825" cy="82550"/>
          </a:xfrm>
        </p:grpSpPr>
        <p:sp>
          <p:nvSpPr>
            <p:cNvPr id="39" name="object 39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0305132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4776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42" name="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53331" y="3332779"/>
            <a:ext cx="390768" cy="109307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10534277" y="2388265"/>
            <a:ext cx="110067" cy="480907"/>
            <a:chOff x="7900708" y="1791199"/>
            <a:chExt cx="82550" cy="360680"/>
          </a:xfrm>
        </p:grpSpPr>
        <p:sp>
          <p:nvSpPr>
            <p:cNvPr id="44" name="object 44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9014800" y="2838089"/>
            <a:ext cx="84666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spc="-67" dirty="0">
                <a:latin typeface="Arial MT"/>
                <a:cs typeface="Arial MT"/>
              </a:rPr>
              <a:t>…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598717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58034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044709" y="4765177"/>
            <a:ext cx="721360" cy="693420"/>
            <a:chOff x="783532" y="3573882"/>
            <a:chExt cx="541020" cy="520065"/>
          </a:xfrm>
        </p:grpSpPr>
        <p:sp>
          <p:nvSpPr>
            <p:cNvPr id="50" name="object 50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51" name="object 51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148427" y="4834697"/>
            <a:ext cx="4182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67" dirty="0">
                <a:latin typeface="Arial MT"/>
                <a:cs typeface="Arial MT"/>
              </a:rPr>
              <a:t>W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392360" y="3727494"/>
            <a:ext cx="8142393" cy="2327485"/>
            <a:chOff x="1044269" y="2795620"/>
            <a:chExt cx="6106795" cy="1745614"/>
          </a:xfrm>
        </p:grpSpPr>
        <p:sp>
          <p:nvSpPr>
            <p:cNvPr id="54" name="object 54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182673" y="312090"/>
            <a:ext cx="15556992" cy="863326"/>
          </a:xfrm>
          <a:prstGeom prst="rect">
            <a:avLst/>
          </a:prstGeom>
        </p:spPr>
        <p:txBody>
          <a:bodyPr spcFirstLastPara="1" vert="horz" wrap="square" lIns="0" tIns="273380" rIns="0" bIns="0" rtlCol="0" anchor="ctr" anchorCtr="0">
            <a:spAutoFit/>
          </a:bodyPr>
          <a:lstStyle/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RNN:</a:t>
            </a:r>
            <a:r>
              <a:rPr sz="3733" spc="-120" dirty="0"/>
              <a:t> </a:t>
            </a:r>
            <a:r>
              <a:rPr sz="3733" spc="-13" dirty="0"/>
              <a:t>Computational</a:t>
            </a:r>
            <a:r>
              <a:rPr sz="3733" spc="-113" dirty="0"/>
              <a:t> </a:t>
            </a:r>
            <a:r>
              <a:rPr sz="3733" dirty="0"/>
              <a:t>Graph:</a:t>
            </a:r>
            <a:r>
              <a:rPr sz="3733" spc="-113" dirty="0"/>
              <a:t> </a:t>
            </a:r>
            <a:r>
              <a:rPr sz="3733" dirty="0"/>
              <a:t>Many</a:t>
            </a:r>
            <a:r>
              <a:rPr sz="3733" spc="-113" dirty="0"/>
              <a:t> </a:t>
            </a:r>
            <a:r>
              <a:rPr sz="3733" dirty="0"/>
              <a:t>to</a:t>
            </a:r>
            <a:r>
              <a:rPr sz="3733" spc="-113" dirty="0"/>
              <a:t> </a:t>
            </a:r>
            <a:r>
              <a:rPr sz="3733" spc="-27" dirty="0"/>
              <a:t>Many</a:t>
            </a:r>
            <a:endParaRPr sz="3733" dirty="0"/>
          </a:p>
        </p:txBody>
      </p:sp>
      <p:sp>
        <p:nvSpPr>
          <p:cNvPr id="63" name="object 63"/>
          <p:cNvSpPr txBox="1"/>
          <p:nvPr/>
        </p:nvSpPr>
        <p:spPr>
          <a:xfrm>
            <a:off x="10305132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6310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64" name="object 6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10666" y="3332779"/>
            <a:ext cx="390767" cy="109307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79857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7450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484565" y="1362400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3713713" y="2388265"/>
            <a:ext cx="4610947" cy="480907"/>
            <a:chOff x="2785285" y="1791199"/>
            <a:chExt cx="3458210" cy="360680"/>
          </a:xfrm>
        </p:grpSpPr>
        <p:sp>
          <p:nvSpPr>
            <p:cNvPr id="69" name="object 69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72" name="object 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4572750" y="1594449"/>
            <a:ext cx="580812" cy="574040"/>
            <a:chOff x="3429562" y="1195837"/>
            <a:chExt cx="435609" cy="430530"/>
          </a:xfrm>
        </p:grpSpPr>
        <p:sp>
          <p:nvSpPr>
            <p:cNvPr id="75" name="object 75"/>
            <p:cNvSpPr/>
            <p:nvPr/>
          </p:nvSpPr>
          <p:spPr>
            <a:xfrm>
              <a:off x="3434324" y="1200599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76" name="object 76"/>
            <p:cNvSpPr/>
            <p:nvPr/>
          </p:nvSpPr>
          <p:spPr>
            <a:xfrm>
              <a:off x="3434324" y="1200599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4670837" y="1669195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L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6819683" y="1558283"/>
            <a:ext cx="580812" cy="574040"/>
            <a:chOff x="5114762" y="1168712"/>
            <a:chExt cx="435609" cy="430530"/>
          </a:xfrm>
        </p:grpSpPr>
        <p:sp>
          <p:nvSpPr>
            <p:cNvPr id="79" name="object 79"/>
            <p:cNvSpPr/>
            <p:nvPr/>
          </p:nvSpPr>
          <p:spPr>
            <a:xfrm>
              <a:off x="511952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80" name="object 80"/>
            <p:cNvSpPr/>
            <p:nvPr/>
          </p:nvSpPr>
          <p:spPr>
            <a:xfrm>
              <a:off x="511952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5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6917769" y="1633027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L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9139083" y="1558283"/>
            <a:ext cx="580812" cy="574040"/>
            <a:chOff x="6854312" y="1168712"/>
            <a:chExt cx="435609" cy="430530"/>
          </a:xfrm>
        </p:grpSpPr>
        <p:sp>
          <p:nvSpPr>
            <p:cNvPr id="83" name="object 83"/>
            <p:cNvSpPr/>
            <p:nvPr/>
          </p:nvSpPr>
          <p:spPr>
            <a:xfrm>
              <a:off x="685907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84" name="object 84"/>
            <p:cNvSpPr/>
            <p:nvPr/>
          </p:nvSpPr>
          <p:spPr>
            <a:xfrm>
              <a:off x="6859075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9237169" y="1633027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L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1458483" y="1558283"/>
            <a:ext cx="580812" cy="574040"/>
            <a:chOff x="8593862" y="1168712"/>
            <a:chExt cx="435609" cy="430530"/>
          </a:xfrm>
        </p:grpSpPr>
        <p:sp>
          <p:nvSpPr>
            <p:cNvPr id="87" name="object 87"/>
            <p:cNvSpPr/>
            <p:nvPr/>
          </p:nvSpPr>
          <p:spPr>
            <a:xfrm>
              <a:off x="8598624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425699" y="420599"/>
                  </a:moveTo>
                  <a:lnTo>
                    <a:pt x="0" y="4205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4205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88" name="object 88"/>
            <p:cNvSpPr/>
            <p:nvPr/>
          </p:nvSpPr>
          <p:spPr>
            <a:xfrm>
              <a:off x="8598624" y="1173474"/>
              <a:ext cx="426084" cy="421005"/>
            </a:xfrm>
            <a:custGeom>
              <a:avLst/>
              <a:gdLst/>
              <a:ahLst/>
              <a:cxnLst/>
              <a:rect l="l" t="t" r="r" b="b"/>
              <a:pathLst>
                <a:path w="426084" h="421005">
                  <a:moveTo>
                    <a:pt x="0" y="0"/>
                  </a:moveTo>
                  <a:lnTo>
                    <a:pt x="425699" y="0"/>
                  </a:lnTo>
                  <a:lnTo>
                    <a:pt x="425699" y="420599"/>
                  </a:lnTo>
                  <a:lnTo>
                    <a:pt x="0" y="42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11551016" y="1633027"/>
            <a:ext cx="3953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L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4052164" y="1826545"/>
            <a:ext cx="502920" cy="110067"/>
            <a:chOff x="3039123" y="1369909"/>
            <a:chExt cx="377190" cy="82550"/>
          </a:xfrm>
        </p:grpSpPr>
        <p:sp>
          <p:nvSpPr>
            <p:cNvPr id="91" name="object 91"/>
            <p:cNvSpPr/>
            <p:nvPr/>
          </p:nvSpPr>
          <p:spPr>
            <a:xfrm>
              <a:off x="3039123" y="1410900"/>
              <a:ext cx="281305" cy="0"/>
            </a:xfrm>
            <a:custGeom>
              <a:avLst/>
              <a:gdLst/>
              <a:ahLst/>
              <a:cxnLst/>
              <a:rect l="l" t="t" r="r" b="b"/>
              <a:pathLst>
                <a:path w="281304">
                  <a:moveTo>
                    <a:pt x="0" y="0"/>
                  </a:moveTo>
                  <a:lnTo>
                    <a:pt x="2807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92" name="object 9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0398" y="1369909"/>
              <a:ext cx="105500" cy="81980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6312631" y="1790379"/>
            <a:ext cx="489373" cy="110067"/>
            <a:chOff x="4734473" y="1342784"/>
            <a:chExt cx="367030" cy="82550"/>
          </a:xfrm>
        </p:grpSpPr>
        <p:sp>
          <p:nvSpPr>
            <p:cNvPr id="94" name="object 94"/>
            <p:cNvSpPr/>
            <p:nvPr/>
          </p:nvSpPr>
          <p:spPr>
            <a:xfrm>
              <a:off x="4734473" y="1383775"/>
              <a:ext cx="271145" cy="0"/>
            </a:xfrm>
            <a:custGeom>
              <a:avLst/>
              <a:gdLst/>
              <a:ahLst/>
              <a:cxnLst/>
              <a:rect l="l" t="t" r="r" b="b"/>
              <a:pathLst>
                <a:path w="271145">
                  <a:moveTo>
                    <a:pt x="0" y="0"/>
                  </a:moveTo>
                  <a:lnTo>
                    <a:pt x="2708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95" name="object 9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5848" y="1342784"/>
              <a:ext cx="105500" cy="81980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8553331" y="1790379"/>
            <a:ext cx="568112" cy="110067"/>
            <a:chOff x="6414998" y="1342784"/>
            <a:chExt cx="426084" cy="82550"/>
          </a:xfrm>
        </p:grpSpPr>
        <p:sp>
          <p:nvSpPr>
            <p:cNvPr id="97" name="object 97"/>
            <p:cNvSpPr/>
            <p:nvPr/>
          </p:nvSpPr>
          <p:spPr>
            <a:xfrm>
              <a:off x="6414998" y="1383775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>
                  <a:moveTo>
                    <a:pt x="0" y="0"/>
                  </a:moveTo>
                  <a:lnTo>
                    <a:pt x="32970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98" name="object 9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5174" y="1342784"/>
              <a:ext cx="105500" cy="81980"/>
            </a:xfrm>
            <a:prstGeom prst="rect">
              <a:avLst/>
            </a:prstGeom>
          </p:spPr>
        </p:pic>
      </p:grpSp>
      <p:grpSp>
        <p:nvGrpSpPr>
          <p:cNvPr id="99" name="object 99"/>
          <p:cNvGrpSpPr/>
          <p:nvPr/>
        </p:nvGrpSpPr>
        <p:grpSpPr>
          <a:xfrm>
            <a:off x="10872732" y="1790379"/>
            <a:ext cx="568112" cy="110067"/>
            <a:chOff x="8154549" y="1342784"/>
            <a:chExt cx="426084" cy="82550"/>
          </a:xfrm>
        </p:grpSpPr>
        <p:sp>
          <p:nvSpPr>
            <p:cNvPr id="100" name="object 100"/>
            <p:cNvSpPr/>
            <p:nvPr/>
          </p:nvSpPr>
          <p:spPr>
            <a:xfrm>
              <a:off x="8154549" y="1383775"/>
              <a:ext cx="330200" cy="0"/>
            </a:xfrm>
            <a:custGeom>
              <a:avLst/>
              <a:gdLst/>
              <a:ahLst/>
              <a:cxnLst/>
              <a:rect l="l" t="t" r="r" b="b"/>
              <a:pathLst>
                <a:path w="330200">
                  <a:moveTo>
                    <a:pt x="0" y="0"/>
                  </a:moveTo>
                  <a:lnTo>
                    <a:pt x="329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01" name="object 10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74724" y="1342784"/>
              <a:ext cx="105500" cy="8198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709" y="68516"/>
            <a:ext cx="10994072" cy="59860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356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47</a:t>
            </a:fld>
            <a:endParaRPr spc="-33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  <p:sp>
        <p:nvSpPr>
          <p:cNvPr id="11" name="object 11"/>
          <p:cNvSpPr txBox="1"/>
          <p:nvPr/>
        </p:nvSpPr>
        <p:spPr>
          <a:xfrm>
            <a:off x="193634" y="6410279"/>
            <a:ext cx="470069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787"/>
              </a:lnSpc>
            </a:pPr>
            <a:r>
              <a:rPr sz="2400" spc="-13" dirty="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Li,</a:t>
            </a: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Jiajun</a:t>
            </a: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Wu,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Ruohan</a:t>
            </a: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 Gao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427" y="4834697"/>
            <a:ext cx="4182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67" dirty="0">
                <a:latin typeface="Arial MT"/>
                <a:cs typeface="Arial MT"/>
              </a:rPr>
              <a:t>W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0600" y="369150"/>
            <a:ext cx="9066107" cy="604375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RNN:</a:t>
            </a:r>
            <a:r>
              <a:rPr sz="3733" spc="-120" dirty="0"/>
              <a:t> </a:t>
            </a:r>
            <a:r>
              <a:rPr sz="3733" spc="-13" dirty="0"/>
              <a:t>Computational</a:t>
            </a:r>
            <a:r>
              <a:rPr sz="3733" spc="-113" dirty="0"/>
              <a:t> </a:t>
            </a:r>
            <a:r>
              <a:rPr sz="3733" dirty="0"/>
              <a:t>Graph:</a:t>
            </a:r>
            <a:r>
              <a:rPr sz="3733" spc="-113" dirty="0"/>
              <a:t> </a:t>
            </a:r>
            <a:r>
              <a:rPr sz="3733" dirty="0"/>
              <a:t>Many</a:t>
            </a:r>
            <a:r>
              <a:rPr sz="3733" spc="-113" dirty="0"/>
              <a:t> </a:t>
            </a:r>
            <a:r>
              <a:rPr sz="3733" dirty="0"/>
              <a:t>to</a:t>
            </a:r>
            <a:r>
              <a:rPr sz="3733" spc="-113" dirty="0"/>
              <a:t> </a:t>
            </a:r>
            <a:r>
              <a:rPr sz="3733" spc="-27" dirty="0"/>
              <a:t>Many</a:t>
            </a:r>
            <a:endParaRPr sz="3733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340186" y="1678834"/>
          <a:ext cx="9599505" cy="34349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2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99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7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3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96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977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065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1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6773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1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6773" marB="0"/>
                </a:tc>
                <a:tc>
                  <a:txBody>
                    <a:bodyPr/>
                    <a:lstStyle/>
                    <a:p>
                      <a:pPr marR="258445" algn="r">
                        <a:lnSpc>
                          <a:spcPts val="1989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2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989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2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9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3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989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3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989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T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ts val="1989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T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0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3200" spc="-25" dirty="0">
                          <a:latin typeface="Arial MT"/>
                          <a:cs typeface="Arial MT"/>
                        </a:rPr>
                        <a:t>f</a:t>
                      </a:r>
                      <a:r>
                        <a:rPr sz="3200" spc="-37" baseline="-31250" dirty="0">
                          <a:latin typeface="Arial MT"/>
                          <a:cs typeface="Arial MT"/>
                        </a:rPr>
                        <a:t>W</a:t>
                      </a:r>
                      <a:endParaRPr sz="3200" baseline="-312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1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1583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259715" algn="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1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267335">
                        <a:lnSpc>
                          <a:spcPct val="100000"/>
                        </a:lnSpc>
                      </a:pPr>
                      <a:r>
                        <a:rPr sz="3200" spc="-25" dirty="0">
                          <a:latin typeface="Arial MT"/>
                          <a:cs typeface="Arial MT"/>
                        </a:rPr>
                        <a:t>f</a:t>
                      </a:r>
                      <a:r>
                        <a:rPr sz="3200" spc="-37" baseline="-31250" dirty="0">
                          <a:latin typeface="Arial MT"/>
                          <a:cs typeface="Arial MT"/>
                        </a:rPr>
                        <a:t>W</a:t>
                      </a:r>
                      <a:endParaRPr sz="3200" baseline="-312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347345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2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1583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252095" algn="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2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259715">
                        <a:lnSpc>
                          <a:spcPct val="100000"/>
                        </a:lnSpc>
                      </a:pPr>
                      <a:r>
                        <a:rPr sz="3200" spc="-25" dirty="0">
                          <a:latin typeface="Arial MT"/>
                          <a:cs typeface="Arial MT"/>
                        </a:rPr>
                        <a:t>f</a:t>
                      </a:r>
                      <a:r>
                        <a:rPr sz="3200" spc="-37" baseline="-31250" dirty="0">
                          <a:latin typeface="Arial MT"/>
                          <a:cs typeface="Arial MT"/>
                        </a:rPr>
                        <a:t>W</a:t>
                      </a:r>
                      <a:endParaRPr sz="3200" baseline="-312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340360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3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158327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3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6400" spc="-50" dirty="0">
                          <a:latin typeface="Arial MT"/>
                          <a:cs typeface="Arial MT"/>
                        </a:rPr>
                        <a:t>…</a:t>
                      </a:r>
                      <a:endParaRPr sz="6400">
                        <a:latin typeface="Arial MT"/>
                        <a:cs typeface="Arial MT"/>
                      </a:endParaRPr>
                    </a:p>
                  </a:txBody>
                  <a:tcPr marL="0" marR="0" marT="197273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h</a:t>
                      </a:r>
                      <a:r>
                        <a:rPr sz="2400" spc="-37" baseline="-32407" dirty="0">
                          <a:latin typeface="Arial MT"/>
                          <a:cs typeface="Arial MT"/>
                        </a:rPr>
                        <a:t>T</a:t>
                      </a:r>
                      <a:endParaRPr sz="2400" baseline="-32407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1243623" y="235237"/>
            <a:ext cx="25992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67" dirty="0">
                <a:latin typeface="Arial MT"/>
                <a:cs typeface="Arial MT"/>
              </a:rPr>
              <a:t>L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7317" y="2862284"/>
            <a:ext cx="541020" cy="1050713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356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98018" y="2862284"/>
            <a:ext cx="541020" cy="1050713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763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91666" y="3332779"/>
            <a:ext cx="1688253" cy="1008380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508909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38681" y="2862284"/>
            <a:ext cx="580812" cy="1050713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36768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32368" y="3332779"/>
            <a:ext cx="1688253" cy="1008380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749602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3450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857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39402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12631" y="3332779"/>
            <a:ext cx="845820" cy="1008380"/>
            <a:chOff x="4734473" y="2499584"/>
            <a:chExt cx="634365" cy="756285"/>
          </a:xfrm>
        </p:grpSpPr>
        <p:sp>
          <p:nvSpPr>
            <p:cNvPr id="32" name="object 32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7457602" y="3332872"/>
            <a:ext cx="503767" cy="110067"/>
            <a:chOff x="5593201" y="2499654"/>
            <a:chExt cx="377825" cy="82550"/>
          </a:xfrm>
        </p:grpSpPr>
        <p:sp>
          <p:nvSpPr>
            <p:cNvPr id="36" name="object 36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0305132" y="1326234"/>
            <a:ext cx="568112" cy="69591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53331" y="3332779"/>
            <a:ext cx="390768" cy="109307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10534277" y="2388265"/>
            <a:ext cx="110067" cy="480907"/>
            <a:chOff x="7900708" y="1791199"/>
            <a:chExt cx="82550" cy="360680"/>
          </a:xfrm>
        </p:grpSpPr>
        <p:sp>
          <p:nvSpPr>
            <p:cNvPr id="41" name="object 41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9014800" y="2838089"/>
            <a:ext cx="84666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spc="-67" dirty="0">
                <a:latin typeface="Arial MT"/>
                <a:cs typeface="Arial MT"/>
              </a:rPr>
              <a:t>…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98717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58034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044709" y="4765177"/>
            <a:ext cx="721360" cy="693420"/>
            <a:chOff x="783532" y="3573882"/>
            <a:chExt cx="541020" cy="520065"/>
          </a:xfrm>
        </p:grpSpPr>
        <p:sp>
          <p:nvSpPr>
            <p:cNvPr id="47" name="object 47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8" name="object 48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148427" y="4834697"/>
            <a:ext cx="4182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67" dirty="0">
                <a:latin typeface="Arial MT"/>
                <a:cs typeface="Arial MT"/>
              </a:rPr>
              <a:t>W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392360" y="3727494"/>
            <a:ext cx="8142393" cy="2327485"/>
            <a:chOff x="1044269" y="2795620"/>
            <a:chExt cx="6106795" cy="1745614"/>
          </a:xfrm>
        </p:grpSpPr>
        <p:sp>
          <p:nvSpPr>
            <p:cNvPr id="51" name="object 51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341376" y="938878"/>
            <a:ext cx="15556992" cy="863326"/>
          </a:xfrm>
          <a:prstGeom prst="rect">
            <a:avLst/>
          </a:prstGeom>
        </p:spPr>
        <p:txBody>
          <a:bodyPr spcFirstLastPara="1" vert="horz" wrap="square" lIns="0" tIns="273380" rIns="0" bIns="0" rtlCol="0" anchor="ctr" anchorCtr="0">
            <a:spAutoFit/>
          </a:bodyPr>
          <a:lstStyle/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RNN:</a:t>
            </a:r>
            <a:r>
              <a:rPr sz="3733" spc="-120" dirty="0"/>
              <a:t> </a:t>
            </a:r>
            <a:r>
              <a:rPr sz="3733" spc="-13" dirty="0"/>
              <a:t>Computational</a:t>
            </a:r>
            <a:r>
              <a:rPr sz="3733" spc="-113" dirty="0"/>
              <a:t> </a:t>
            </a:r>
            <a:r>
              <a:rPr sz="3733" dirty="0"/>
              <a:t>Graph:</a:t>
            </a:r>
            <a:r>
              <a:rPr sz="3733" spc="-113" dirty="0"/>
              <a:t> </a:t>
            </a:r>
            <a:r>
              <a:rPr sz="3733" dirty="0"/>
              <a:t>Many</a:t>
            </a:r>
            <a:r>
              <a:rPr sz="3733" spc="-113" dirty="0"/>
              <a:t> </a:t>
            </a:r>
            <a:r>
              <a:rPr sz="3733" dirty="0"/>
              <a:t>to</a:t>
            </a:r>
            <a:r>
              <a:rPr sz="3733" spc="-113" dirty="0"/>
              <a:t> </a:t>
            </a:r>
            <a:r>
              <a:rPr sz="3733" spc="-33" dirty="0"/>
              <a:t>One</a:t>
            </a:r>
            <a:endParaRPr sz="3733"/>
          </a:p>
        </p:txBody>
      </p:sp>
      <p:sp>
        <p:nvSpPr>
          <p:cNvPr id="60" name="object 60"/>
          <p:cNvSpPr txBox="1"/>
          <p:nvPr/>
        </p:nvSpPr>
        <p:spPr>
          <a:xfrm>
            <a:off x="10305132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6310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61" name="object 6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10666" y="3332779"/>
            <a:ext cx="390767" cy="109307"/>
          </a:xfrm>
          <a:prstGeom prst="rect">
            <a:avLst/>
          </a:prstGeom>
        </p:spPr>
      </p:pic>
      <p:sp>
        <p:nvSpPr>
          <p:cNvPr id="62" name="object 62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48</a:t>
            </a:fld>
            <a:endParaRPr spc="-33" dirty="0"/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  <p:sp>
        <p:nvSpPr>
          <p:cNvPr id="65" name="object 65"/>
          <p:cNvSpPr txBox="1"/>
          <p:nvPr/>
        </p:nvSpPr>
        <p:spPr>
          <a:xfrm>
            <a:off x="193634" y="6410279"/>
            <a:ext cx="470069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787"/>
              </a:lnSpc>
            </a:pPr>
            <a:r>
              <a:rPr sz="2400" spc="-13" dirty="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Li,</a:t>
            </a: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Jiajun</a:t>
            </a: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Wu,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Ruohan</a:t>
            </a: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 Gao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7317" y="2862284"/>
            <a:ext cx="541020" cy="1050713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356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98018" y="2862284"/>
            <a:ext cx="541020" cy="1050713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763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91666" y="3332779"/>
            <a:ext cx="1688253" cy="1008380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508909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38681" y="2862284"/>
            <a:ext cx="580812" cy="1050713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36768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32368" y="3332779"/>
            <a:ext cx="1688253" cy="1008380"/>
            <a:chOff x="3024276" y="2499584"/>
            <a:chExt cx="1266190" cy="75628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47188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6197" y="2814224"/>
              <a:ext cx="81981" cy="105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749602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3450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857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39402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457602" y="3332872"/>
            <a:ext cx="503767" cy="110067"/>
            <a:chOff x="5593201" y="2499654"/>
            <a:chExt cx="377825" cy="82550"/>
          </a:xfrm>
        </p:grpSpPr>
        <p:sp>
          <p:nvSpPr>
            <p:cNvPr id="32" name="object 32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0305132" y="1326234"/>
            <a:ext cx="568112" cy="69591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53331" y="3332779"/>
            <a:ext cx="390768" cy="109307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6312631" y="2388266"/>
            <a:ext cx="4331547" cy="1953260"/>
            <a:chOff x="4734473" y="1791199"/>
            <a:chExt cx="3248660" cy="1464945"/>
          </a:xfrm>
        </p:grpSpPr>
        <p:sp>
          <p:nvSpPr>
            <p:cNvPr id="37" name="object 37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34473" y="2499584"/>
              <a:ext cx="309275" cy="8198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9014800" y="2838089"/>
            <a:ext cx="84666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spc="-67" dirty="0">
                <a:latin typeface="Arial MT"/>
                <a:cs typeface="Arial MT"/>
              </a:rPr>
              <a:t>…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98717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358034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x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044709" y="4765177"/>
            <a:ext cx="721360" cy="693420"/>
            <a:chOff x="783532" y="3573882"/>
            <a:chExt cx="541020" cy="520065"/>
          </a:xfrm>
        </p:grpSpPr>
        <p:sp>
          <p:nvSpPr>
            <p:cNvPr id="46" name="object 46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7" name="object 47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148427" y="4834697"/>
            <a:ext cx="4182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67" dirty="0">
                <a:latin typeface="Arial MT"/>
                <a:cs typeface="Arial MT"/>
              </a:rPr>
              <a:t>W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392360" y="3727494"/>
            <a:ext cx="8142393" cy="2327485"/>
            <a:chOff x="1044269" y="2795620"/>
            <a:chExt cx="6106795" cy="1745614"/>
          </a:xfrm>
        </p:grpSpPr>
        <p:sp>
          <p:nvSpPr>
            <p:cNvPr id="50" name="object 50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xfrm>
            <a:off x="341376" y="938878"/>
            <a:ext cx="15556992" cy="863326"/>
          </a:xfrm>
          <a:prstGeom prst="rect">
            <a:avLst/>
          </a:prstGeom>
        </p:spPr>
        <p:txBody>
          <a:bodyPr spcFirstLastPara="1" vert="horz" wrap="square" lIns="0" tIns="273380" rIns="0" bIns="0" rtlCol="0" anchor="ctr" anchorCtr="0">
            <a:spAutoFit/>
          </a:bodyPr>
          <a:lstStyle/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RNN:</a:t>
            </a:r>
            <a:r>
              <a:rPr sz="3733" spc="-120" dirty="0"/>
              <a:t> </a:t>
            </a:r>
            <a:r>
              <a:rPr sz="3733" spc="-13" dirty="0"/>
              <a:t>Computational</a:t>
            </a:r>
            <a:r>
              <a:rPr sz="3733" spc="-113" dirty="0"/>
              <a:t> </a:t>
            </a:r>
            <a:r>
              <a:rPr sz="3733" dirty="0"/>
              <a:t>Graph:</a:t>
            </a:r>
            <a:r>
              <a:rPr sz="3733" spc="-113" dirty="0"/>
              <a:t> </a:t>
            </a:r>
            <a:r>
              <a:rPr sz="3733" dirty="0"/>
              <a:t>Many</a:t>
            </a:r>
            <a:r>
              <a:rPr sz="3733" spc="-113" dirty="0"/>
              <a:t> </a:t>
            </a:r>
            <a:r>
              <a:rPr sz="3733" dirty="0"/>
              <a:t>to</a:t>
            </a:r>
            <a:r>
              <a:rPr sz="3733" spc="-113" dirty="0"/>
              <a:t> </a:t>
            </a:r>
            <a:r>
              <a:rPr sz="3733" spc="-33" dirty="0"/>
              <a:t>One</a:t>
            </a:r>
            <a:endParaRPr sz="3733"/>
          </a:p>
        </p:txBody>
      </p:sp>
      <p:sp>
        <p:nvSpPr>
          <p:cNvPr id="59" name="object 59"/>
          <p:cNvSpPr txBox="1"/>
          <p:nvPr/>
        </p:nvSpPr>
        <p:spPr>
          <a:xfrm>
            <a:off x="10305132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6310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60" name="object 6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10666" y="3332779"/>
            <a:ext cx="390767" cy="109307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3755667" y="2365599"/>
            <a:ext cx="6817360" cy="516467"/>
            <a:chOff x="2816750" y="1774199"/>
            <a:chExt cx="5113020" cy="387350"/>
          </a:xfrm>
        </p:grpSpPr>
        <p:sp>
          <p:nvSpPr>
            <p:cNvPr id="62" name="object 62"/>
            <p:cNvSpPr/>
            <p:nvPr/>
          </p:nvSpPr>
          <p:spPr>
            <a:xfrm>
              <a:off x="2826275" y="1817405"/>
              <a:ext cx="5010150" cy="334645"/>
            </a:xfrm>
            <a:custGeom>
              <a:avLst/>
              <a:gdLst/>
              <a:ahLst/>
              <a:cxnLst/>
              <a:rect l="l" t="t" r="r" b="b"/>
              <a:pathLst>
                <a:path w="5010150" h="334644">
                  <a:moveTo>
                    <a:pt x="0" y="334069"/>
                  </a:moveTo>
                  <a:lnTo>
                    <a:pt x="34333" y="308037"/>
                  </a:lnTo>
                  <a:lnTo>
                    <a:pt x="86147" y="293573"/>
                  </a:lnTo>
                  <a:lnTo>
                    <a:pt x="132786" y="284377"/>
                  </a:lnTo>
                  <a:lnTo>
                    <a:pt x="188593" y="275522"/>
                  </a:lnTo>
                  <a:lnTo>
                    <a:pt x="253131" y="266989"/>
                  </a:lnTo>
                  <a:lnTo>
                    <a:pt x="325963" y="258763"/>
                  </a:lnTo>
                  <a:lnTo>
                    <a:pt x="365353" y="254760"/>
                  </a:lnTo>
                  <a:lnTo>
                    <a:pt x="406654" y="250828"/>
                  </a:lnTo>
                  <a:lnTo>
                    <a:pt x="449809" y="246964"/>
                  </a:lnTo>
                  <a:lnTo>
                    <a:pt x="494766" y="243167"/>
                  </a:lnTo>
                  <a:lnTo>
                    <a:pt x="541468" y="239435"/>
                  </a:lnTo>
                  <a:lnTo>
                    <a:pt x="589863" y="235765"/>
                  </a:lnTo>
                  <a:lnTo>
                    <a:pt x="639894" y="232156"/>
                  </a:lnTo>
                  <a:lnTo>
                    <a:pt x="691508" y="228606"/>
                  </a:lnTo>
                  <a:lnTo>
                    <a:pt x="744650" y="225112"/>
                  </a:lnTo>
                  <a:lnTo>
                    <a:pt x="799265" y="221672"/>
                  </a:lnTo>
                  <a:lnTo>
                    <a:pt x="855299" y="218285"/>
                  </a:lnTo>
                  <a:lnTo>
                    <a:pt x="912698" y="214949"/>
                  </a:lnTo>
                  <a:lnTo>
                    <a:pt x="971406" y="211661"/>
                  </a:lnTo>
                  <a:lnTo>
                    <a:pt x="1031369" y="208419"/>
                  </a:lnTo>
                  <a:lnTo>
                    <a:pt x="1092532" y="205222"/>
                  </a:lnTo>
                  <a:lnTo>
                    <a:pt x="1154842" y="202068"/>
                  </a:lnTo>
                  <a:lnTo>
                    <a:pt x="1218243" y="198953"/>
                  </a:lnTo>
                  <a:lnTo>
                    <a:pt x="1282681" y="195877"/>
                  </a:lnTo>
                  <a:lnTo>
                    <a:pt x="1348101" y="192838"/>
                  </a:lnTo>
                  <a:lnTo>
                    <a:pt x="1414449" y="189832"/>
                  </a:lnTo>
                  <a:lnTo>
                    <a:pt x="1481670" y="186860"/>
                  </a:lnTo>
                  <a:lnTo>
                    <a:pt x="1549709" y="183917"/>
                  </a:lnTo>
                  <a:lnTo>
                    <a:pt x="1618513" y="181002"/>
                  </a:lnTo>
                  <a:lnTo>
                    <a:pt x="1688025" y="178114"/>
                  </a:lnTo>
                  <a:lnTo>
                    <a:pt x="1758193" y="175250"/>
                  </a:lnTo>
                  <a:lnTo>
                    <a:pt x="1828961" y="172409"/>
                  </a:lnTo>
                  <a:lnTo>
                    <a:pt x="1900275" y="169587"/>
                  </a:lnTo>
                  <a:lnTo>
                    <a:pt x="1972079" y="166784"/>
                  </a:lnTo>
                  <a:lnTo>
                    <a:pt x="2044321" y="163997"/>
                  </a:lnTo>
                  <a:lnTo>
                    <a:pt x="2116944" y="161224"/>
                  </a:lnTo>
                  <a:lnTo>
                    <a:pt x="2189895" y="158463"/>
                  </a:lnTo>
                  <a:lnTo>
                    <a:pt x="2263118" y="155712"/>
                  </a:lnTo>
                  <a:lnTo>
                    <a:pt x="2336560" y="152969"/>
                  </a:lnTo>
                  <a:lnTo>
                    <a:pt x="2410166" y="150233"/>
                  </a:lnTo>
                  <a:lnTo>
                    <a:pt x="2483880" y="147500"/>
                  </a:lnTo>
                  <a:lnTo>
                    <a:pt x="2557650" y="144769"/>
                  </a:lnTo>
                  <a:lnTo>
                    <a:pt x="2612453" y="142741"/>
                  </a:lnTo>
                  <a:lnTo>
                    <a:pt x="2667233" y="140712"/>
                  </a:lnTo>
                  <a:lnTo>
                    <a:pt x="2721969" y="138681"/>
                  </a:lnTo>
                  <a:lnTo>
                    <a:pt x="2776638" y="136648"/>
                  </a:lnTo>
                  <a:lnTo>
                    <a:pt x="2831217" y="134611"/>
                  </a:lnTo>
                  <a:lnTo>
                    <a:pt x="2885685" y="132570"/>
                  </a:lnTo>
                  <a:lnTo>
                    <a:pt x="2940018" y="130524"/>
                  </a:lnTo>
                  <a:lnTo>
                    <a:pt x="2994195" y="128473"/>
                  </a:lnTo>
                  <a:lnTo>
                    <a:pt x="3048193" y="126415"/>
                  </a:lnTo>
                  <a:lnTo>
                    <a:pt x="3101989" y="124349"/>
                  </a:lnTo>
                  <a:lnTo>
                    <a:pt x="3155562" y="122275"/>
                  </a:lnTo>
                  <a:lnTo>
                    <a:pt x="3208888" y="120192"/>
                  </a:lnTo>
                  <a:lnTo>
                    <a:pt x="3261946" y="118099"/>
                  </a:lnTo>
                  <a:lnTo>
                    <a:pt x="3314714" y="115996"/>
                  </a:lnTo>
                  <a:lnTo>
                    <a:pt x="3367168" y="113880"/>
                  </a:lnTo>
                  <a:lnTo>
                    <a:pt x="3419287" y="111753"/>
                  </a:lnTo>
                  <a:lnTo>
                    <a:pt x="3471047" y="109612"/>
                  </a:lnTo>
                  <a:lnTo>
                    <a:pt x="3522428" y="107457"/>
                  </a:lnTo>
                  <a:lnTo>
                    <a:pt x="3573405" y="105287"/>
                  </a:lnTo>
                  <a:lnTo>
                    <a:pt x="3623958" y="103101"/>
                  </a:lnTo>
                  <a:lnTo>
                    <a:pt x="3674063" y="100899"/>
                  </a:lnTo>
                  <a:lnTo>
                    <a:pt x="3723699" y="98679"/>
                  </a:lnTo>
                  <a:lnTo>
                    <a:pt x="3772842" y="96442"/>
                  </a:lnTo>
                  <a:lnTo>
                    <a:pt x="3821471" y="94185"/>
                  </a:lnTo>
                  <a:lnTo>
                    <a:pt x="3869563" y="91908"/>
                  </a:lnTo>
                  <a:lnTo>
                    <a:pt x="3917096" y="89611"/>
                  </a:lnTo>
                  <a:lnTo>
                    <a:pt x="3964047" y="87292"/>
                  </a:lnTo>
                  <a:lnTo>
                    <a:pt x="4010394" y="84950"/>
                  </a:lnTo>
                  <a:lnTo>
                    <a:pt x="4056115" y="82586"/>
                  </a:lnTo>
                  <a:lnTo>
                    <a:pt x="4101187" y="80198"/>
                  </a:lnTo>
                  <a:lnTo>
                    <a:pt x="4145588" y="77784"/>
                  </a:lnTo>
                  <a:lnTo>
                    <a:pt x="4189296" y="75345"/>
                  </a:lnTo>
                  <a:lnTo>
                    <a:pt x="4232287" y="72880"/>
                  </a:lnTo>
                  <a:lnTo>
                    <a:pt x="4274541" y="70387"/>
                  </a:lnTo>
                  <a:lnTo>
                    <a:pt x="4316033" y="67866"/>
                  </a:lnTo>
                  <a:lnTo>
                    <a:pt x="4380422" y="63796"/>
                  </a:lnTo>
                  <a:lnTo>
                    <a:pt x="4442739" y="59648"/>
                  </a:lnTo>
                  <a:lnTo>
                    <a:pt x="4502894" y="55421"/>
                  </a:lnTo>
                  <a:lnTo>
                    <a:pt x="4560798" y="51110"/>
                  </a:lnTo>
                  <a:lnTo>
                    <a:pt x="4616359" y="46713"/>
                  </a:lnTo>
                  <a:lnTo>
                    <a:pt x="4669488" y="42226"/>
                  </a:lnTo>
                  <a:lnTo>
                    <a:pt x="4720095" y="37645"/>
                  </a:lnTo>
                  <a:lnTo>
                    <a:pt x="4768090" y="32968"/>
                  </a:lnTo>
                  <a:lnTo>
                    <a:pt x="4813383" y="28191"/>
                  </a:lnTo>
                  <a:lnTo>
                    <a:pt x="4855883" y="23310"/>
                  </a:lnTo>
                  <a:lnTo>
                    <a:pt x="4895501" y="18323"/>
                  </a:lnTo>
                  <a:lnTo>
                    <a:pt x="4945104" y="11285"/>
                  </a:lnTo>
                  <a:lnTo>
                    <a:pt x="4988853" y="4030"/>
                  </a:lnTo>
                  <a:lnTo>
                    <a:pt x="5008458" y="319"/>
                  </a:lnTo>
                  <a:lnTo>
                    <a:pt x="501003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14523" y="1774199"/>
              <a:ext cx="110928" cy="8170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521622" y="1825740"/>
              <a:ext cx="3319145" cy="325755"/>
            </a:xfrm>
            <a:custGeom>
              <a:avLst/>
              <a:gdLst/>
              <a:ahLst/>
              <a:cxnLst/>
              <a:rect l="l" t="t" r="r" b="b"/>
              <a:pathLst>
                <a:path w="3319145" h="325755">
                  <a:moveTo>
                    <a:pt x="0" y="325734"/>
                  </a:moveTo>
                  <a:lnTo>
                    <a:pt x="30493" y="295872"/>
                  </a:lnTo>
                  <a:lnTo>
                    <a:pt x="67291" y="282134"/>
                  </a:lnTo>
                  <a:lnTo>
                    <a:pt x="117283" y="269126"/>
                  </a:lnTo>
                  <a:lnTo>
                    <a:pt x="179591" y="256799"/>
                  </a:lnTo>
                  <a:lnTo>
                    <a:pt x="253333" y="245106"/>
                  </a:lnTo>
                  <a:lnTo>
                    <a:pt x="294217" y="239482"/>
                  </a:lnTo>
                  <a:lnTo>
                    <a:pt x="337631" y="233997"/>
                  </a:lnTo>
                  <a:lnTo>
                    <a:pt x="383463" y="228646"/>
                  </a:lnTo>
                  <a:lnTo>
                    <a:pt x="431604" y="223424"/>
                  </a:lnTo>
                  <a:lnTo>
                    <a:pt x="481945" y="218322"/>
                  </a:lnTo>
                  <a:lnTo>
                    <a:pt x="534374" y="213337"/>
                  </a:lnTo>
                  <a:lnTo>
                    <a:pt x="588783" y="208461"/>
                  </a:lnTo>
                  <a:lnTo>
                    <a:pt x="645061" y="203689"/>
                  </a:lnTo>
                  <a:lnTo>
                    <a:pt x="703098" y="199014"/>
                  </a:lnTo>
                  <a:lnTo>
                    <a:pt x="762785" y="194430"/>
                  </a:lnTo>
                  <a:lnTo>
                    <a:pt x="824011" y="189931"/>
                  </a:lnTo>
                  <a:lnTo>
                    <a:pt x="886666" y="185512"/>
                  </a:lnTo>
                  <a:lnTo>
                    <a:pt x="950641" y="181165"/>
                  </a:lnTo>
                  <a:lnTo>
                    <a:pt x="1015825" y="176886"/>
                  </a:lnTo>
                  <a:lnTo>
                    <a:pt x="1082109" y="172667"/>
                  </a:lnTo>
                  <a:lnTo>
                    <a:pt x="1149382" y="168503"/>
                  </a:lnTo>
                  <a:lnTo>
                    <a:pt x="1217535" y="164388"/>
                  </a:lnTo>
                  <a:lnTo>
                    <a:pt x="1286458" y="160315"/>
                  </a:lnTo>
                  <a:lnTo>
                    <a:pt x="1356040" y="156279"/>
                  </a:lnTo>
                  <a:lnTo>
                    <a:pt x="1426172" y="152274"/>
                  </a:lnTo>
                  <a:lnTo>
                    <a:pt x="1496744" y="148293"/>
                  </a:lnTo>
                  <a:lnTo>
                    <a:pt x="1567646" y="144329"/>
                  </a:lnTo>
                  <a:lnTo>
                    <a:pt x="1638768" y="140379"/>
                  </a:lnTo>
                  <a:lnTo>
                    <a:pt x="1709999" y="136434"/>
                  </a:lnTo>
                  <a:lnTo>
                    <a:pt x="1765752" y="133347"/>
                  </a:lnTo>
                  <a:lnTo>
                    <a:pt x="1821451" y="130257"/>
                  </a:lnTo>
                  <a:lnTo>
                    <a:pt x="1877045" y="127162"/>
                  </a:lnTo>
                  <a:lnTo>
                    <a:pt x="1932481" y="124057"/>
                  </a:lnTo>
                  <a:lnTo>
                    <a:pt x="1987706" y="120941"/>
                  </a:lnTo>
                  <a:lnTo>
                    <a:pt x="2042667" y="117810"/>
                  </a:lnTo>
                  <a:lnTo>
                    <a:pt x="2097312" y="114662"/>
                  </a:lnTo>
                  <a:lnTo>
                    <a:pt x="2151589" y="111494"/>
                  </a:lnTo>
                  <a:lnTo>
                    <a:pt x="2205443" y="108302"/>
                  </a:lnTo>
                  <a:lnTo>
                    <a:pt x="2258824" y="105084"/>
                  </a:lnTo>
                  <a:lnTo>
                    <a:pt x="2311677" y="101836"/>
                  </a:lnTo>
                  <a:lnTo>
                    <a:pt x="2363951" y="98557"/>
                  </a:lnTo>
                  <a:lnTo>
                    <a:pt x="2415592" y="95242"/>
                  </a:lnTo>
                  <a:lnTo>
                    <a:pt x="2466548" y="91890"/>
                  </a:lnTo>
                  <a:lnTo>
                    <a:pt x="2516766" y="88497"/>
                  </a:lnTo>
                  <a:lnTo>
                    <a:pt x="2566194" y="85060"/>
                  </a:lnTo>
                  <a:lnTo>
                    <a:pt x="2614778" y="81576"/>
                  </a:lnTo>
                  <a:lnTo>
                    <a:pt x="2662466" y="78043"/>
                  </a:lnTo>
                  <a:lnTo>
                    <a:pt x="2709206" y="74457"/>
                  </a:lnTo>
                  <a:lnTo>
                    <a:pt x="2754944" y="70816"/>
                  </a:lnTo>
                  <a:lnTo>
                    <a:pt x="2799629" y="67116"/>
                  </a:lnTo>
                  <a:lnTo>
                    <a:pt x="2843206" y="63356"/>
                  </a:lnTo>
                  <a:lnTo>
                    <a:pt x="2885624" y="59531"/>
                  </a:lnTo>
                  <a:lnTo>
                    <a:pt x="2944463" y="53914"/>
                  </a:lnTo>
                  <a:lnTo>
                    <a:pt x="3000640" y="48150"/>
                  </a:lnTo>
                  <a:lnTo>
                    <a:pt x="3053999" y="42230"/>
                  </a:lnTo>
                  <a:lnTo>
                    <a:pt x="3104384" y="36145"/>
                  </a:lnTo>
                  <a:lnTo>
                    <a:pt x="3151637" y="29888"/>
                  </a:lnTo>
                  <a:lnTo>
                    <a:pt x="3195603" y="23448"/>
                  </a:lnTo>
                  <a:lnTo>
                    <a:pt x="3236125" y="16817"/>
                  </a:lnTo>
                  <a:lnTo>
                    <a:pt x="3281695" y="8248"/>
                  </a:lnTo>
                  <a:lnTo>
                    <a:pt x="3313895" y="1157"/>
                  </a:lnTo>
                  <a:lnTo>
                    <a:pt x="331865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16205" y="1776230"/>
              <a:ext cx="110251" cy="8693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202148" y="1841754"/>
              <a:ext cx="1649095" cy="309880"/>
            </a:xfrm>
            <a:custGeom>
              <a:avLst/>
              <a:gdLst/>
              <a:ahLst/>
              <a:cxnLst/>
              <a:rect l="l" t="t" r="r" b="b"/>
              <a:pathLst>
                <a:path w="1649095" h="309880">
                  <a:moveTo>
                    <a:pt x="0" y="309720"/>
                  </a:moveTo>
                  <a:lnTo>
                    <a:pt x="30816" y="268239"/>
                  </a:lnTo>
                  <a:lnTo>
                    <a:pt x="82432" y="243966"/>
                  </a:lnTo>
                  <a:lnTo>
                    <a:pt x="155353" y="222011"/>
                  </a:lnTo>
                  <a:lnTo>
                    <a:pt x="198852" y="211800"/>
                  </a:lnTo>
                  <a:lnTo>
                    <a:pt x="246535" y="202044"/>
                  </a:lnTo>
                  <a:lnTo>
                    <a:pt x="298024" y="192701"/>
                  </a:lnTo>
                  <a:lnTo>
                    <a:pt x="352936" y="183732"/>
                  </a:lnTo>
                  <a:lnTo>
                    <a:pt x="410893" y="175093"/>
                  </a:lnTo>
                  <a:lnTo>
                    <a:pt x="471512" y="166745"/>
                  </a:lnTo>
                  <a:lnTo>
                    <a:pt x="534414" y="158645"/>
                  </a:lnTo>
                  <a:lnTo>
                    <a:pt x="599219" y="150751"/>
                  </a:lnTo>
                  <a:lnTo>
                    <a:pt x="665545" y="143024"/>
                  </a:lnTo>
                  <a:lnTo>
                    <a:pt x="733013" y="135420"/>
                  </a:lnTo>
                  <a:lnTo>
                    <a:pt x="801241" y="127900"/>
                  </a:lnTo>
                  <a:lnTo>
                    <a:pt x="869850" y="120420"/>
                  </a:lnTo>
                  <a:lnTo>
                    <a:pt x="924184" y="114501"/>
                  </a:lnTo>
                  <a:lnTo>
                    <a:pt x="978330" y="108562"/>
                  </a:lnTo>
                  <a:lnTo>
                    <a:pt x="1032097" y="102581"/>
                  </a:lnTo>
                  <a:lnTo>
                    <a:pt x="1085299" y="96539"/>
                  </a:lnTo>
                  <a:lnTo>
                    <a:pt x="1137745" y="90414"/>
                  </a:lnTo>
                  <a:lnTo>
                    <a:pt x="1189248" y="84187"/>
                  </a:lnTo>
                  <a:lnTo>
                    <a:pt x="1239618" y="77837"/>
                  </a:lnTo>
                  <a:lnTo>
                    <a:pt x="1288667" y="71342"/>
                  </a:lnTo>
                  <a:lnTo>
                    <a:pt x="1336205" y="64684"/>
                  </a:lnTo>
                  <a:lnTo>
                    <a:pt x="1382045" y="57841"/>
                  </a:lnTo>
                  <a:lnTo>
                    <a:pt x="1425996" y="50792"/>
                  </a:lnTo>
                  <a:lnTo>
                    <a:pt x="1467872" y="43517"/>
                  </a:lnTo>
                  <a:lnTo>
                    <a:pt x="1526379" y="32136"/>
                  </a:lnTo>
                  <a:lnTo>
                    <a:pt x="1579151" y="20132"/>
                  </a:lnTo>
                  <a:lnTo>
                    <a:pt x="1625553" y="7434"/>
                  </a:lnTo>
                  <a:lnTo>
                    <a:pt x="1646166" y="804"/>
                  </a:lnTo>
                  <a:lnTo>
                    <a:pt x="1648485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22147" y="1780132"/>
              <a:ext cx="107002" cy="96257"/>
            </a:xfrm>
            <a:prstGeom prst="rect">
              <a:avLst/>
            </a:prstGeom>
          </p:spPr>
        </p:pic>
      </p:grpSp>
      <p:sp>
        <p:nvSpPr>
          <p:cNvPr id="68" name="object 68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49</a:t>
            </a:fld>
            <a:endParaRPr spc="-33" dirty="0"/>
          </a:p>
        </p:txBody>
      </p:sp>
      <p:sp>
        <p:nvSpPr>
          <p:cNvPr id="70" name="object 70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7317" y="2862284"/>
            <a:ext cx="541020" cy="1050713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356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98018" y="2862284"/>
            <a:ext cx="541020" cy="1050713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763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91666" y="3332779"/>
            <a:ext cx="1688253" cy="1008380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508909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38681" y="2862284"/>
            <a:ext cx="580812" cy="1050713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36768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32368" y="3332779"/>
            <a:ext cx="1688253" cy="110067"/>
            <a:chOff x="3024276" y="2499584"/>
            <a:chExt cx="1266190" cy="8255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749602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3450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857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2631" y="3332779"/>
            <a:ext cx="412367" cy="109307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7457602" y="3332872"/>
            <a:ext cx="503767" cy="110067"/>
            <a:chOff x="5593201" y="2499654"/>
            <a:chExt cx="377825" cy="82550"/>
          </a:xfrm>
        </p:grpSpPr>
        <p:sp>
          <p:nvSpPr>
            <p:cNvPr id="30" name="object 30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305132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4776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53331" y="3332779"/>
            <a:ext cx="390768" cy="109307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10534277" y="2388265"/>
            <a:ext cx="110067" cy="480907"/>
            <a:chOff x="7900708" y="1791199"/>
            <a:chExt cx="82550" cy="360680"/>
          </a:xfrm>
        </p:grpSpPr>
        <p:sp>
          <p:nvSpPr>
            <p:cNvPr id="35" name="object 35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9014800" y="2838089"/>
            <a:ext cx="84666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spc="-67" dirty="0">
                <a:latin typeface="Arial MT"/>
                <a:cs typeface="Arial MT"/>
              </a:rPr>
              <a:t>…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58034" y="4328266"/>
            <a:ext cx="529167" cy="69591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44709" y="4765177"/>
            <a:ext cx="721360" cy="693420"/>
            <a:chOff x="783532" y="3573882"/>
            <a:chExt cx="541020" cy="520065"/>
          </a:xfrm>
        </p:grpSpPr>
        <p:sp>
          <p:nvSpPr>
            <p:cNvPr id="40" name="object 40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1" name="object 41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148427" y="4834697"/>
            <a:ext cx="4182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67" dirty="0">
                <a:latin typeface="Arial MT"/>
                <a:cs typeface="Arial MT"/>
              </a:rPr>
              <a:t>W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392360" y="3727494"/>
            <a:ext cx="8142393" cy="2327485"/>
            <a:chOff x="1044269" y="2795620"/>
            <a:chExt cx="6106795" cy="1745614"/>
          </a:xfrm>
        </p:grpSpPr>
        <p:sp>
          <p:nvSpPr>
            <p:cNvPr id="44" name="object 44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-132934" y="0"/>
            <a:ext cx="15556992" cy="863326"/>
          </a:xfrm>
          <a:prstGeom prst="rect">
            <a:avLst/>
          </a:prstGeom>
        </p:spPr>
        <p:txBody>
          <a:bodyPr spcFirstLastPara="1" vert="horz" wrap="square" lIns="0" tIns="273380" rIns="0" bIns="0" rtlCol="0" anchor="ctr" anchorCtr="0">
            <a:spAutoFit/>
          </a:bodyPr>
          <a:lstStyle/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RNN:</a:t>
            </a:r>
            <a:r>
              <a:rPr sz="3733" spc="-113" dirty="0"/>
              <a:t> </a:t>
            </a:r>
            <a:r>
              <a:rPr sz="3733" spc="-13" dirty="0"/>
              <a:t>Computational</a:t>
            </a:r>
            <a:r>
              <a:rPr sz="3733" spc="-113" dirty="0"/>
              <a:t> </a:t>
            </a:r>
            <a:r>
              <a:rPr sz="3733" dirty="0"/>
              <a:t>Graph:</a:t>
            </a:r>
            <a:r>
              <a:rPr sz="3733" spc="-113" dirty="0"/>
              <a:t> </a:t>
            </a:r>
            <a:r>
              <a:rPr sz="3733" dirty="0"/>
              <a:t>One</a:t>
            </a:r>
            <a:r>
              <a:rPr sz="3733" spc="-113" dirty="0"/>
              <a:t> </a:t>
            </a:r>
            <a:r>
              <a:rPr sz="3733" dirty="0"/>
              <a:t>to</a:t>
            </a:r>
            <a:r>
              <a:rPr sz="3733" spc="-113" dirty="0"/>
              <a:t> </a:t>
            </a:r>
            <a:r>
              <a:rPr sz="3733" spc="-27" dirty="0"/>
              <a:t>Many</a:t>
            </a:r>
            <a:endParaRPr sz="3733" dirty="0"/>
          </a:p>
        </p:txBody>
      </p:sp>
      <p:sp>
        <p:nvSpPr>
          <p:cNvPr id="53" name="object 53"/>
          <p:cNvSpPr txBox="1"/>
          <p:nvPr/>
        </p:nvSpPr>
        <p:spPr>
          <a:xfrm>
            <a:off x="10305132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6310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54" name="object 5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10666" y="3332779"/>
            <a:ext cx="390767" cy="109307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79857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7450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84565" y="1362400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713713" y="2388265"/>
            <a:ext cx="4610947" cy="480907"/>
            <a:chOff x="2785285" y="1791199"/>
            <a:chExt cx="3458210" cy="360680"/>
          </a:xfrm>
        </p:grpSpPr>
        <p:sp>
          <p:nvSpPr>
            <p:cNvPr id="59" name="object 59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</p:grpSp>
      <p:sp>
        <p:nvSpPr>
          <p:cNvPr id="64" name="object 64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50</a:t>
            </a:fld>
            <a:endParaRPr spc="-33" dirty="0"/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7317" y="2862284"/>
            <a:ext cx="541020" cy="1050713"/>
            <a:chOff x="942987" y="2146712"/>
            <a:chExt cx="405765" cy="788035"/>
          </a:xfrm>
        </p:grpSpPr>
        <p:sp>
          <p:nvSpPr>
            <p:cNvPr id="3" name="object 3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" name="object 4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356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98018" y="2862284"/>
            <a:ext cx="541020" cy="1050713"/>
            <a:chOff x="2623513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9" name="object 9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763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91666" y="3332779"/>
            <a:ext cx="1688253" cy="1008380"/>
            <a:chOff x="1343749" y="2499584"/>
            <a:chExt cx="1266190" cy="756285"/>
          </a:xfrm>
        </p:grpSpPr>
        <p:sp>
          <p:nvSpPr>
            <p:cNvPr id="12" name="object 12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508909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38681" y="2862284"/>
            <a:ext cx="580812" cy="1050713"/>
            <a:chOff x="4304010" y="2146712"/>
            <a:chExt cx="435609" cy="788035"/>
          </a:xfrm>
        </p:grpSpPr>
        <p:sp>
          <p:nvSpPr>
            <p:cNvPr id="19" name="object 19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36768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32368" y="3332779"/>
            <a:ext cx="1688253" cy="110067"/>
            <a:chOff x="3024276" y="2499584"/>
            <a:chExt cx="1266190" cy="8255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749602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3450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857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2631" y="3332779"/>
            <a:ext cx="412367" cy="109307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7457602" y="3332872"/>
            <a:ext cx="503767" cy="110067"/>
            <a:chOff x="5593201" y="2499654"/>
            <a:chExt cx="377825" cy="82550"/>
          </a:xfrm>
        </p:grpSpPr>
        <p:sp>
          <p:nvSpPr>
            <p:cNvPr id="30" name="object 30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305132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4776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53331" y="3332779"/>
            <a:ext cx="390768" cy="109307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10534277" y="2388265"/>
            <a:ext cx="110067" cy="480907"/>
            <a:chOff x="7900708" y="1791199"/>
            <a:chExt cx="82550" cy="360680"/>
          </a:xfrm>
        </p:grpSpPr>
        <p:sp>
          <p:nvSpPr>
            <p:cNvPr id="35" name="object 35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9014800" y="2838089"/>
            <a:ext cx="84666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spc="-67" dirty="0">
                <a:latin typeface="Arial MT"/>
                <a:cs typeface="Arial MT"/>
              </a:rPr>
              <a:t>…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58034" y="4328266"/>
            <a:ext cx="529167" cy="69591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44709" y="4765177"/>
            <a:ext cx="721360" cy="693420"/>
            <a:chOff x="783532" y="3573882"/>
            <a:chExt cx="541020" cy="520065"/>
          </a:xfrm>
        </p:grpSpPr>
        <p:sp>
          <p:nvSpPr>
            <p:cNvPr id="40" name="object 40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1" name="object 41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148427" y="4834697"/>
            <a:ext cx="4182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67" dirty="0">
                <a:latin typeface="Arial MT"/>
                <a:cs typeface="Arial MT"/>
              </a:rPr>
              <a:t>W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392360" y="3727494"/>
            <a:ext cx="8142393" cy="2327485"/>
            <a:chOff x="1044269" y="2795620"/>
            <a:chExt cx="6106795" cy="1745614"/>
          </a:xfrm>
        </p:grpSpPr>
        <p:sp>
          <p:nvSpPr>
            <p:cNvPr id="44" name="object 44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0" y="-1114"/>
            <a:ext cx="15556992" cy="863326"/>
          </a:xfrm>
          <a:prstGeom prst="rect">
            <a:avLst/>
          </a:prstGeom>
        </p:spPr>
        <p:txBody>
          <a:bodyPr spcFirstLastPara="1" vert="horz" wrap="square" lIns="0" tIns="273380" rIns="0" bIns="0" rtlCol="0" anchor="ctr" anchorCtr="0">
            <a:spAutoFit/>
          </a:bodyPr>
          <a:lstStyle/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RNN:</a:t>
            </a:r>
            <a:r>
              <a:rPr sz="3733" spc="-113" dirty="0"/>
              <a:t> </a:t>
            </a:r>
            <a:r>
              <a:rPr sz="3733" spc="-13" dirty="0"/>
              <a:t>Computational</a:t>
            </a:r>
            <a:r>
              <a:rPr sz="3733" spc="-113" dirty="0"/>
              <a:t> </a:t>
            </a:r>
            <a:r>
              <a:rPr sz="3733" dirty="0"/>
              <a:t>Graph:</a:t>
            </a:r>
            <a:r>
              <a:rPr sz="3733" spc="-113" dirty="0"/>
              <a:t> </a:t>
            </a:r>
            <a:r>
              <a:rPr sz="3733" dirty="0"/>
              <a:t>One</a:t>
            </a:r>
            <a:r>
              <a:rPr sz="3733" spc="-113" dirty="0"/>
              <a:t> </a:t>
            </a:r>
            <a:r>
              <a:rPr sz="3733" dirty="0"/>
              <a:t>to</a:t>
            </a:r>
            <a:r>
              <a:rPr sz="3733" spc="-113" dirty="0"/>
              <a:t> </a:t>
            </a:r>
            <a:r>
              <a:rPr sz="3733" spc="-27" dirty="0"/>
              <a:t>Many</a:t>
            </a:r>
            <a:endParaRPr sz="3733" dirty="0"/>
          </a:p>
        </p:txBody>
      </p:sp>
      <p:sp>
        <p:nvSpPr>
          <p:cNvPr id="53" name="object 53"/>
          <p:cNvSpPr txBox="1"/>
          <p:nvPr/>
        </p:nvSpPr>
        <p:spPr>
          <a:xfrm>
            <a:off x="10305132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6310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54" name="object 5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10666" y="3332779"/>
            <a:ext cx="390767" cy="109307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79857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7450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484565" y="1362400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713713" y="2388265"/>
            <a:ext cx="4610947" cy="1940560"/>
            <a:chOff x="2785285" y="1791199"/>
            <a:chExt cx="3458210" cy="1455420"/>
          </a:xfrm>
        </p:grpSpPr>
        <p:sp>
          <p:nvSpPr>
            <p:cNvPr id="59" name="object 59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6471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06185" y="2814224"/>
              <a:ext cx="81981" cy="1055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4598702" y="4328399"/>
            <a:ext cx="529167" cy="69591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839369" y="4328266"/>
            <a:ext cx="529167" cy="69591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0534312" y="3930665"/>
            <a:ext cx="110067" cy="576579"/>
            <a:chOff x="7900734" y="2947999"/>
            <a:chExt cx="82550" cy="432434"/>
          </a:xfrm>
        </p:grpSpPr>
        <p:sp>
          <p:nvSpPr>
            <p:cNvPr id="71" name="object 71"/>
            <p:cNvSpPr/>
            <p:nvPr/>
          </p:nvSpPr>
          <p:spPr>
            <a:xfrm>
              <a:off x="7941725" y="3043975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72" name="object 7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34" y="2947999"/>
              <a:ext cx="81981" cy="105500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10324734" y="4506634"/>
            <a:ext cx="529167" cy="69591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51</a:t>
            </a:fld>
            <a:endParaRPr spc="-33" dirty="0"/>
          </a:p>
        </p:txBody>
      </p:sp>
      <p:sp>
        <p:nvSpPr>
          <p:cNvPr id="76" name="object 76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42034" y="6371852"/>
            <a:ext cx="212259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solidFill>
                  <a:srgbClr val="FFFFFF"/>
                </a:solidFill>
                <a:latin typeface="Arial MT"/>
                <a:cs typeface="Arial MT"/>
              </a:rPr>
              <a:t>April</a:t>
            </a:r>
            <a:r>
              <a:rPr sz="2667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FFFFFF"/>
                </a:solidFill>
                <a:latin typeface="Arial MT"/>
                <a:cs typeface="Arial MT"/>
              </a:rPr>
              <a:t>28,</a:t>
            </a:r>
            <a:r>
              <a:rPr sz="26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7" spc="-27" dirty="0">
                <a:solidFill>
                  <a:srgbClr val="FFFFFF"/>
                </a:solidFill>
                <a:latin typeface="Arial MT"/>
                <a:cs typeface="Arial MT"/>
              </a:rPr>
              <a:t>2022</a:t>
            </a:r>
            <a:endParaRPr sz="2667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57317" y="2862284"/>
            <a:ext cx="541020" cy="1050713"/>
            <a:chOff x="942987" y="2146712"/>
            <a:chExt cx="405765" cy="788035"/>
          </a:xfrm>
        </p:grpSpPr>
        <p:sp>
          <p:nvSpPr>
            <p:cNvPr id="6" name="object 6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7" name="object 7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356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98018" y="2862284"/>
            <a:ext cx="541020" cy="1050713"/>
            <a:chOff x="2623513" y="2146712"/>
            <a:chExt cx="405765" cy="788035"/>
          </a:xfrm>
        </p:grpSpPr>
        <p:sp>
          <p:nvSpPr>
            <p:cNvPr id="11" name="object 11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2" name="object 12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5763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91666" y="3332779"/>
            <a:ext cx="1688253" cy="1008380"/>
            <a:chOff x="1343749" y="2499584"/>
            <a:chExt cx="1266190" cy="756285"/>
          </a:xfrm>
        </p:grpSpPr>
        <p:sp>
          <p:nvSpPr>
            <p:cNvPr id="15" name="object 15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508909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38681" y="2862284"/>
            <a:ext cx="580812" cy="1050713"/>
            <a:chOff x="4304010" y="2146712"/>
            <a:chExt cx="435609" cy="788035"/>
          </a:xfrm>
        </p:grpSpPr>
        <p:sp>
          <p:nvSpPr>
            <p:cNvPr id="22" name="object 22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3" name="object 23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836768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032368" y="3332779"/>
            <a:ext cx="1688253" cy="110067"/>
            <a:chOff x="3024276" y="2499584"/>
            <a:chExt cx="1266190" cy="8255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749602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3450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857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2631" y="3332779"/>
            <a:ext cx="412367" cy="109307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7457602" y="3332872"/>
            <a:ext cx="503767" cy="110067"/>
            <a:chOff x="5593201" y="2499654"/>
            <a:chExt cx="377825" cy="82550"/>
          </a:xfrm>
        </p:grpSpPr>
        <p:sp>
          <p:nvSpPr>
            <p:cNvPr id="33" name="object 33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0305132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4776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53331" y="3332779"/>
            <a:ext cx="390768" cy="109307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10534277" y="2388265"/>
            <a:ext cx="110067" cy="480907"/>
            <a:chOff x="7900708" y="1791199"/>
            <a:chExt cx="82550" cy="360680"/>
          </a:xfrm>
        </p:grpSpPr>
        <p:sp>
          <p:nvSpPr>
            <p:cNvPr id="38" name="object 38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014800" y="2838089"/>
            <a:ext cx="84666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spc="-67" dirty="0">
                <a:latin typeface="Arial MT"/>
                <a:cs typeface="Arial MT"/>
              </a:rPr>
              <a:t>…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58034" y="4328266"/>
            <a:ext cx="529167" cy="69591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044709" y="4765177"/>
            <a:ext cx="721360" cy="693420"/>
            <a:chOff x="783532" y="3573882"/>
            <a:chExt cx="541020" cy="520065"/>
          </a:xfrm>
        </p:grpSpPr>
        <p:sp>
          <p:nvSpPr>
            <p:cNvPr id="43" name="object 43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4" name="object 44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148427" y="4834697"/>
            <a:ext cx="4182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67" dirty="0">
                <a:latin typeface="Arial MT"/>
                <a:cs typeface="Arial MT"/>
              </a:rPr>
              <a:t>W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392360" y="3727494"/>
            <a:ext cx="8142393" cy="2327485"/>
            <a:chOff x="1044269" y="2795620"/>
            <a:chExt cx="6106795" cy="1745614"/>
          </a:xfrm>
        </p:grpSpPr>
        <p:sp>
          <p:nvSpPr>
            <p:cNvPr id="47" name="object 47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xfrm>
            <a:off x="112339" y="154285"/>
            <a:ext cx="15556992" cy="863326"/>
          </a:xfrm>
          <a:prstGeom prst="rect">
            <a:avLst/>
          </a:prstGeom>
        </p:spPr>
        <p:txBody>
          <a:bodyPr spcFirstLastPara="1" vert="horz" wrap="square" lIns="0" tIns="273380" rIns="0" bIns="0" rtlCol="0" anchor="ctr" anchorCtr="0">
            <a:spAutoFit/>
          </a:bodyPr>
          <a:lstStyle/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RNN:</a:t>
            </a:r>
            <a:r>
              <a:rPr sz="3733" spc="-113" dirty="0"/>
              <a:t> </a:t>
            </a:r>
            <a:r>
              <a:rPr sz="3733" spc="-13" dirty="0"/>
              <a:t>Computational</a:t>
            </a:r>
            <a:r>
              <a:rPr sz="3733" spc="-113" dirty="0"/>
              <a:t> </a:t>
            </a:r>
            <a:r>
              <a:rPr sz="3733" dirty="0"/>
              <a:t>Graph:</a:t>
            </a:r>
            <a:r>
              <a:rPr sz="3733" spc="-113" dirty="0"/>
              <a:t> </a:t>
            </a:r>
            <a:r>
              <a:rPr sz="3733" dirty="0"/>
              <a:t>One</a:t>
            </a:r>
            <a:r>
              <a:rPr sz="3733" spc="-113" dirty="0"/>
              <a:t> </a:t>
            </a:r>
            <a:r>
              <a:rPr sz="3733" dirty="0"/>
              <a:t>to</a:t>
            </a:r>
            <a:r>
              <a:rPr sz="3733" spc="-113" dirty="0"/>
              <a:t> </a:t>
            </a:r>
            <a:r>
              <a:rPr sz="3733" spc="-27" dirty="0"/>
              <a:t>Many</a:t>
            </a:r>
            <a:endParaRPr sz="3733"/>
          </a:p>
        </p:txBody>
      </p:sp>
      <p:sp>
        <p:nvSpPr>
          <p:cNvPr id="56" name="object 56"/>
          <p:cNvSpPr txBox="1"/>
          <p:nvPr/>
        </p:nvSpPr>
        <p:spPr>
          <a:xfrm>
            <a:off x="10305132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6310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57" name="object 5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10666" y="3332779"/>
            <a:ext cx="390767" cy="109307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79857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7450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484565" y="1362400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713713" y="2388265"/>
            <a:ext cx="4610947" cy="1940560"/>
            <a:chOff x="2785285" y="1791199"/>
            <a:chExt cx="3458210" cy="1455420"/>
          </a:xfrm>
        </p:grpSpPr>
        <p:sp>
          <p:nvSpPr>
            <p:cNvPr id="62" name="object 62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6471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06185" y="2814224"/>
              <a:ext cx="81981" cy="10550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70" name="object 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4598702" y="4328399"/>
            <a:ext cx="529167" cy="69591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839369" y="4328266"/>
            <a:ext cx="529167" cy="69591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10534312" y="3930665"/>
            <a:ext cx="110067" cy="576579"/>
            <a:chOff x="7900734" y="2947999"/>
            <a:chExt cx="82550" cy="432434"/>
          </a:xfrm>
        </p:grpSpPr>
        <p:sp>
          <p:nvSpPr>
            <p:cNvPr id="74" name="object 74"/>
            <p:cNvSpPr/>
            <p:nvPr/>
          </p:nvSpPr>
          <p:spPr>
            <a:xfrm>
              <a:off x="7941725" y="3043975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34" y="2947999"/>
              <a:ext cx="81981" cy="105500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10324734" y="4506634"/>
            <a:ext cx="529167" cy="69591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18385" y="4299293"/>
            <a:ext cx="580812" cy="1050713"/>
            <a:chOff x="7738788" y="3224469"/>
            <a:chExt cx="435609" cy="788035"/>
          </a:xfrm>
        </p:grpSpPr>
        <p:sp>
          <p:nvSpPr>
            <p:cNvPr id="3" name="object 3"/>
            <p:cNvSpPr/>
            <p:nvPr/>
          </p:nvSpPr>
          <p:spPr>
            <a:xfrm>
              <a:off x="7743550" y="3229231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4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" name="object 4"/>
            <p:cNvSpPr/>
            <p:nvPr/>
          </p:nvSpPr>
          <p:spPr>
            <a:xfrm>
              <a:off x="7743550" y="3229231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4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460339" y="4612436"/>
            <a:ext cx="16933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2400" spc="-67" dirty="0">
                <a:latin typeface="Arial MT"/>
                <a:cs typeface="Arial MT"/>
              </a:rPr>
              <a:t>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12739" y="4872788"/>
            <a:ext cx="164252" cy="1402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800" spc="-33" dirty="0">
                <a:latin typeface="Arial MT"/>
                <a:cs typeface="Arial MT"/>
              </a:rPr>
              <a:t>T-</a:t>
            </a:r>
            <a:r>
              <a:rPr sz="800" spc="-67" dirty="0"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57317" y="2862284"/>
            <a:ext cx="541020" cy="1050713"/>
            <a:chOff x="942987" y="2146712"/>
            <a:chExt cx="405765" cy="788035"/>
          </a:xfrm>
        </p:grpSpPr>
        <p:sp>
          <p:nvSpPr>
            <p:cNvPr id="8" name="object 8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9" name="object 9"/>
            <p:cNvSpPr/>
            <p:nvPr/>
          </p:nvSpPr>
          <p:spPr>
            <a:xfrm>
              <a:off x="947749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40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356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0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68218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98018" y="2862284"/>
            <a:ext cx="541020" cy="1050713"/>
            <a:chOff x="2623513" y="2146712"/>
            <a:chExt cx="405765" cy="788035"/>
          </a:xfrm>
        </p:grpSpPr>
        <p:sp>
          <p:nvSpPr>
            <p:cNvPr id="13" name="object 13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3959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395999" y="0"/>
                  </a:lnTo>
                  <a:lnTo>
                    <a:pt x="3959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4" name="object 14"/>
            <p:cNvSpPr/>
            <p:nvPr/>
          </p:nvSpPr>
          <p:spPr>
            <a:xfrm>
              <a:off x="2628276" y="2151475"/>
              <a:ext cx="396240" cy="778510"/>
            </a:xfrm>
            <a:custGeom>
              <a:avLst/>
              <a:gdLst/>
              <a:ahLst/>
              <a:cxnLst/>
              <a:rect l="l" t="t" r="r" b="b"/>
              <a:pathLst>
                <a:path w="396239" h="778510">
                  <a:moveTo>
                    <a:pt x="0" y="0"/>
                  </a:moveTo>
                  <a:lnTo>
                    <a:pt x="395999" y="0"/>
                  </a:lnTo>
                  <a:lnTo>
                    <a:pt x="3959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76304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91666" y="3332779"/>
            <a:ext cx="1688253" cy="1008380"/>
            <a:chOff x="1343749" y="2499584"/>
            <a:chExt cx="1266190" cy="756285"/>
          </a:xfrm>
        </p:grpSpPr>
        <p:sp>
          <p:nvSpPr>
            <p:cNvPr id="17" name="object 17"/>
            <p:cNvSpPr/>
            <p:nvPr/>
          </p:nvSpPr>
          <p:spPr>
            <a:xfrm>
              <a:off x="1966675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685" y="2814224"/>
              <a:ext cx="81980" cy="1055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749" y="2499584"/>
              <a:ext cx="338975" cy="819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232163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38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508909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4297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38681" y="2862284"/>
            <a:ext cx="580812" cy="1050713"/>
            <a:chOff x="4304010" y="2146712"/>
            <a:chExt cx="435609" cy="788035"/>
          </a:xfrm>
        </p:grpSpPr>
        <p:sp>
          <p:nvSpPr>
            <p:cNvPr id="24" name="object 24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425699" y="778199"/>
                  </a:moveTo>
                  <a:lnTo>
                    <a:pt x="0" y="778199"/>
                  </a:lnTo>
                  <a:lnTo>
                    <a:pt x="0" y="0"/>
                  </a:lnTo>
                  <a:lnTo>
                    <a:pt x="425699" y="0"/>
                  </a:lnTo>
                  <a:lnTo>
                    <a:pt x="425699" y="778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5" name="object 25"/>
            <p:cNvSpPr/>
            <p:nvPr/>
          </p:nvSpPr>
          <p:spPr>
            <a:xfrm>
              <a:off x="4308773" y="2151475"/>
              <a:ext cx="426084" cy="778510"/>
            </a:xfrm>
            <a:custGeom>
              <a:avLst/>
              <a:gdLst/>
              <a:ahLst/>
              <a:cxnLst/>
              <a:rect l="l" t="t" r="r" b="b"/>
              <a:pathLst>
                <a:path w="426085" h="778510">
                  <a:moveTo>
                    <a:pt x="0" y="0"/>
                  </a:moveTo>
                  <a:lnTo>
                    <a:pt x="425699" y="0"/>
                  </a:lnTo>
                  <a:lnTo>
                    <a:pt x="425699" y="778199"/>
                  </a:lnTo>
                  <a:lnTo>
                    <a:pt x="0" y="778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836768" y="3175429"/>
            <a:ext cx="3843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032368" y="3332779"/>
            <a:ext cx="1688253" cy="110067"/>
            <a:chOff x="3024276" y="2499584"/>
            <a:chExt cx="1266190" cy="8255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276" y="2499584"/>
              <a:ext cx="338975" cy="819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12682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4857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749602" y="3047326"/>
            <a:ext cx="708660" cy="572807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79587" rIns="0" bIns="0" rtlCol="0">
            <a:spAutoFit/>
          </a:bodyPr>
          <a:lstStyle/>
          <a:p>
            <a:pPr marL="113450">
              <a:spcBef>
                <a:spcPts val="627"/>
              </a:spcBef>
            </a:pPr>
            <a:r>
              <a:rPr sz="3200" spc="-33" dirty="0">
                <a:latin typeface="Arial MT"/>
                <a:cs typeface="Arial MT"/>
              </a:rPr>
              <a:t>f</a:t>
            </a:r>
            <a:r>
              <a:rPr sz="3200" spc="-49" baseline="-31250" dirty="0">
                <a:latin typeface="Arial MT"/>
                <a:cs typeface="Arial MT"/>
              </a:rPr>
              <a:t>W</a:t>
            </a:r>
            <a:endParaRPr sz="3200" baseline="-312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85731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2236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2631" y="3332779"/>
            <a:ext cx="412367" cy="109307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7457602" y="3332872"/>
            <a:ext cx="503767" cy="110067"/>
            <a:chOff x="5593201" y="2499654"/>
            <a:chExt cx="377825" cy="82550"/>
          </a:xfrm>
        </p:grpSpPr>
        <p:sp>
          <p:nvSpPr>
            <p:cNvPr id="35" name="object 35"/>
            <p:cNvSpPr/>
            <p:nvPr/>
          </p:nvSpPr>
          <p:spPr>
            <a:xfrm>
              <a:off x="5593201" y="2540644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69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5376" y="2499654"/>
              <a:ext cx="105500" cy="8198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0305132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44776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53331" y="3332779"/>
            <a:ext cx="390768" cy="109307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10534277" y="2388265"/>
            <a:ext cx="110067" cy="480907"/>
            <a:chOff x="7900708" y="1791199"/>
            <a:chExt cx="82550" cy="360680"/>
          </a:xfrm>
        </p:grpSpPr>
        <p:sp>
          <p:nvSpPr>
            <p:cNvPr id="40" name="object 40"/>
            <p:cNvSpPr/>
            <p:nvPr/>
          </p:nvSpPr>
          <p:spPr>
            <a:xfrm>
              <a:off x="7941699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00708" y="1791199"/>
              <a:ext cx="81981" cy="10550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9014800" y="2838089"/>
            <a:ext cx="84666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spc="-67" dirty="0">
                <a:latin typeface="Arial MT"/>
                <a:cs typeface="Arial MT"/>
              </a:rPr>
              <a:t>…</a:t>
            </a:r>
            <a:endParaRPr sz="6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358034" y="4328266"/>
            <a:ext cx="529167" cy="69591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323427" rIns="0" bIns="0" rtlCol="0">
            <a:spAutoFit/>
          </a:bodyPr>
          <a:lstStyle/>
          <a:p>
            <a:pPr algn="ctr">
              <a:spcBef>
                <a:spcPts val="2547"/>
              </a:spcBef>
            </a:pPr>
            <a:r>
              <a:rPr sz="2400" spc="-67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044709" y="4765177"/>
            <a:ext cx="721360" cy="693420"/>
            <a:chOff x="783532" y="3573882"/>
            <a:chExt cx="541020" cy="520065"/>
          </a:xfrm>
        </p:grpSpPr>
        <p:sp>
          <p:nvSpPr>
            <p:cNvPr id="45" name="object 45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530999" y="510299"/>
                  </a:moveTo>
                  <a:lnTo>
                    <a:pt x="0" y="510299"/>
                  </a:lnTo>
                  <a:lnTo>
                    <a:pt x="0" y="0"/>
                  </a:lnTo>
                  <a:lnTo>
                    <a:pt x="530999" y="0"/>
                  </a:lnTo>
                  <a:lnTo>
                    <a:pt x="530999" y="5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6" name="object 46"/>
            <p:cNvSpPr/>
            <p:nvPr/>
          </p:nvSpPr>
          <p:spPr>
            <a:xfrm>
              <a:off x="788295" y="3578645"/>
              <a:ext cx="531495" cy="510540"/>
            </a:xfrm>
            <a:custGeom>
              <a:avLst/>
              <a:gdLst/>
              <a:ahLst/>
              <a:cxnLst/>
              <a:rect l="l" t="t" r="r" b="b"/>
              <a:pathLst>
                <a:path w="531494" h="510539">
                  <a:moveTo>
                    <a:pt x="0" y="0"/>
                  </a:moveTo>
                  <a:lnTo>
                    <a:pt x="530999" y="0"/>
                  </a:lnTo>
                  <a:lnTo>
                    <a:pt x="530999" y="510299"/>
                  </a:lnTo>
                  <a:lnTo>
                    <a:pt x="0" y="510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148427" y="4834697"/>
            <a:ext cx="4182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67" dirty="0">
                <a:latin typeface="Arial MT"/>
                <a:cs typeface="Arial MT"/>
              </a:rPr>
              <a:t>W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392360" y="3727494"/>
            <a:ext cx="8142393" cy="2327485"/>
            <a:chOff x="1044269" y="2795620"/>
            <a:chExt cx="6106795" cy="1745614"/>
          </a:xfrm>
        </p:grpSpPr>
        <p:sp>
          <p:nvSpPr>
            <p:cNvPr id="49" name="object 49"/>
            <p:cNvSpPr/>
            <p:nvPr/>
          </p:nvSpPr>
          <p:spPr>
            <a:xfrm>
              <a:off x="1053794" y="2891564"/>
              <a:ext cx="2342515" cy="1485900"/>
            </a:xfrm>
            <a:custGeom>
              <a:avLst/>
              <a:gdLst/>
              <a:ahLst/>
              <a:cxnLst/>
              <a:rect l="l" t="t" r="r" b="b"/>
              <a:pathLst>
                <a:path w="2342515" h="1485900">
                  <a:moveTo>
                    <a:pt x="0" y="1197380"/>
                  </a:moveTo>
                  <a:lnTo>
                    <a:pt x="20923" y="1242301"/>
                  </a:lnTo>
                  <a:lnTo>
                    <a:pt x="56629" y="1276512"/>
                  </a:lnTo>
                  <a:lnTo>
                    <a:pt x="108072" y="1312396"/>
                  </a:lnTo>
                  <a:lnTo>
                    <a:pt x="173822" y="1348464"/>
                  </a:lnTo>
                  <a:lnTo>
                    <a:pt x="211614" y="1366101"/>
                  </a:lnTo>
                  <a:lnTo>
                    <a:pt x="252447" y="1383225"/>
                  </a:lnTo>
                  <a:lnTo>
                    <a:pt x="296141" y="1399650"/>
                  </a:lnTo>
                  <a:lnTo>
                    <a:pt x="342517" y="1415190"/>
                  </a:lnTo>
                  <a:lnTo>
                    <a:pt x="391398" y="1429658"/>
                  </a:lnTo>
                  <a:lnTo>
                    <a:pt x="442602" y="1442868"/>
                  </a:lnTo>
                  <a:lnTo>
                    <a:pt x="495953" y="1454634"/>
                  </a:lnTo>
                  <a:lnTo>
                    <a:pt x="551271" y="1464771"/>
                  </a:lnTo>
                  <a:lnTo>
                    <a:pt x="608377" y="1473090"/>
                  </a:lnTo>
                  <a:lnTo>
                    <a:pt x="667093" y="1479407"/>
                  </a:lnTo>
                  <a:lnTo>
                    <a:pt x="727239" y="1483535"/>
                  </a:lnTo>
                  <a:lnTo>
                    <a:pt x="788637" y="1485288"/>
                  </a:lnTo>
                  <a:lnTo>
                    <a:pt x="851108" y="1484480"/>
                  </a:lnTo>
                  <a:lnTo>
                    <a:pt x="914474" y="1480924"/>
                  </a:lnTo>
                  <a:lnTo>
                    <a:pt x="978554" y="1474435"/>
                  </a:lnTo>
                  <a:lnTo>
                    <a:pt x="1043171" y="1464825"/>
                  </a:lnTo>
                  <a:lnTo>
                    <a:pt x="1108146" y="1451909"/>
                  </a:lnTo>
                  <a:lnTo>
                    <a:pt x="1173299" y="1435501"/>
                  </a:lnTo>
                  <a:lnTo>
                    <a:pt x="1217289" y="1422371"/>
                  </a:lnTo>
                  <a:lnTo>
                    <a:pt x="1261224" y="1407591"/>
                  </a:lnTo>
                  <a:lnTo>
                    <a:pt x="1305048" y="1391189"/>
                  </a:lnTo>
                  <a:lnTo>
                    <a:pt x="1348708" y="1373190"/>
                  </a:lnTo>
                  <a:lnTo>
                    <a:pt x="1392147" y="1353621"/>
                  </a:lnTo>
                  <a:lnTo>
                    <a:pt x="1435312" y="1332509"/>
                  </a:lnTo>
                  <a:lnTo>
                    <a:pt x="1478147" y="1309879"/>
                  </a:lnTo>
                  <a:lnTo>
                    <a:pt x="1520596" y="1285760"/>
                  </a:lnTo>
                  <a:lnTo>
                    <a:pt x="1562606" y="1260176"/>
                  </a:lnTo>
                  <a:lnTo>
                    <a:pt x="1604121" y="1233155"/>
                  </a:lnTo>
                  <a:lnTo>
                    <a:pt x="1645085" y="1204724"/>
                  </a:lnTo>
                  <a:lnTo>
                    <a:pt x="1685445" y="1174908"/>
                  </a:lnTo>
                  <a:lnTo>
                    <a:pt x="1725145" y="1143734"/>
                  </a:lnTo>
                  <a:lnTo>
                    <a:pt x="1764129" y="1111229"/>
                  </a:lnTo>
                  <a:lnTo>
                    <a:pt x="1802344" y="1077420"/>
                  </a:lnTo>
                  <a:lnTo>
                    <a:pt x="1839734" y="1042332"/>
                  </a:lnTo>
                  <a:lnTo>
                    <a:pt x="1876244" y="1005993"/>
                  </a:lnTo>
                  <a:lnTo>
                    <a:pt x="1911819" y="968429"/>
                  </a:lnTo>
                  <a:lnTo>
                    <a:pt x="1946403" y="929666"/>
                  </a:lnTo>
                  <a:lnTo>
                    <a:pt x="1979943" y="889732"/>
                  </a:lnTo>
                  <a:lnTo>
                    <a:pt x="2009481" y="852433"/>
                  </a:lnTo>
                  <a:lnTo>
                    <a:pt x="2038068" y="814207"/>
                  </a:lnTo>
                  <a:lnTo>
                    <a:pt x="2065664" y="775075"/>
                  </a:lnTo>
                  <a:lnTo>
                    <a:pt x="2092226" y="735055"/>
                  </a:lnTo>
                  <a:lnTo>
                    <a:pt x="2117715" y="694169"/>
                  </a:lnTo>
                  <a:lnTo>
                    <a:pt x="2142087" y="652436"/>
                  </a:lnTo>
                  <a:lnTo>
                    <a:pt x="2165303" y="609875"/>
                  </a:lnTo>
                  <a:lnTo>
                    <a:pt x="2187320" y="566508"/>
                  </a:lnTo>
                  <a:lnTo>
                    <a:pt x="2208098" y="522353"/>
                  </a:lnTo>
                  <a:lnTo>
                    <a:pt x="2227595" y="477432"/>
                  </a:lnTo>
                  <a:lnTo>
                    <a:pt x="2245769" y="431762"/>
                  </a:lnTo>
                  <a:lnTo>
                    <a:pt x="2264184" y="380687"/>
                  </a:lnTo>
                  <a:lnTo>
                    <a:pt x="2280895" y="328758"/>
                  </a:lnTo>
                  <a:lnTo>
                    <a:pt x="2295845" y="276002"/>
                  </a:lnTo>
                  <a:lnTo>
                    <a:pt x="2308981" y="222445"/>
                  </a:lnTo>
                  <a:lnTo>
                    <a:pt x="2320246" y="168114"/>
                  </a:lnTo>
                  <a:lnTo>
                    <a:pt x="2331615" y="99153"/>
                  </a:lnTo>
                  <a:lnTo>
                    <a:pt x="2339868" y="29075"/>
                  </a:lnTo>
                  <a:lnTo>
                    <a:pt x="2342138" y="2519"/>
                  </a:lnTo>
                  <a:lnTo>
                    <a:pt x="23423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150" y="2795649"/>
              <a:ext cx="81936" cy="10661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53794" y="2919900"/>
              <a:ext cx="643255" cy="659130"/>
            </a:xfrm>
            <a:custGeom>
              <a:avLst/>
              <a:gdLst/>
              <a:ahLst/>
              <a:cxnLst/>
              <a:rect l="l" t="t" r="r" b="b"/>
              <a:pathLst>
                <a:path w="643255" h="659129">
                  <a:moveTo>
                    <a:pt x="0" y="658744"/>
                  </a:moveTo>
                  <a:lnTo>
                    <a:pt x="3992" y="608493"/>
                  </a:lnTo>
                  <a:lnTo>
                    <a:pt x="15469" y="562586"/>
                  </a:lnTo>
                  <a:lnTo>
                    <a:pt x="33684" y="520590"/>
                  </a:lnTo>
                  <a:lnTo>
                    <a:pt x="57886" y="482069"/>
                  </a:lnTo>
                  <a:lnTo>
                    <a:pt x="87329" y="446589"/>
                  </a:lnTo>
                  <a:lnTo>
                    <a:pt x="121262" y="413716"/>
                  </a:lnTo>
                  <a:lnTo>
                    <a:pt x="158938" y="383015"/>
                  </a:lnTo>
                  <a:lnTo>
                    <a:pt x="199609" y="354051"/>
                  </a:lnTo>
                  <a:lnTo>
                    <a:pt x="242525" y="326392"/>
                  </a:lnTo>
                  <a:lnTo>
                    <a:pt x="286938" y="299601"/>
                  </a:lnTo>
                  <a:lnTo>
                    <a:pt x="332099" y="273244"/>
                  </a:lnTo>
                  <a:lnTo>
                    <a:pt x="381748" y="244235"/>
                  </a:lnTo>
                  <a:lnTo>
                    <a:pt x="430401" y="214648"/>
                  </a:lnTo>
                  <a:lnTo>
                    <a:pt x="477061" y="183904"/>
                  </a:lnTo>
                  <a:lnTo>
                    <a:pt x="520732" y="151426"/>
                  </a:lnTo>
                  <a:lnTo>
                    <a:pt x="560418" y="116635"/>
                  </a:lnTo>
                  <a:lnTo>
                    <a:pt x="602904" y="69012"/>
                  </a:lnTo>
                  <a:lnTo>
                    <a:pt x="635659" y="15742"/>
                  </a:lnTo>
                  <a:lnTo>
                    <a:pt x="642100" y="1410"/>
                  </a:lnTo>
                  <a:lnTo>
                    <a:pt x="64267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6044" y="2825470"/>
              <a:ext cx="80855" cy="10987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53794" y="2891446"/>
              <a:ext cx="4020820" cy="1547495"/>
            </a:xfrm>
            <a:custGeom>
              <a:avLst/>
              <a:gdLst/>
              <a:ahLst/>
              <a:cxnLst/>
              <a:rect l="l" t="t" r="r" b="b"/>
              <a:pathLst>
                <a:path w="4020820" h="1547495">
                  <a:moveTo>
                    <a:pt x="0" y="1197498"/>
                  </a:moveTo>
                  <a:lnTo>
                    <a:pt x="24205" y="1242484"/>
                  </a:lnTo>
                  <a:lnTo>
                    <a:pt x="53611" y="1267119"/>
                  </a:lnTo>
                  <a:lnTo>
                    <a:pt x="93796" y="1292698"/>
                  </a:lnTo>
                  <a:lnTo>
                    <a:pt x="144193" y="1318859"/>
                  </a:lnTo>
                  <a:lnTo>
                    <a:pt x="204234" y="1345239"/>
                  </a:lnTo>
                  <a:lnTo>
                    <a:pt x="273352" y="1371476"/>
                  </a:lnTo>
                  <a:lnTo>
                    <a:pt x="311138" y="1384426"/>
                  </a:lnTo>
                  <a:lnTo>
                    <a:pt x="350980" y="1397205"/>
                  </a:lnTo>
                  <a:lnTo>
                    <a:pt x="392808" y="1409767"/>
                  </a:lnTo>
                  <a:lnTo>
                    <a:pt x="436551" y="1422066"/>
                  </a:lnTo>
                  <a:lnTo>
                    <a:pt x="482137" y="1434057"/>
                  </a:lnTo>
                  <a:lnTo>
                    <a:pt x="529496" y="1445695"/>
                  </a:lnTo>
                  <a:lnTo>
                    <a:pt x="578557" y="1456934"/>
                  </a:lnTo>
                  <a:lnTo>
                    <a:pt x="629249" y="1467729"/>
                  </a:lnTo>
                  <a:lnTo>
                    <a:pt x="681502" y="1478035"/>
                  </a:lnTo>
                  <a:lnTo>
                    <a:pt x="735243" y="1487806"/>
                  </a:lnTo>
                  <a:lnTo>
                    <a:pt x="790403" y="1496997"/>
                  </a:lnTo>
                  <a:lnTo>
                    <a:pt x="846910" y="1505563"/>
                  </a:lnTo>
                  <a:lnTo>
                    <a:pt x="904694" y="1513458"/>
                  </a:lnTo>
                  <a:lnTo>
                    <a:pt x="963683" y="1520637"/>
                  </a:lnTo>
                  <a:lnTo>
                    <a:pt x="1023807" y="1527055"/>
                  </a:lnTo>
                  <a:lnTo>
                    <a:pt x="1084995" y="1532666"/>
                  </a:lnTo>
                  <a:lnTo>
                    <a:pt x="1147175" y="1537425"/>
                  </a:lnTo>
                  <a:lnTo>
                    <a:pt x="1210277" y="1541287"/>
                  </a:lnTo>
                  <a:lnTo>
                    <a:pt x="1274231" y="1544206"/>
                  </a:lnTo>
                  <a:lnTo>
                    <a:pt x="1338964" y="1546137"/>
                  </a:lnTo>
                  <a:lnTo>
                    <a:pt x="1404407" y="1547035"/>
                  </a:lnTo>
                  <a:lnTo>
                    <a:pt x="1470487" y="1546854"/>
                  </a:lnTo>
                  <a:lnTo>
                    <a:pt x="1537135" y="1545549"/>
                  </a:lnTo>
                  <a:lnTo>
                    <a:pt x="1604280" y="1543075"/>
                  </a:lnTo>
                  <a:lnTo>
                    <a:pt x="1671850" y="1539386"/>
                  </a:lnTo>
                  <a:lnTo>
                    <a:pt x="1739774" y="1534437"/>
                  </a:lnTo>
                  <a:lnTo>
                    <a:pt x="1807982" y="1528182"/>
                  </a:lnTo>
                  <a:lnTo>
                    <a:pt x="1876403" y="1520577"/>
                  </a:lnTo>
                  <a:lnTo>
                    <a:pt x="1944966" y="1511576"/>
                  </a:lnTo>
                  <a:lnTo>
                    <a:pt x="2013599" y="1501133"/>
                  </a:lnTo>
                  <a:lnTo>
                    <a:pt x="2063935" y="1492538"/>
                  </a:lnTo>
                  <a:lnTo>
                    <a:pt x="2114242" y="1483151"/>
                  </a:lnTo>
                  <a:lnTo>
                    <a:pt x="2164494" y="1472983"/>
                  </a:lnTo>
                  <a:lnTo>
                    <a:pt x="2214661" y="1462041"/>
                  </a:lnTo>
                  <a:lnTo>
                    <a:pt x="2264717" y="1450335"/>
                  </a:lnTo>
                  <a:lnTo>
                    <a:pt x="2314633" y="1437873"/>
                  </a:lnTo>
                  <a:lnTo>
                    <a:pt x="2364381" y="1424664"/>
                  </a:lnTo>
                  <a:lnTo>
                    <a:pt x="2413933" y="1410717"/>
                  </a:lnTo>
                  <a:lnTo>
                    <a:pt x="2463262" y="1396041"/>
                  </a:lnTo>
                  <a:lnTo>
                    <a:pt x="2512338" y="1380644"/>
                  </a:lnTo>
                  <a:lnTo>
                    <a:pt x="2561136" y="1364535"/>
                  </a:lnTo>
                  <a:lnTo>
                    <a:pt x="2609625" y="1347724"/>
                  </a:lnTo>
                  <a:lnTo>
                    <a:pt x="2657779" y="1330218"/>
                  </a:lnTo>
                  <a:lnTo>
                    <a:pt x="2705569" y="1312026"/>
                  </a:lnTo>
                  <a:lnTo>
                    <a:pt x="2752968" y="1293158"/>
                  </a:lnTo>
                  <a:lnTo>
                    <a:pt x="2799948" y="1273622"/>
                  </a:lnTo>
                  <a:lnTo>
                    <a:pt x="2846479" y="1253426"/>
                  </a:lnTo>
                  <a:lnTo>
                    <a:pt x="2892536" y="1232581"/>
                  </a:lnTo>
                  <a:lnTo>
                    <a:pt x="2938089" y="1211093"/>
                  </a:lnTo>
                  <a:lnTo>
                    <a:pt x="2983111" y="1188973"/>
                  </a:lnTo>
                  <a:lnTo>
                    <a:pt x="3027573" y="1166228"/>
                  </a:lnTo>
                  <a:lnTo>
                    <a:pt x="3071448" y="1142869"/>
                  </a:lnTo>
                  <a:lnTo>
                    <a:pt x="3114708" y="1118902"/>
                  </a:lnTo>
                  <a:lnTo>
                    <a:pt x="3157324" y="1094338"/>
                  </a:lnTo>
                  <a:lnTo>
                    <a:pt x="3199270" y="1069185"/>
                  </a:lnTo>
                  <a:lnTo>
                    <a:pt x="3240516" y="1043452"/>
                  </a:lnTo>
                  <a:lnTo>
                    <a:pt x="3281035" y="1017147"/>
                  </a:lnTo>
                  <a:lnTo>
                    <a:pt x="3320799" y="990279"/>
                  </a:lnTo>
                  <a:lnTo>
                    <a:pt x="3359780" y="962858"/>
                  </a:lnTo>
                  <a:lnTo>
                    <a:pt x="3397949" y="934891"/>
                  </a:lnTo>
                  <a:lnTo>
                    <a:pt x="3440947" y="901956"/>
                  </a:lnTo>
                  <a:lnTo>
                    <a:pt x="3482785" y="868320"/>
                  </a:lnTo>
                  <a:lnTo>
                    <a:pt x="3523420" y="833997"/>
                  </a:lnTo>
                  <a:lnTo>
                    <a:pt x="3562809" y="799001"/>
                  </a:lnTo>
                  <a:lnTo>
                    <a:pt x="3600909" y="763344"/>
                  </a:lnTo>
                  <a:lnTo>
                    <a:pt x="3637677" y="727040"/>
                  </a:lnTo>
                  <a:lnTo>
                    <a:pt x="3673071" y="690103"/>
                  </a:lnTo>
                  <a:lnTo>
                    <a:pt x="3707047" y="652546"/>
                  </a:lnTo>
                  <a:lnTo>
                    <a:pt x="3739562" y="614383"/>
                  </a:lnTo>
                  <a:lnTo>
                    <a:pt x="3770573" y="575627"/>
                  </a:lnTo>
                  <a:lnTo>
                    <a:pt x="3800038" y="536292"/>
                  </a:lnTo>
                  <a:lnTo>
                    <a:pt x="3827913" y="496391"/>
                  </a:lnTo>
                  <a:lnTo>
                    <a:pt x="3854156" y="455937"/>
                  </a:lnTo>
                  <a:lnTo>
                    <a:pt x="3880693" y="411504"/>
                  </a:lnTo>
                  <a:lnTo>
                    <a:pt x="3905209" y="366456"/>
                  </a:lnTo>
                  <a:lnTo>
                    <a:pt x="3927650" y="320810"/>
                  </a:lnTo>
                  <a:lnTo>
                    <a:pt x="3947960" y="274582"/>
                  </a:lnTo>
                  <a:lnTo>
                    <a:pt x="3966086" y="227791"/>
                  </a:lnTo>
                  <a:lnTo>
                    <a:pt x="3981972" y="180453"/>
                  </a:lnTo>
                  <a:lnTo>
                    <a:pt x="4001482" y="108457"/>
                  </a:lnTo>
                  <a:lnTo>
                    <a:pt x="4015647" y="35328"/>
                  </a:lnTo>
                  <a:lnTo>
                    <a:pt x="4018331" y="16875"/>
                  </a:lnTo>
                  <a:lnTo>
                    <a:pt x="4018749" y="13794"/>
                  </a:lnTo>
                  <a:lnTo>
                    <a:pt x="4019153" y="10710"/>
                  </a:lnTo>
                  <a:lnTo>
                    <a:pt x="4019542" y="7624"/>
                  </a:lnTo>
                  <a:lnTo>
                    <a:pt x="402046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33326" y="2795620"/>
              <a:ext cx="81871" cy="10720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053794" y="3115147"/>
              <a:ext cx="6056630" cy="1416685"/>
            </a:xfrm>
            <a:custGeom>
              <a:avLst/>
              <a:gdLst/>
              <a:ahLst/>
              <a:cxnLst/>
              <a:rect l="l" t="t" r="r" b="b"/>
              <a:pathLst>
                <a:path w="6056630" h="1416685">
                  <a:moveTo>
                    <a:pt x="0" y="973797"/>
                  </a:moveTo>
                  <a:lnTo>
                    <a:pt x="16881" y="1013172"/>
                  </a:lnTo>
                  <a:lnTo>
                    <a:pt x="50886" y="1044214"/>
                  </a:lnTo>
                  <a:lnTo>
                    <a:pt x="83224" y="1065427"/>
                  </a:lnTo>
                  <a:lnTo>
                    <a:pt x="122986" y="1086930"/>
                  </a:lnTo>
                  <a:lnTo>
                    <a:pt x="169906" y="1108615"/>
                  </a:lnTo>
                  <a:lnTo>
                    <a:pt x="223721" y="1130376"/>
                  </a:lnTo>
                  <a:lnTo>
                    <a:pt x="284164" y="1152104"/>
                  </a:lnTo>
                  <a:lnTo>
                    <a:pt x="350972" y="1173693"/>
                  </a:lnTo>
                  <a:lnTo>
                    <a:pt x="423877" y="1195036"/>
                  </a:lnTo>
                  <a:lnTo>
                    <a:pt x="462534" y="1205581"/>
                  </a:lnTo>
                  <a:lnTo>
                    <a:pt x="502616" y="1216025"/>
                  </a:lnTo>
                  <a:lnTo>
                    <a:pt x="544090" y="1226353"/>
                  </a:lnTo>
                  <a:lnTo>
                    <a:pt x="586923" y="1236553"/>
                  </a:lnTo>
                  <a:lnTo>
                    <a:pt x="631082" y="1246610"/>
                  </a:lnTo>
                  <a:lnTo>
                    <a:pt x="676533" y="1256512"/>
                  </a:lnTo>
                  <a:lnTo>
                    <a:pt x="723244" y="1266246"/>
                  </a:lnTo>
                  <a:lnTo>
                    <a:pt x="771181" y="1275797"/>
                  </a:lnTo>
                  <a:lnTo>
                    <a:pt x="820312" y="1285152"/>
                  </a:lnTo>
                  <a:lnTo>
                    <a:pt x="870602" y="1294299"/>
                  </a:lnTo>
                  <a:lnTo>
                    <a:pt x="922019" y="1303222"/>
                  </a:lnTo>
                  <a:lnTo>
                    <a:pt x="974530" y="1311910"/>
                  </a:lnTo>
                  <a:lnTo>
                    <a:pt x="1028102" y="1320349"/>
                  </a:lnTo>
                  <a:lnTo>
                    <a:pt x="1082701" y="1328525"/>
                  </a:lnTo>
                  <a:lnTo>
                    <a:pt x="1138294" y="1336425"/>
                  </a:lnTo>
                  <a:lnTo>
                    <a:pt x="1194849" y="1344035"/>
                  </a:lnTo>
                  <a:lnTo>
                    <a:pt x="1252332" y="1351343"/>
                  </a:lnTo>
                  <a:lnTo>
                    <a:pt x="1310709" y="1358334"/>
                  </a:lnTo>
                  <a:lnTo>
                    <a:pt x="1369948" y="1364996"/>
                  </a:lnTo>
                  <a:lnTo>
                    <a:pt x="1430016" y="1371314"/>
                  </a:lnTo>
                  <a:lnTo>
                    <a:pt x="1490879" y="1377276"/>
                  </a:lnTo>
                  <a:lnTo>
                    <a:pt x="1552505" y="1382868"/>
                  </a:lnTo>
                  <a:lnTo>
                    <a:pt x="1614860" y="1388077"/>
                  </a:lnTo>
                  <a:lnTo>
                    <a:pt x="1677911" y="1392889"/>
                  </a:lnTo>
                  <a:lnTo>
                    <a:pt x="1741624" y="1397291"/>
                  </a:lnTo>
                  <a:lnTo>
                    <a:pt x="1805968" y="1401269"/>
                  </a:lnTo>
                  <a:lnTo>
                    <a:pt x="1870908" y="1404811"/>
                  </a:lnTo>
                  <a:lnTo>
                    <a:pt x="1936411" y="1407902"/>
                  </a:lnTo>
                  <a:lnTo>
                    <a:pt x="2002445" y="1410529"/>
                  </a:lnTo>
                  <a:lnTo>
                    <a:pt x="2068976" y="1412679"/>
                  </a:lnTo>
                  <a:lnTo>
                    <a:pt x="2135971" y="1414339"/>
                  </a:lnTo>
                  <a:lnTo>
                    <a:pt x="2203396" y="1415495"/>
                  </a:lnTo>
                  <a:lnTo>
                    <a:pt x="2271220" y="1416133"/>
                  </a:lnTo>
                  <a:lnTo>
                    <a:pt x="2339408" y="1416241"/>
                  </a:lnTo>
                  <a:lnTo>
                    <a:pt x="2407928" y="1415804"/>
                  </a:lnTo>
                  <a:lnTo>
                    <a:pt x="2476745" y="1414810"/>
                  </a:lnTo>
                  <a:lnTo>
                    <a:pt x="2545828" y="1413245"/>
                  </a:lnTo>
                  <a:lnTo>
                    <a:pt x="2615143" y="1411095"/>
                  </a:lnTo>
                  <a:lnTo>
                    <a:pt x="2684657" y="1408348"/>
                  </a:lnTo>
                  <a:lnTo>
                    <a:pt x="2754337" y="1404990"/>
                  </a:lnTo>
                  <a:lnTo>
                    <a:pt x="2824149" y="1401007"/>
                  </a:lnTo>
                  <a:lnTo>
                    <a:pt x="2894061" y="1396386"/>
                  </a:lnTo>
                  <a:lnTo>
                    <a:pt x="2964038" y="1391113"/>
                  </a:lnTo>
                  <a:lnTo>
                    <a:pt x="3034049" y="1385176"/>
                  </a:lnTo>
                  <a:lnTo>
                    <a:pt x="3086967" y="1380241"/>
                  </a:lnTo>
                  <a:lnTo>
                    <a:pt x="3139869" y="1374922"/>
                  </a:lnTo>
                  <a:lnTo>
                    <a:pt x="3192744" y="1369221"/>
                  </a:lnTo>
                  <a:lnTo>
                    <a:pt x="3245575" y="1363143"/>
                  </a:lnTo>
                  <a:lnTo>
                    <a:pt x="3298349" y="1356691"/>
                  </a:lnTo>
                  <a:lnTo>
                    <a:pt x="3351051" y="1349867"/>
                  </a:lnTo>
                  <a:lnTo>
                    <a:pt x="3403668" y="1342675"/>
                  </a:lnTo>
                  <a:lnTo>
                    <a:pt x="3456184" y="1335118"/>
                  </a:lnTo>
                  <a:lnTo>
                    <a:pt x="3508586" y="1327199"/>
                  </a:lnTo>
                  <a:lnTo>
                    <a:pt x="3560859" y="1318922"/>
                  </a:lnTo>
                  <a:lnTo>
                    <a:pt x="3612989" y="1310290"/>
                  </a:lnTo>
                  <a:lnTo>
                    <a:pt x="3664962" y="1301306"/>
                  </a:lnTo>
                  <a:lnTo>
                    <a:pt x="3716763" y="1291973"/>
                  </a:lnTo>
                  <a:lnTo>
                    <a:pt x="3768378" y="1282294"/>
                  </a:lnTo>
                  <a:lnTo>
                    <a:pt x="3819792" y="1272274"/>
                  </a:lnTo>
                  <a:lnTo>
                    <a:pt x="3870992" y="1261914"/>
                  </a:lnTo>
                  <a:lnTo>
                    <a:pt x="3921963" y="1251218"/>
                  </a:lnTo>
                  <a:lnTo>
                    <a:pt x="3972690" y="1240190"/>
                  </a:lnTo>
                  <a:lnTo>
                    <a:pt x="4023161" y="1228832"/>
                  </a:lnTo>
                  <a:lnTo>
                    <a:pt x="4073359" y="1217148"/>
                  </a:lnTo>
                  <a:lnTo>
                    <a:pt x="4123271" y="1205141"/>
                  </a:lnTo>
                  <a:lnTo>
                    <a:pt x="4172882" y="1192815"/>
                  </a:lnTo>
                  <a:lnTo>
                    <a:pt x="4222179" y="1180171"/>
                  </a:lnTo>
                  <a:lnTo>
                    <a:pt x="4271146" y="1167215"/>
                  </a:lnTo>
                  <a:lnTo>
                    <a:pt x="4319770" y="1153948"/>
                  </a:lnTo>
                  <a:lnTo>
                    <a:pt x="4368036" y="1140375"/>
                  </a:lnTo>
                  <a:lnTo>
                    <a:pt x="4415931" y="1126498"/>
                  </a:lnTo>
                  <a:lnTo>
                    <a:pt x="4463438" y="1112320"/>
                  </a:lnTo>
                  <a:lnTo>
                    <a:pt x="4510545" y="1097846"/>
                  </a:lnTo>
                  <a:lnTo>
                    <a:pt x="4557238" y="1083077"/>
                  </a:lnTo>
                  <a:lnTo>
                    <a:pt x="4603500" y="1068018"/>
                  </a:lnTo>
                  <a:lnTo>
                    <a:pt x="4649320" y="1052671"/>
                  </a:lnTo>
                  <a:lnTo>
                    <a:pt x="4694681" y="1037040"/>
                  </a:lnTo>
                  <a:lnTo>
                    <a:pt x="4739570" y="1021127"/>
                  </a:lnTo>
                  <a:lnTo>
                    <a:pt x="4783972" y="1004937"/>
                  </a:lnTo>
                  <a:lnTo>
                    <a:pt x="4827874" y="988472"/>
                  </a:lnTo>
                  <a:lnTo>
                    <a:pt x="4871260" y="971736"/>
                  </a:lnTo>
                  <a:lnTo>
                    <a:pt x="4914117" y="954732"/>
                  </a:lnTo>
                  <a:lnTo>
                    <a:pt x="4956431" y="937462"/>
                  </a:lnTo>
                  <a:lnTo>
                    <a:pt x="4998186" y="919931"/>
                  </a:lnTo>
                  <a:lnTo>
                    <a:pt x="5039368" y="902142"/>
                  </a:lnTo>
                  <a:lnTo>
                    <a:pt x="5079964" y="884097"/>
                  </a:lnTo>
                  <a:lnTo>
                    <a:pt x="5119959" y="865800"/>
                  </a:lnTo>
                  <a:lnTo>
                    <a:pt x="5172731" y="840822"/>
                  </a:lnTo>
                  <a:lnTo>
                    <a:pt x="5224357" y="815403"/>
                  </a:lnTo>
                  <a:lnTo>
                    <a:pt x="5274802" y="789550"/>
                  </a:lnTo>
                  <a:lnTo>
                    <a:pt x="5324032" y="763271"/>
                  </a:lnTo>
                  <a:lnTo>
                    <a:pt x="5372012" y="736574"/>
                  </a:lnTo>
                  <a:lnTo>
                    <a:pt x="5418707" y="709466"/>
                  </a:lnTo>
                  <a:lnTo>
                    <a:pt x="5464083" y="681957"/>
                  </a:lnTo>
                  <a:lnTo>
                    <a:pt x="5508104" y="654052"/>
                  </a:lnTo>
                  <a:lnTo>
                    <a:pt x="5550737" y="625761"/>
                  </a:lnTo>
                  <a:lnTo>
                    <a:pt x="5591946" y="597091"/>
                  </a:lnTo>
                  <a:lnTo>
                    <a:pt x="5631697" y="568050"/>
                  </a:lnTo>
                  <a:lnTo>
                    <a:pt x="5669955" y="538645"/>
                  </a:lnTo>
                  <a:lnTo>
                    <a:pt x="5706685" y="508885"/>
                  </a:lnTo>
                  <a:lnTo>
                    <a:pt x="5741852" y="478778"/>
                  </a:lnTo>
                  <a:lnTo>
                    <a:pt x="5775422" y="448330"/>
                  </a:lnTo>
                  <a:lnTo>
                    <a:pt x="5807361" y="417550"/>
                  </a:lnTo>
                  <a:lnTo>
                    <a:pt x="5847347" y="376008"/>
                  </a:lnTo>
                  <a:lnTo>
                    <a:pt x="5884288" y="333907"/>
                  </a:lnTo>
                  <a:lnTo>
                    <a:pt x="5918101" y="291267"/>
                  </a:lnTo>
                  <a:lnTo>
                    <a:pt x="5948704" y="248107"/>
                  </a:lnTo>
                  <a:lnTo>
                    <a:pt x="5976015" y="204444"/>
                  </a:lnTo>
                  <a:lnTo>
                    <a:pt x="5999952" y="160297"/>
                  </a:lnTo>
                  <a:lnTo>
                    <a:pt x="6029350" y="93211"/>
                  </a:lnTo>
                  <a:lnTo>
                    <a:pt x="6050693" y="25140"/>
                  </a:lnTo>
                  <a:lnTo>
                    <a:pt x="6054737" y="7976"/>
                  </a:lnTo>
                  <a:lnTo>
                    <a:pt x="605642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99" y="3019623"/>
              <a:ext cx="81651" cy="108261"/>
            </a:xfrm>
            <a:prstGeom prst="rect">
              <a:avLst/>
            </a:prstGeom>
          </p:spPr>
        </p:pic>
      </p:grp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xfrm>
            <a:off x="207235" y="0"/>
            <a:ext cx="15556992" cy="863326"/>
          </a:xfrm>
          <a:prstGeom prst="rect">
            <a:avLst/>
          </a:prstGeom>
        </p:spPr>
        <p:txBody>
          <a:bodyPr spcFirstLastPara="1" vert="horz" wrap="square" lIns="0" tIns="273380" rIns="0" bIns="0" rtlCol="0" anchor="ctr" anchorCtr="0">
            <a:spAutoFit/>
          </a:bodyPr>
          <a:lstStyle/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RNN:</a:t>
            </a:r>
            <a:r>
              <a:rPr sz="3733" spc="-113" dirty="0"/>
              <a:t> </a:t>
            </a:r>
            <a:r>
              <a:rPr sz="3733" spc="-13" dirty="0"/>
              <a:t>Computational</a:t>
            </a:r>
            <a:r>
              <a:rPr sz="3733" spc="-113" dirty="0"/>
              <a:t> </a:t>
            </a:r>
            <a:r>
              <a:rPr sz="3733" dirty="0"/>
              <a:t>Graph:</a:t>
            </a:r>
            <a:r>
              <a:rPr sz="3733" spc="-113" dirty="0"/>
              <a:t> </a:t>
            </a:r>
            <a:r>
              <a:rPr sz="3733" dirty="0"/>
              <a:t>One</a:t>
            </a:r>
            <a:r>
              <a:rPr sz="3733" spc="-113" dirty="0"/>
              <a:t> </a:t>
            </a:r>
            <a:r>
              <a:rPr sz="3733" dirty="0"/>
              <a:t>to</a:t>
            </a:r>
            <a:r>
              <a:rPr sz="3733" spc="-113" dirty="0"/>
              <a:t> </a:t>
            </a:r>
            <a:r>
              <a:rPr sz="3733" spc="-27" dirty="0"/>
              <a:t>Many</a:t>
            </a:r>
            <a:endParaRPr sz="3733" dirty="0"/>
          </a:p>
        </p:txBody>
      </p:sp>
      <p:sp>
        <p:nvSpPr>
          <p:cNvPr id="58" name="object 58"/>
          <p:cNvSpPr txBox="1"/>
          <p:nvPr/>
        </p:nvSpPr>
        <p:spPr>
          <a:xfrm>
            <a:off x="10305132" y="2868633"/>
            <a:ext cx="568112" cy="706177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6310"/>
            <a:r>
              <a:rPr sz="2400" spc="-33" dirty="0">
                <a:latin typeface="Arial MT"/>
                <a:cs typeface="Arial MT"/>
              </a:rPr>
              <a:t>h</a:t>
            </a:r>
            <a:r>
              <a:rPr sz="2400" spc="-49" baseline="-32407" dirty="0">
                <a:latin typeface="Arial MT"/>
                <a:cs typeface="Arial MT"/>
              </a:rPr>
              <a:t>T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10666" y="3332779"/>
            <a:ext cx="390767" cy="109307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79857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3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45031" y="1326233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484565" y="1362400"/>
            <a:ext cx="568112" cy="706177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50703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713713" y="2388265"/>
            <a:ext cx="4610947" cy="1940560"/>
            <a:chOff x="2785285" y="1791199"/>
            <a:chExt cx="3458210" cy="1455420"/>
          </a:xfrm>
        </p:grpSpPr>
        <p:sp>
          <p:nvSpPr>
            <p:cNvPr id="64" name="object 64"/>
            <p:cNvSpPr/>
            <p:nvPr/>
          </p:nvSpPr>
          <p:spPr>
            <a:xfrm>
              <a:off x="6202148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61158" y="1791199"/>
              <a:ext cx="81981" cy="1055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521622" y="1887174"/>
              <a:ext cx="0" cy="264795"/>
            </a:xfrm>
            <a:custGeom>
              <a:avLst/>
              <a:gdLst/>
              <a:ahLst/>
              <a:cxnLst/>
              <a:rect l="l" t="t" r="r" b="b"/>
              <a:pathLst>
                <a:path h="264794">
                  <a:moveTo>
                    <a:pt x="0" y="2642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0632" y="1791199"/>
              <a:ext cx="81981" cy="1055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5285" y="1818199"/>
              <a:ext cx="81980" cy="33327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647176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70" name="object 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06185" y="2814224"/>
              <a:ext cx="81981" cy="10550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327701" y="2910199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3359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72" name="object 7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6710" y="2814224"/>
              <a:ext cx="81981" cy="105500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4598702" y="4328399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1</a:t>
            </a:r>
            <a:endParaRPr sz="2400" baseline="-32407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839369" y="4328265"/>
            <a:ext cx="529167" cy="706177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89747" rIns="0" bIns="0" rtlCol="0">
            <a:spAutoFit/>
          </a:bodyPr>
          <a:lstStyle/>
          <a:p>
            <a:pPr>
              <a:spcBef>
                <a:spcPts val="707"/>
              </a:spcBef>
            </a:pPr>
            <a:endParaRPr sz="1600">
              <a:latin typeface="Times New Roman"/>
              <a:cs typeface="Times New Roman"/>
            </a:endParaRPr>
          </a:p>
          <a:p>
            <a:pPr marL="131230"/>
            <a:r>
              <a:rPr sz="2400" spc="-33" dirty="0">
                <a:latin typeface="Arial MT"/>
                <a:cs typeface="Arial MT"/>
              </a:rPr>
              <a:t>y</a:t>
            </a:r>
            <a:r>
              <a:rPr sz="2400" spc="-49" baseline="-32407" dirty="0">
                <a:latin typeface="Arial MT"/>
                <a:cs typeface="Arial MT"/>
              </a:rPr>
              <a:t>2</a:t>
            </a:r>
            <a:endParaRPr sz="2400" baseline="-32407">
              <a:latin typeface="Arial MT"/>
              <a:cs typeface="Arial MT"/>
            </a:endParaRPr>
          </a:p>
        </p:txBody>
      </p:sp>
      <p:pic>
        <p:nvPicPr>
          <p:cNvPr id="75" name="object 7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541797" y="3930429"/>
            <a:ext cx="109207" cy="387912"/>
          </a:xfrm>
          <a:prstGeom prst="rect">
            <a:avLst/>
          </a:prstGeom>
        </p:spPr>
      </p:pic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53</a:t>
            </a:fld>
            <a:endParaRPr spc="-3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634" y="159473"/>
            <a:ext cx="15556992" cy="863322"/>
          </a:xfrm>
          <a:prstGeom prst="rect">
            <a:avLst/>
          </a:prstGeom>
        </p:spPr>
        <p:txBody>
          <a:bodyPr spcFirstLastPara="1" vert="horz" wrap="square" lIns="0" tIns="273376" rIns="0" bIns="0" rtlCol="0" anchor="ctr" anchorCtr="0">
            <a:spAutoFit/>
          </a:bodyPr>
          <a:lstStyle/>
          <a:p>
            <a:pPr marL="342891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Sequence</a:t>
            </a:r>
            <a:r>
              <a:rPr sz="3733" spc="-93" dirty="0"/>
              <a:t> </a:t>
            </a:r>
            <a:r>
              <a:rPr sz="3733" dirty="0"/>
              <a:t>to</a:t>
            </a:r>
            <a:r>
              <a:rPr sz="3733" spc="-87" dirty="0"/>
              <a:t> </a:t>
            </a:r>
            <a:r>
              <a:rPr sz="3733" dirty="0"/>
              <a:t>Sequence:</a:t>
            </a:r>
            <a:r>
              <a:rPr sz="3733" spc="-93" dirty="0"/>
              <a:t> </a:t>
            </a:r>
            <a:r>
              <a:rPr sz="3733" spc="-40" dirty="0"/>
              <a:t>Many-</a:t>
            </a:r>
            <a:r>
              <a:rPr sz="3733" spc="-33" dirty="0"/>
              <a:t>to-</a:t>
            </a:r>
            <a:r>
              <a:rPr sz="3733" dirty="0"/>
              <a:t>one</a:t>
            </a:r>
            <a:r>
              <a:rPr sz="3733" spc="-87" dirty="0"/>
              <a:t> </a:t>
            </a:r>
            <a:r>
              <a:rPr sz="3733" dirty="0"/>
              <a:t>+</a:t>
            </a:r>
            <a:r>
              <a:rPr sz="3733" spc="-100" dirty="0"/>
              <a:t> </a:t>
            </a:r>
            <a:r>
              <a:rPr sz="3733" spc="-27" dirty="0"/>
              <a:t>one-to-many</a:t>
            </a:r>
            <a:endParaRPr sz="3733" dirty="0"/>
          </a:p>
        </p:txBody>
      </p:sp>
      <p:sp>
        <p:nvSpPr>
          <p:cNvPr id="3" name="object 3"/>
          <p:cNvSpPr txBox="1"/>
          <p:nvPr/>
        </p:nvSpPr>
        <p:spPr>
          <a:xfrm>
            <a:off x="500341" y="3107491"/>
            <a:ext cx="373380" cy="420821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60"/>
              </a:spcBef>
            </a:pPr>
            <a:endParaRPr sz="667">
              <a:latin typeface="Times New Roman"/>
              <a:cs typeface="Times New Roman"/>
            </a:endParaRPr>
          </a:p>
          <a:p>
            <a:pPr marL="123610"/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0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79781" y="3213893"/>
            <a:ext cx="478367" cy="441960"/>
            <a:chOff x="884835" y="2410420"/>
            <a:chExt cx="358775" cy="331470"/>
          </a:xfrm>
        </p:grpSpPr>
        <p:sp>
          <p:nvSpPr>
            <p:cNvPr id="5" name="object 5"/>
            <p:cNvSpPr/>
            <p:nvPr/>
          </p:nvSpPr>
          <p:spPr>
            <a:xfrm>
              <a:off x="889598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348760" y="321948"/>
                  </a:moveTo>
                  <a:lnTo>
                    <a:pt x="0" y="321948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194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6" name="object 6"/>
            <p:cNvSpPr/>
            <p:nvPr/>
          </p:nvSpPr>
          <p:spPr>
            <a:xfrm>
              <a:off x="889598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0" y="0"/>
                  </a:moveTo>
                  <a:lnTo>
                    <a:pt x="348760" y="0"/>
                  </a:lnTo>
                  <a:lnTo>
                    <a:pt x="348760" y="321948"/>
                  </a:lnTo>
                  <a:lnTo>
                    <a:pt x="0" y="3219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49631" y="3266221"/>
            <a:ext cx="3166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f</a:t>
            </a:r>
            <a:r>
              <a:rPr sz="1800" spc="-49" baseline="-33950" dirty="0">
                <a:latin typeface="Arial MT"/>
                <a:cs typeface="Arial MT"/>
              </a:rPr>
              <a:t>W</a:t>
            </a:r>
            <a:endParaRPr sz="1800" baseline="-33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2042" y="3107491"/>
            <a:ext cx="373380" cy="420821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60"/>
              </a:spcBef>
            </a:pPr>
            <a:endParaRPr sz="667">
              <a:latin typeface="Times New Roman"/>
              <a:cs typeface="Times New Roman"/>
            </a:endParaRPr>
          </a:p>
          <a:p>
            <a:pPr marL="123610"/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1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73141" y="3213894"/>
            <a:ext cx="2256367" cy="827193"/>
            <a:chOff x="654855" y="2410420"/>
            <a:chExt cx="1692275" cy="6203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130" y="2755504"/>
              <a:ext cx="81944" cy="27531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855" y="2535111"/>
              <a:ext cx="216350" cy="819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8359" y="2535166"/>
              <a:ext cx="222261" cy="819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93362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348760" y="321948"/>
                  </a:moveTo>
                  <a:lnTo>
                    <a:pt x="0" y="321948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194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4" name="object 14"/>
            <p:cNvSpPr/>
            <p:nvPr/>
          </p:nvSpPr>
          <p:spPr>
            <a:xfrm>
              <a:off x="1993362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0" y="0"/>
                  </a:moveTo>
                  <a:lnTo>
                    <a:pt x="348760" y="0"/>
                  </a:lnTo>
                  <a:lnTo>
                    <a:pt x="348760" y="321948"/>
                  </a:lnTo>
                  <a:lnTo>
                    <a:pt x="0" y="3219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21316" y="3266221"/>
            <a:ext cx="3166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f</a:t>
            </a:r>
            <a:r>
              <a:rPr sz="1800" spc="-49" baseline="-33950" dirty="0">
                <a:latin typeface="Arial MT"/>
                <a:cs typeface="Arial MT"/>
              </a:rPr>
              <a:t>W</a:t>
            </a:r>
            <a:endParaRPr sz="1800" baseline="-339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69702" y="3107506"/>
            <a:ext cx="373380" cy="420821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60"/>
              </a:spcBef>
            </a:pPr>
            <a:endParaRPr sz="667">
              <a:latin typeface="Times New Roman"/>
              <a:cs typeface="Times New Roman"/>
            </a:endParaRPr>
          </a:p>
          <a:p>
            <a:pPr marL="123610"/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2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44841" y="3213894"/>
            <a:ext cx="2256367" cy="827193"/>
            <a:chOff x="1758630" y="2410420"/>
            <a:chExt cx="1692275" cy="62039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8630" y="2535111"/>
              <a:ext cx="216350" cy="819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2878" y="2755504"/>
              <a:ext cx="81944" cy="27531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42123" y="2535166"/>
              <a:ext cx="241768" cy="8198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7127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348760" y="321948"/>
                  </a:moveTo>
                  <a:lnTo>
                    <a:pt x="0" y="321948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194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2" name="object 22"/>
            <p:cNvSpPr/>
            <p:nvPr/>
          </p:nvSpPr>
          <p:spPr>
            <a:xfrm>
              <a:off x="3097127" y="2415183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4">
                  <a:moveTo>
                    <a:pt x="0" y="0"/>
                  </a:moveTo>
                  <a:lnTo>
                    <a:pt x="348760" y="0"/>
                  </a:lnTo>
                  <a:lnTo>
                    <a:pt x="348760" y="321948"/>
                  </a:lnTo>
                  <a:lnTo>
                    <a:pt x="0" y="3219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193003" y="3266221"/>
            <a:ext cx="3166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f</a:t>
            </a:r>
            <a:r>
              <a:rPr sz="1800" spc="-49" baseline="-33950" dirty="0">
                <a:latin typeface="Arial MT"/>
                <a:cs typeface="Arial MT"/>
              </a:rPr>
              <a:t>W</a:t>
            </a:r>
            <a:endParaRPr sz="1800" baseline="-339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41394" y="3107506"/>
            <a:ext cx="373380" cy="420821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60"/>
              </a:spcBef>
            </a:pPr>
            <a:endParaRPr sz="667">
              <a:latin typeface="Times New Roman"/>
              <a:cs typeface="Times New Roman"/>
            </a:endParaRPr>
          </a:p>
          <a:p>
            <a:pPr marL="123610"/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3</a:t>
            </a:r>
            <a:endParaRPr sz="1000" baseline="-33333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88471" y="4028387"/>
            <a:ext cx="373380" cy="420821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60"/>
              </a:spcBef>
            </a:pPr>
            <a:endParaRPr sz="66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67" spc="-33" dirty="0">
                <a:latin typeface="Arial MT"/>
                <a:cs typeface="Arial MT"/>
              </a:rPr>
              <a:t>x</a:t>
            </a:r>
            <a:r>
              <a:rPr sz="1000" spc="-49" baseline="-33333" dirty="0">
                <a:latin typeface="Arial MT"/>
                <a:cs typeface="Arial MT"/>
              </a:rPr>
              <a:t>3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842501" y="3380163"/>
            <a:ext cx="1074420" cy="661245"/>
            <a:chOff x="2881875" y="2535122"/>
            <a:chExt cx="805815" cy="495934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4408" y="2755504"/>
              <a:ext cx="81944" cy="27531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81875" y="2535122"/>
              <a:ext cx="196843" cy="8198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45888" y="2535166"/>
              <a:ext cx="241768" cy="81980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14194" y="3380163"/>
            <a:ext cx="248271" cy="109307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5650701" y="3132494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67" dirty="0">
                <a:latin typeface="Arial MT"/>
                <a:cs typeface="Arial MT"/>
              </a:rPr>
              <a:t>…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91038" y="4028387"/>
            <a:ext cx="373380" cy="420821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60"/>
              </a:spcBef>
            </a:pPr>
            <a:endParaRPr sz="66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67" spc="-33" dirty="0">
                <a:latin typeface="Arial MT"/>
                <a:cs typeface="Arial MT"/>
              </a:rPr>
              <a:t>x</a:t>
            </a:r>
            <a:r>
              <a:rPr sz="1000" spc="-49" baseline="-33333" dirty="0">
                <a:latin typeface="Arial MT"/>
                <a:cs typeface="Arial MT"/>
              </a:rPr>
              <a:t>2</a:t>
            </a:r>
            <a:endParaRPr sz="1000" baseline="-33333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19373" y="4028387"/>
            <a:ext cx="373380" cy="420821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60"/>
              </a:spcBef>
            </a:pPr>
            <a:endParaRPr sz="66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67" spc="-33" dirty="0">
                <a:latin typeface="Arial MT"/>
                <a:cs typeface="Arial MT"/>
              </a:rPr>
              <a:t>x</a:t>
            </a:r>
            <a:r>
              <a:rPr sz="1000" spc="-49" baseline="-33333" dirty="0">
                <a:latin typeface="Arial MT"/>
                <a:cs typeface="Arial MT"/>
              </a:rPr>
              <a:t>1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80351" y="4301692"/>
            <a:ext cx="478367" cy="441960"/>
            <a:chOff x="285263" y="3226269"/>
            <a:chExt cx="358775" cy="331470"/>
          </a:xfrm>
        </p:grpSpPr>
        <p:sp>
          <p:nvSpPr>
            <p:cNvPr id="35" name="object 35"/>
            <p:cNvSpPr/>
            <p:nvPr/>
          </p:nvSpPr>
          <p:spPr>
            <a:xfrm>
              <a:off x="290025" y="3231031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5">
                  <a:moveTo>
                    <a:pt x="348760" y="321948"/>
                  </a:moveTo>
                  <a:lnTo>
                    <a:pt x="0" y="321948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1948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36" name="object 36"/>
            <p:cNvSpPr/>
            <p:nvPr/>
          </p:nvSpPr>
          <p:spPr>
            <a:xfrm>
              <a:off x="290025" y="3231031"/>
              <a:ext cx="349250" cy="321945"/>
            </a:xfrm>
            <a:custGeom>
              <a:avLst/>
              <a:gdLst/>
              <a:ahLst/>
              <a:cxnLst/>
              <a:rect l="l" t="t" r="r" b="b"/>
              <a:pathLst>
                <a:path w="349250" h="321945">
                  <a:moveTo>
                    <a:pt x="0" y="0"/>
                  </a:moveTo>
                  <a:lnTo>
                    <a:pt x="348760" y="0"/>
                  </a:lnTo>
                  <a:lnTo>
                    <a:pt x="348760" y="321948"/>
                  </a:lnTo>
                  <a:lnTo>
                    <a:pt x="0" y="3219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50201" y="4419042"/>
            <a:ext cx="280247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067" spc="-33" dirty="0">
                <a:latin typeface="Arial MT"/>
                <a:cs typeface="Arial MT"/>
              </a:rPr>
              <a:t>W</a:t>
            </a:r>
            <a:r>
              <a:rPr sz="1000" spc="-49" baseline="-33333" dirty="0">
                <a:latin typeface="Arial MT"/>
                <a:cs typeface="Arial MT"/>
              </a:rPr>
              <a:t>1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06509" y="3380163"/>
            <a:ext cx="5644727" cy="2604347"/>
            <a:chOff x="454881" y="2535122"/>
            <a:chExt cx="4233545" cy="1953260"/>
          </a:xfrm>
        </p:grpSpPr>
        <p:sp>
          <p:nvSpPr>
            <p:cNvPr id="39" name="object 39"/>
            <p:cNvSpPr/>
            <p:nvPr/>
          </p:nvSpPr>
          <p:spPr>
            <a:xfrm>
              <a:off x="464406" y="2839769"/>
              <a:ext cx="1539240" cy="1638935"/>
            </a:xfrm>
            <a:custGeom>
              <a:avLst/>
              <a:gdLst/>
              <a:ahLst/>
              <a:cxnLst/>
              <a:rect l="l" t="t" r="r" b="b"/>
              <a:pathLst>
                <a:path w="1539239" h="1638935">
                  <a:moveTo>
                    <a:pt x="0" y="713210"/>
                  </a:moveTo>
                  <a:lnTo>
                    <a:pt x="1270" y="759196"/>
                  </a:lnTo>
                  <a:lnTo>
                    <a:pt x="5023" y="805702"/>
                  </a:lnTo>
                  <a:lnTo>
                    <a:pt x="11174" y="852557"/>
                  </a:lnTo>
                  <a:lnTo>
                    <a:pt x="19636" y="899590"/>
                  </a:lnTo>
                  <a:lnTo>
                    <a:pt x="30325" y="946630"/>
                  </a:lnTo>
                  <a:lnTo>
                    <a:pt x="43154" y="993508"/>
                  </a:lnTo>
                  <a:lnTo>
                    <a:pt x="58039" y="1040053"/>
                  </a:lnTo>
                  <a:lnTo>
                    <a:pt x="74893" y="1086094"/>
                  </a:lnTo>
                  <a:lnTo>
                    <a:pt x="93630" y="1131461"/>
                  </a:lnTo>
                  <a:lnTo>
                    <a:pt x="114166" y="1175984"/>
                  </a:lnTo>
                  <a:lnTo>
                    <a:pt x="136414" y="1219492"/>
                  </a:lnTo>
                  <a:lnTo>
                    <a:pt x="160289" y="1261814"/>
                  </a:lnTo>
                  <a:lnTo>
                    <a:pt x="185705" y="1302781"/>
                  </a:lnTo>
                  <a:lnTo>
                    <a:pt x="212577" y="1342221"/>
                  </a:lnTo>
                  <a:lnTo>
                    <a:pt x="240819" y="1379965"/>
                  </a:lnTo>
                  <a:lnTo>
                    <a:pt x="270346" y="1415842"/>
                  </a:lnTo>
                  <a:lnTo>
                    <a:pt x="301071" y="1449681"/>
                  </a:lnTo>
                  <a:lnTo>
                    <a:pt x="332909" y="1481312"/>
                  </a:lnTo>
                  <a:lnTo>
                    <a:pt x="365775" y="1510565"/>
                  </a:lnTo>
                  <a:lnTo>
                    <a:pt x="399582" y="1537268"/>
                  </a:lnTo>
                  <a:lnTo>
                    <a:pt x="434246" y="1561253"/>
                  </a:lnTo>
                  <a:lnTo>
                    <a:pt x="469680" y="1582347"/>
                  </a:lnTo>
                  <a:lnTo>
                    <a:pt x="505800" y="1600381"/>
                  </a:lnTo>
                  <a:lnTo>
                    <a:pt x="542518" y="1615185"/>
                  </a:lnTo>
                  <a:lnTo>
                    <a:pt x="579751" y="1626587"/>
                  </a:lnTo>
                  <a:lnTo>
                    <a:pt x="617412" y="1634418"/>
                  </a:lnTo>
                  <a:lnTo>
                    <a:pt x="655415" y="1638507"/>
                  </a:lnTo>
                  <a:lnTo>
                    <a:pt x="693675" y="1638683"/>
                  </a:lnTo>
                  <a:lnTo>
                    <a:pt x="732106" y="1634777"/>
                  </a:lnTo>
                  <a:lnTo>
                    <a:pt x="770623" y="1626616"/>
                  </a:lnTo>
                  <a:lnTo>
                    <a:pt x="842775" y="1599583"/>
                  </a:lnTo>
                  <a:lnTo>
                    <a:pt x="878674" y="1580490"/>
                  </a:lnTo>
                  <a:lnTo>
                    <a:pt x="914362" y="1557817"/>
                  </a:lnTo>
                  <a:lnTo>
                    <a:pt x="949768" y="1531666"/>
                  </a:lnTo>
                  <a:lnTo>
                    <a:pt x="984821" y="1502140"/>
                  </a:lnTo>
                  <a:lnTo>
                    <a:pt x="1019451" y="1469341"/>
                  </a:lnTo>
                  <a:lnTo>
                    <a:pt x="1053586" y="1433371"/>
                  </a:lnTo>
                  <a:lnTo>
                    <a:pt x="1087158" y="1394334"/>
                  </a:lnTo>
                  <a:lnTo>
                    <a:pt x="1120094" y="1352332"/>
                  </a:lnTo>
                  <a:lnTo>
                    <a:pt x="1152325" y="1307468"/>
                  </a:lnTo>
                  <a:lnTo>
                    <a:pt x="1183779" y="1259844"/>
                  </a:lnTo>
                  <a:lnTo>
                    <a:pt x="1214388" y="1209562"/>
                  </a:lnTo>
                  <a:lnTo>
                    <a:pt x="1244079" y="1156725"/>
                  </a:lnTo>
                  <a:lnTo>
                    <a:pt x="1272782" y="1101436"/>
                  </a:lnTo>
                  <a:lnTo>
                    <a:pt x="1300427" y="1043798"/>
                  </a:lnTo>
                  <a:lnTo>
                    <a:pt x="1319827" y="1000462"/>
                  </a:lnTo>
                  <a:lnTo>
                    <a:pt x="1338603" y="955977"/>
                  </a:lnTo>
                  <a:lnTo>
                    <a:pt x="1356728" y="910382"/>
                  </a:lnTo>
                  <a:lnTo>
                    <a:pt x="1374174" y="863717"/>
                  </a:lnTo>
                  <a:lnTo>
                    <a:pt x="1390915" y="816021"/>
                  </a:lnTo>
                  <a:lnTo>
                    <a:pt x="1406923" y="767334"/>
                  </a:lnTo>
                  <a:lnTo>
                    <a:pt x="1422171" y="717695"/>
                  </a:lnTo>
                  <a:lnTo>
                    <a:pt x="1436632" y="667144"/>
                  </a:lnTo>
                  <a:lnTo>
                    <a:pt x="1450279" y="615720"/>
                  </a:lnTo>
                  <a:lnTo>
                    <a:pt x="1463084" y="563462"/>
                  </a:lnTo>
                  <a:lnTo>
                    <a:pt x="1475021" y="510410"/>
                  </a:lnTo>
                  <a:lnTo>
                    <a:pt x="1485177" y="461116"/>
                  </a:lnTo>
                  <a:lnTo>
                    <a:pt x="1494560" y="411218"/>
                  </a:lnTo>
                  <a:lnTo>
                    <a:pt x="1503148" y="360746"/>
                  </a:lnTo>
                  <a:lnTo>
                    <a:pt x="1510921" y="309732"/>
                  </a:lnTo>
                  <a:lnTo>
                    <a:pt x="1517858" y="258205"/>
                  </a:lnTo>
                  <a:lnTo>
                    <a:pt x="1523937" y="206196"/>
                  </a:lnTo>
                  <a:lnTo>
                    <a:pt x="1527922" y="166892"/>
                  </a:lnTo>
                  <a:lnTo>
                    <a:pt x="1531404" y="127346"/>
                  </a:lnTo>
                  <a:lnTo>
                    <a:pt x="1534375" y="87571"/>
                  </a:lnTo>
                  <a:lnTo>
                    <a:pt x="1536825" y="47581"/>
                  </a:lnTo>
                  <a:lnTo>
                    <a:pt x="1538746" y="7388"/>
                  </a:lnTo>
                  <a:lnTo>
                    <a:pt x="153902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62446" y="2743810"/>
              <a:ext cx="81968" cy="10609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64406" y="2858487"/>
              <a:ext cx="426720" cy="372745"/>
            </a:xfrm>
            <a:custGeom>
              <a:avLst/>
              <a:gdLst/>
              <a:ahLst/>
              <a:cxnLst/>
              <a:rect l="l" t="t" r="r" b="b"/>
              <a:pathLst>
                <a:path w="426719" h="372744">
                  <a:moveTo>
                    <a:pt x="0" y="372544"/>
                  </a:moveTo>
                  <a:lnTo>
                    <a:pt x="12214" y="367166"/>
                  </a:lnTo>
                  <a:lnTo>
                    <a:pt x="45369" y="368535"/>
                  </a:lnTo>
                  <a:lnTo>
                    <a:pt x="94229" y="368804"/>
                  </a:lnTo>
                  <a:lnTo>
                    <a:pt x="153558" y="360126"/>
                  </a:lnTo>
                  <a:lnTo>
                    <a:pt x="218123" y="334656"/>
                  </a:lnTo>
                  <a:lnTo>
                    <a:pt x="258808" y="307125"/>
                  </a:lnTo>
                  <a:lnTo>
                    <a:pt x="298215" y="270459"/>
                  </a:lnTo>
                  <a:lnTo>
                    <a:pt x="335066" y="225150"/>
                  </a:lnTo>
                  <a:lnTo>
                    <a:pt x="368083" y="171687"/>
                  </a:lnTo>
                  <a:lnTo>
                    <a:pt x="395987" y="110563"/>
                  </a:lnTo>
                  <a:lnTo>
                    <a:pt x="417501" y="42266"/>
                  </a:lnTo>
                  <a:lnTo>
                    <a:pt x="425462" y="5582"/>
                  </a:lnTo>
                  <a:lnTo>
                    <a:pt x="426453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9984" y="2762829"/>
              <a:ext cx="81749" cy="10787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64406" y="2839728"/>
              <a:ext cx="2641600" cy="1639570"/>
            </a:xfrm>
            <a:custGeom>
              <a:avLst/>
              <a:gdLst/>
              <a:ahLst/>
              <a:cxnLst/>
              <a:rect l="l" t="t" r="r" b="b"/>
              <a:pathLst>
                <a:path w="2641600" h="1639570">
                  <a:moveTo>
                    <a:pt x="0" y="713251"/>
                  </a:moveTo>
                  <a:lnTo>
                    <a:pt x="5127" y="784226"/>
                  </a:lnTo>
                  <a:lnTo>
                    <a:pt x="20154" y="856212"/>
                  </a:lnTo>
                  <a:lnTo>
                    <a:pt x="44545" y="928589"/>
                  </a:lnTo>
                  <a:lnTo>
                    <a:pt x="60085" y="964730"/>
                  </a:lnTo>
                  <a:lnTo>
                    <a:pt x="77765" y="1000736"/>
                  </a:lnTo>
                  <a:lnTo>
                    <a:pt x="97519" y="1036529"/>
                  </a:lnTo>
                  <a:lnTo>
                    <a:pt x="119279" y="1072032"/>
                  </a:lnTo>
                  <a:lnTo>
                    <a:pt x="142979" y="1107168"/>
                  </a:lnTo>
                  <a:lnTo>
                    <a:pt x="168552" y="1141858"/>
                  </a:lnTo>
                  <a:lnTo>
                    <a:pt x="195930" y="1176025"/>
                  </a:lnTo>
                  <a:lnTo>
                    <a:pt x="225048" y="1209592"/>
                  </a:lnTo>
                  <a:lnTo>
                    <a:pt x="255838" y="1242480"/>
                  </a:lnTo>
                  <a:lnTo>
                    <a:pt x="288233" y="1274613"/>
                  </a:lnTo>
                  <a:lnTo>
                    <a:pt x="322166" y="1305912"/>
                  </a:lnTo>
                  <a:lnTo>
                    <a:pt x="357571" y="1336301"/>
                  </a:lnTo>
                  <a:lnTo>
                    <a:pt x="394380" y="1365701"/>
                  </a:lnTo>
                  <a:lnTo>
                    <a:pt x="432528" y="1394035"/>
                  </a:lnTo>
                  <a:lnTo>
                    <a:pt x="471946" y="1421226"/>
                  </a:lnTo>
                  <a:lnTo>
                    <a:pt x="512568" y="1447195"/>
                  </a:lnTo>
                  <a:lnTo>
                    <a:pt x="554327" y="1471866"/>
                  </a:lnTo>
                  <a:lnTo>
                    <a:pt x="597156" y="1495160"/>
                  </a:lnTo>
                  <a:lnTo>
                    <a:pt x="640988" y="1517001"/>
                  </a:lnTo>
                  <a:lnTo>
                    <a:pt x="685757" y="1537310"/>
                  </a:lnTo>
                  <a:lnTo>
                    <a:pt x="731396" y="1556009"/>
                  </a:lnTo>
                  <a:lnTo>
                    <a:pt x="777837" y="1573023"/>
                  </a:lnTo>
                  <a:lnTo>
                    <a:pt x="825013" y="1588271"/>
                  </a:lnTo>
                  <a:lnTo>
                    <a:pt x="872859" y="1601678"/>
                  </a:lnTo>
                  <a:lnTo>
                    <a:pt x="921307" y="1613166"/>
                  </a:lnTo>
                  <a:lnTo>
                    <a:pt x="970289" y="1622657"/>
                  </a:lnTo>
                  <a:lnTo>
                    <a:pt x="1019740" y="1630073"/>
                  </a:lnTo>
                  <a:lnTo>
                    <a:pt x="1069592" y="1635336"/>
                  </a:lnTo>
                  <a:lnTo>
                    <a:pt x="1119779" y="1638370"/>
                  </a:lnTo>
                  <a:lnTo>
                    <a:pt x="1170233" y="1639097"/>
                  </a:lnTo>
                  <a:lnTo>
                    <a:pt x="1220888" y="1637439"/>
                  </a:lnTo>
                  <a:lnTo>
                    <a:pt x="1271677" y="1633318"/>
                  </a:lnTo>
                  <a:lnTo>
                    <a:pt x="1322532" y="1626658"/>
                  </a:lnTo>
                  <a:lnTo>
                    <a:pt x="1367611" y="1618584"/>
                  </a:lnTo>
                  <a:lnTo>
                    <a:pt x="1412643" y="1608492"/>
                  </a:lnTo>
                  <a:lnTo>
                    <a:pt x="1457582" y="1596424"/>
                  </a:lnTo>
                  <a:lnTo>
                    <a:pt x="1502381" y="1582416"/>
                  </a:lnTo>
                  <a:lnTo>
                    <a:pt x="1546993" y="1566511"/>
                  </a:lnTo>
                  <a:lnTo>
                    <a:pt x="1591373" y="1548746"/>
                  </a:lnTo>
                  <a:lnTo>
                    <a:pt x="1635474" y="1529161"/>
                  </a:lnTo>
                  <a:lnTo>
                    <a:pt x="1679248" y="1507796"/>
                  </a:lnTo>
                  <a:lnTo>
                    <a:pt x="1722650" y="1484690"/>
                  </a:lnTo>
                  <a:lnTo>
                    <a:pt x="1765633" y="1459882"/>
                  </a:lnTo>
                  <a:lnTo>
                    <a:pt x="1808150" y="1433413"/>
                  </a:lnTo>
                  <a:lnTo>
                    <a:pt x="1850154" y="1405320"/>
                  </a:lnTo>
                  <a:lnTo>
                    <a:pt x="1891600" y="1375645"/>
                  </a:lnTo>
                  <a:lnTo>
                    <a:pt x="1932440" y="1344426"/>
                  </a:lnTo>
                  <a:lnTo>
                    <a:pt x="1972628" y="1311703"/>
                  </a:lnTo>
                  <a:lnTo>
                    <a:pt x="2012117" y="1277516"/>
                  </a:lnTo>
                  <a:lnTo>
                    <a:pt x="2050861" y="1241903"/>
                  </a:lnTo>
                  <a:lnTo>
                    <a:pt x="2088813" y="1204904"/>
                  </a:lnTo>
                  <a:lnTo>
                    <a:pt x="2125927" y="1166559"/>
                  </a:lnTo>
                  <a:lnTo>
                    <a:pt x="2162156" y="1126906"/>
                  </a:lnTo>
                  <a:lnTo>
                    <a:pt x="2197454" y="1085987"/>
                  </a:lnTo>
                  <a:lnTo>
                    <a:pt x="2231773" y="1043839"/>
                  </a:lnTo>
                  <a:lnTo>
                    <a:pt x="2262333" y="1004159"/>
                  </a:lnTo>
                  <a:lnTo>
                    <a:pt x="2291997" y="963510"/>
                  </a:lnTo>
                  <a:lnTo>
                    <a:pt x="2320728" y="921924"/>
                  </a:lnTo>
                  <a:lnTo>
                    <a:pt x="2348490" y="879430"/>
                  </a:lnTo>
                  <a:lnTo>
                    <a:pt x="2375247" y="836058"/>
                  </a:lnTo>
                  <a:lnTo>
                    <a:pt x="2400964" y="791840"/>
                  </a:lnTo>
                  <a:lnTo>
                    <a:pt x="2425605" y="746806"/>
                  </a:lnTo>
                  <a:lnTo>
                    <a:pt x="2449134" y="700986"/>
                  </a:lnTo>
                  <a:lnTo>
                    <a:pt x="2471515" y="654409"/>
                  </a:lnTo>
                  <a:lnTo>
                    <a:pt x="2492711" y="607108"/>
                  </a:lnTo>
                  <a:lnTo>
                    <a:pt x="2512688" y="559112"/>
                  </a:lnTo>
                  <a:lnTo>
                    <a:pt x="2531410" y="510452"/>
                  </a:lnTo>
                  <a:lnTo>
                    <a:pt x="2548839" y="461157"/>
                  </a:lnTo>
                  <a:lnTo>
                    <a:pt x="2564942" y="411259"/>
                  </a:lnTo>
                  <a:lnTo>
                    <a:pt x="2579681" y="360788"/>
                  </a:lnTo>
                  <a:lnTo>
                    <a:pt x="2593021" y="309773"/>
                  </a:lnTo>
                  <a:lnTo>
                    <a:pt x="2604925" y="258247"/>
                  </a:lnTo>
                  <a:lnTo>
                    <a:pt x="2615359" y="206238"/>
                  </a:lnTo>
                  <a:lnTo>
                    <a:pt x="2622198" y="166933"/>
                  </a:lnTo>
                  <a:lnTo>
                    <a:pt x="2628174" y="127387"/>
                  </a:lnTo>
                  <a:lnTo>
                    <a:pt x="2633272" y="87612"/>
                  </a:lnTo>
                  <a:lnTo>
                    <a:pt x="2637477" y="47622"/>
                  </a:lnTo>
                  <a:lnTo>
                    <a:pt x="2640774" y="7429"/>
                  </a:lnTo>
                  <a:lnTo>
                    <a:pt x="2641276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64709" y="2743800"/>
              <a:ext cx="81946" cy="10649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64406" y="2980977"/>
              <a:ext cx="3978910" cy="1494790"/>
            </a:xfrm>
            <a:custGeom>
              <a:avLst/>
              <a:gdLst/>
              <a:ahLst/>
              <a:cxnLst/>
              <a:rect l="l" t="t" r="r" b="b"/>
              <a:pathLst>
                <a:path w="3978910" h="1494789">
                  <a:moveTo>
                    <a:pt x="0" y="572002"/>
                  </a:moveTo>
                  <a:lnTo>
                    <a:pt x="4536" y="626084"/>
                  </a:lnTo>
                  <a:lnTo>
                    <a:pt x="17906" y="680699"/>
                  </a:lnTo>
                  <a:lnTo>
                    <a:pt x="39749" y="735589"/>
                  </a:lnTo>
                  <a:lnTo>
                    <a:pt x="69704" y="790495"/>
                  </a:lnTo>
                  <a:lnTo>
                    <a:pt x="107411" y="845159"/>
                  </a:lnTo>
                  <a:lnTo>
                    <a:pt x="152509" y="899323"/>
                  </a:lnTo>
                  <a:lnTo>
                    <a:pt x="204637" y="952728"/>
                  </a:lnTo>
                  <a:lnTo>
                    <a:pt x="233226" y="979065"/>
                  </a:lnTo>
                  <a:lnTo>
                    <a:pt x="263436" y="1005116"/>
                  </a:lnTo>
                  <a:lnTo>
                    <a:pt x="295224" y="1030847"/>
                  </a:lnTo>
                  <a:lnTo>
                    <a:pt x="328544" y="1056228"/>
                  </a:lnTo>
                  <a:lnTo>
                    <a:pt x="363351" y="1081225"/>
                  </a:lnTo>
                  <a:lnTo>
                    <a:pt x="399601" y="1105806"/>
                  </a:lnTo>
                  <a:lnTo>
                    <a:pt x="437248" y="1129939"/>
                  </a:lnTo>
                  <a:lnTo>
                    <a:pt x="476246" y="1153592"/>
                  </a:lnTo>
                  <a:lnTo>
                    <a:pt x="516552" y="1176732"/>
                  </a:lnTo>
                  <a:lnTo>
                    <a:pt x="558119" y="1199327"/>
                  </a:lnTo>
                  <a:lnTo>
                    <a:pt x="600904" y="1221345"/>
                  </a:lnTo>
                  <a:lnTo>
                    <a:pt x="644860" y="1242754"/>
                  </a:lnTo>
                  <a:lnTo>
                    <a:pt x="689943" y="1263520"/>
                  </a:lnTo>
                  <a:lnTo>
                    <a:pt x="736107" y="1283613"/>
                  </a:lnTo>
                  <a:lnTo>
                    <a:pt x="783308" y="1302999"/>
                  </a:lnTo>
                  <a:lnTo>
                    <a:pt x="831501" y="1321646"/>
                  </a:lnTo>
                  <a:lnTo>
                    <a:pt x="880640" y="1339523"/>
                  </a:lnTo>
                  <a:lnTo>
                    <a:pt x="930680" y="1356596"/>
                  </a:lnTo>
                  <a:lnTo>
                    <a:pt x="981577" y="1372833"/>
                  </a:lnTo>
                  <a:lnTo>
                    <a:pt x="1033285" y="1388203"/>
                  </a:lnTo>
                  <a:lnTo>
                    <a:pt x="1085759" y="1402672"/>
                  </a:lnTo>
                  <a:lnTo>
                    <a:pt x="1138954" y="1416209"/>
                  </a:lnTo>
                  <a:lnTo>
                    <a:pt x="1192825" y="1428782"/>
                  </a:lnTo>
                  <a:lnTo>
                    <a:pt x="1247327" y="1440357"/>
                  </a:lnTo>
                  <a:lnTo>
                    <a:pt x="1302415" y="1450902"/>
                  </a:lnTo>
                  <a:lnTo>
                    <a:pt x="1358043" y="1460386"/>
                  </a:lnTo>
                  <a:lnTo>
                    <a:pt x="1414168" y="1468777"/>
                  </a:lnTo>
                  <a:lnTo>
                    <a:pt x="1470743" y="1476040"/>
                  </a:lnTo>
                  <a:lnTo>
                    <a:pt x="1527724" y="1482146"/>
                  </a:lnTo>
                  <a:lnTo>
                    <a:pt x="1585065" y="1487060"/>
                  </a:lnTo>
                  <a:lnTo>
                    <a:pt x="1642722" y="1490752"/>
                  </a:lnTo>
                  <a:lnTo>
                    <a:pt x="1700649" y="1493187"/>
                  </a:lnTo>
                  <a:lnTo>
                    <a:pt x="1758801" y="1494336"/>
                  </a:lnTo>
                  <a:lnTo>
                    <a:pt x="1817134" y="1494164"/>
                  </a:lnTo>
                  <a:lnTo>
                    <a:pt x="1875602" y="1492640"/>
                  </a:lnTo>
                  <a:lnTo>
                    <a:pt x="1934160" y="1489731"/>
                  </a:lnTo>
                  <a:lnTo>
                    <a:pt x="1992764" y="1485405"/>
                  </a:lnTo>
                  <a:lnTo>
                    <a:pt x="2042578" y="1480596"/>
                  </a:lnTo>
                  <a:lnTo>
                    <a:pt x="2092365" y="1474755"/>
                  </a:lnTo>
                  <a:lnTo>
                    <a:pt x="2142096" y="1467897"/>
                  </a:lnTo>
                  <a:lnTo>
                    <a:pt x="2191745" y="1460037"/>
                  </a:lnTo>
                  <a:lnTo>
                    <a:pt x="2241283" y="1451190"/>
                  </a:lnTo>
                  <a:lnTo>
                    <a:pt x="2290682" y="1441372"/>
                  </a:lnTo>
                  <a:lnTo>
                    <a:pt x="2339915" y="1430597"/>
                  </a:lnTo>
                  <a:lnTo>
                    <a:pt x="2388955" y="1418880"/>
                  </a:lnTo>
                  <a:lnTo>
                    <a:pt x="2437773" y="1406237"/>
                  </a:lnTo>
                  <a:lnTo>
                    <a:pt x="2486342" y="1392683"/>
                  </a:lnTo>
                  <a:lnTo>
                    <a:pt x="2534634" y="1378232"/>
                  </a:lnTo>
                  <a:lnTo>
                    <a:pt x="2582622" y="1362900"/>
                  </a:lnTo>
                  <a:lnTo>
                    <a:pt x="2630278" y="1346701"/>
                  </a:lnTo>
                  <a:lnTo>
                    <a:pt x="2677573" y="1329652"/>
                  </a:lnTo>
                  <a:lnTo>
                    <a:pt x="2724482" y="1311766"/>
                  </a:lnTo>
                  <a:lnTo>
                    <a:pt x="2770975" y="1293060"/>
                  </a:lnTo>
                  <a:lnTo>
                    <a:pt x="2817025" y="1273547"/>
                  </a:lnTo>
                  <a:lnTo>
                    <a:pt x="2862605" y="1253244"/>
                  </a:lnTo>
                  <a:lnTo>
                    <a:pt x="2907687" y="1232164"/>
                  </a:lnTo>
                  <a:lnTo>
                    <a:pt x="2952243" y="1210324"/>
                  </a:lnTo>
                  <a:lnTo>
                    <a:pt x="2996245" y="1187739"/>
                  </a:lnTo>
                  <a:lnTo>
                    <a:pt x="3039666" y="1164422"/>
                  </a:lnTo>
                  <a:lnTo>
                    <a:pt x="3082478" y="1140390"/>
                  </a:lnTo>
                  <a:lnTo>
                    <a:pt x="3124654" y="1115658"/>
                  </a:lnTo>
                  <a:lnTo>
                    <a:pt x="3166165" y="1090240"/>
                  </a:lnTo>
                  <a:lnTo>
                    <a:pt x="3206984" y="1064152"/>
                  </a:lnTo>
                  <a:lnTo>
                    <a:pt x="3247084" y="1037409"/>
                  </a:lnTo>
                  <a:lnTo>
                    <a:pt x="3286437" y="1010026"/>
                  </a:lnTo>
                  <a:lnTo>
                    <a:pt x="3325014" y="982017"/>
                  </a:lnTo>
                  <a:lnTo>
                    <a:pt x="3362789" y="953398"/>
                  </a:lnTo>
                  <a:lnTo>
                    <a:pt x="3405342" y="919638"/>
                  </a:lnTo>
                  <a:lnTo>
                    <a:pt x="3446747" y="885109"/>
                  </a:lnTo>
                  <a:lnTo>
                    <a:pt x="3486961" y="849834"/>
                  </a:lnTo>
                  <a:lnTo>
                    <a:pt x="3525943" y="813837"/>
                  </a:lnTo>
                  <a:lnTo>
                    <a:pt x="3563649" y="777140"/>
                  </a:lnTo>
                  <a:lnTo>
                    <a:pt x="3600036" y="739766"/>
                  </a:lnTo>
                  <a:lnTo>
                    <a:pt x="3635064" y="701739"/>
                  </a:lnTo>
                  <a:lnTo>
                    <a:pt x="3668688" y="663083"/>
                  </a:lnTo>
                  <a:lnTo>
                    <a:pt x="3700867" y="623819"/>
                  </a:lnTo>
                  <a:lnTo>
                    <a:pt x="3731557" y="583971"/>
                  </a:lnTo>
                  <a:lnTo>
                    <a:pt x="3760717" y="543563"/>
                  </a:lnTo>
                  <a:lnTo>
                    <a:pt x="3788304" y="502617"/>
                  </a:lnTo>
                  <a:lnTo>
                    <a:pt x="3814275" y="461157"/>
                  </a:lnTo>
                  <a:lnTo>
                    <a:pt x="3840537" y="415688"/>
                  </a:lnTo>
                  <a:lnTo>
                    <a:pt x="3864800" y="369672"/>
                  </a:lnTo>
                  <a:lnTo>
                    <a:pt x="3887009" y="323138"/>
                  </a:lnTo>
                  <a:lnTo>
                    <a:pt x="3907109" y="276117"/>
                  </a:lnTo>
                  <a:lnTo>
                    <a:pt x="3925047" y="228636"/>
                  </a:lnTo>
                  <a:lnTo>
                    <a:pt x="3940769" y="180726"/>
                  </a:lnTo>
                  <a:lnTo>
                    <a:pt x="3960077" y="108121"/>
                  </a:lnTo>
                  <a:lnTo>
                    <a:pt x="3974095" y="34714"/>
                  </a:lnTo>
                  <a:lnTo>
                    <a:pt x="3977950" y="7001"/>
                  </a:lnTo>
                  <a:lnTo>
                    <a:pt x="3978792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02262" y="2885152"/>
              <a:ext cx="81871" cy="10720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01868" y="2535122"/>
              <a:ext cx="186202" cy="8198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6261575" y="3107506"/>
            <a:ext cx="373380" cy="420821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60"/>
              </a:spcBef>
            </a:pPr>
            <a:endParaRPr sz="667">
              <a:latin typeface="Times New Roman"/>
              <a:cs typeface="Times New Roman"/>
            </a:endParaRPr>
          </a:p>
          <a:p>
            <a:pPr marL="121070"/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T</a:t>
            </a:r>
            <a:endParaRPr sz="1000" baseline="-33333">
              <a:latin typeface="Arial MT"/>
              <a:cs typeface="Arial MT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54</a:t>
            </a:fld>
            <a:endParaRPr spc="-33" dirty="0"/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xfrm>
            <a:off x="7456525" y="4802949"/>
            <a:ext cx="1591945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April</a:t>
            </a:r>
            <a:r>
              <a:rPr lang="en-ID" spc="-45"/>
              <a:t> </a:t>
            </a:r>
            <a:r>
              <a:rPr lang="en-ID"/>
              <a:t>28,</a:t>
            </a:r>
            <a:r>
              <a:rPr lang="en-ID" spc="-40"/>
              <a:t> </a:t>
            </a:r>
            <a:r>
              <a:rPr lang="en-ID" spc="-20"/>
              <a:t>2022</a:t>
            </a:r>
            <a:endParaRPr spc="-27" dirty="0"/>
          </a:p>
        </p:txBody>
      </p:sp>
      <p:sp>
        <p:nvSpPr>
          <p:cNvPr id="49" name="object 49"/>
          <p:cNvSpPr txBox="1"/>
          <p:nvPr/>
        </p:nvSpPr>
        <p:spPr>
          <a:xfrm>
            <a:off x="1414868" y="1746717"/>
            <a:ext cx="2930313" cy="59174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867" b="1" dirty="0"/>
              <a:t>Many</a:t>
            </a:r>
            <a:r>
              <a:rPr sz="1867" b="1" spc="-27" dirty="0"/>
              <a:t> </a:t>
            </a:r>
            <a:r>
              <a:rPr sz="1867" b="1" dirty="0"/>
              <a:t>to</a:t>
            </a:r>
            <a:r>
              <a:rPr sz="1867" b="1" spc="-27" dirty="0"/>
              <a:t> </a:t>
            </a:r>
            <a:r>
              <a:rPr sz="1867" b="1" dirty="0"/>
              <a:t>one</a:t>
            </a:r>
            <a:r>
              <a:rPr sz="1867" dirty="0">
                <a:latin typeface="Arial MT"/>
                <a:cs typeface="Arial MT"/>
              </a:rPr>
              <a:t>: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Encode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input </a:t>
            </a:r>
            <a:r>
              <a:rPr sz="1867" dirty="0">
                <a:latin typeface="Arial MT"/>
                <a:cs typeface="Arial MT"/>
              </a:rPr>
              <a:t>sequence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in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single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vector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7367" y="5875882"/>
            <a:ext cx="511302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dirty="0">
                <a:latin typeface="Arial MT"/>
                <a:cs typeface="Arial MT"/>
              </a:rPr>
              <a:t>Sutskever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et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al,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“Sequence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to</a:t>
            </a:r>
            <a:r>
              <a:rPr sz="1067" spc="-20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Sequence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Learning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with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Neural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Networks”,</a:t>
            </a:r>
            <a:r>
              <a:rPr sz="1067" spc="-20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NIPS</a:t>
            </a:r>
            <a:r>
              <a:rPr sz="1067" spc="-27" dirty="0">
                <a:latin typeface="Arial MT"/>
                <a:cs typeface="Arial MT"/>
              </a:rPr>
              <a:t> 2014</a:t>
            </a:r>
            <a:endParaRPr sz="1067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601" y="369146"/>
            <a:ext cx="10910995" cy="604375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sz="3733" dirty="0"/>
              <a:t>Sequence</a:t>
            </a:r>
            <a:r>
              <a:rPr sz="3733" spc="-127" dirty="0"/>
              <a:t> </a:t>
            </a:r>
            <a:r>
              <a:rPr sz="3733" dirty="0"/>
              <a:t>to</a:t>
            </a:r>
            <a:r>
              <a:rPr sz="3733" spc="-120" dirty="0"/>
              <a:t> </a:t>
            </a:r>
            <a:r>
              <a:rPr sz="3733" dirty="0"/>
              <a:t>Sequence:</a:t>
            </a:r>
            <a:r>
              <a:rPr sz="3733" spc="-120" dirty="0"/>
              <a:t> </a:t>
            </a:r>
            <a:r>
              <a:rPr sz="3733" spc="-40" dirty="0"/>
              <a:t>Many-</a:t>
            </a:r>
            <a:r>
              <a:rPr sz="3733" spc="-33" dirty="0"/>
              <a:t>to-</a:t>
            </a:r>
            <a:r>
              <a:rPr sz="3733" dirty="0"/>
              <a:t>one</a:t>
            </a:r>
            <a:r>
              <a:rPr sz="3733" spc="-127" dirty="0"/>
              <a:t> </a:t>
            </a:r>
            <a:r>
              <a:rPr sz="3733" spc="-67" dirty="0"/>
              <a:t>+ </a:t>
            </a:r>
            <a:r>
              <a:rPr sz="3733" spc="-27" dirty="0"/>
              <a:t>one-to-many</a:t>
            </a:r>
            <a:endParaRPr sz="3733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3551" y="3408176"/>
            <a:ext cx="248367" cy="1093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07534" y="2066133"/>
            <a:ext cx="381847" cy="433645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467"/>
              </a:spcBef>
            </a:pPr>
            <a:endParaRPr sz="66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67" spc="-33" dirty="0">
                <a:latin typeface="Arial MT"/>
                <a:cs typeface="Arial MT"/>
              </a:rPr>
              <a:t>y</a:t>
            </a:r>
            <a:r>
              <a:rPr sz="1000" spc="-49" baseline="-33333" dirty="0">
                <a:latin typeface="Arial MT"/>
                <a:cs typeface="Arial MT"/>
              </a:rPr>
              <a:t>1</a:t>
            </a:r>
            <a:endParaRPr sz="1000" baseline="-33333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1267" y="2066133"/>
            <a:ext cx="381847" cy="433645"/>
          </a:xfrm>
          <a:prstGeom prst="rect">
            <a:avLst/>
          </a:prstGeom>
          <a:solidFill>
            <a:srgbClr val="CEE1F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467"/>
              </a:spcBef>
            </a:pPr>
            <a:endParaRPr sz="66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67" spc="-33" dirty="0">
                <a:latin typeface="Arial MT"/>
                <a:cs typeface="Arial MT"/>
              </a:rPr>
              <a:t>y</a:t>
            </a:r>
            <a:r>
              <a:rPr sz="1000" spc="-49" baseline="-33333" dirty="0">
                <a:latin typeface="Arial MT"/>
                <a:cs typeface="Arial MT"/>
              </a:rPr>
              <a:t>2</a:t>
            </a:r>
            <a:endParaRPr sz="1000" baseline="-33333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9797" y="2772056"/>
            <a:ext cx="109236" cy="386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16796" y="2772019"/>
            <a:ext cx="109155" cy="3863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82929" y="3199198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67" dirty="0">
                <a:latin typeface="Arial MT"/>
                <a:cs typeface="Arial MT"/>
              </a:rPr>
              <a:t>…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4867" y="2031198"/>
            <a:ext cx="29057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sequence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in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a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single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vector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14867" y="1185384"/>
            <a:ext cx="9282007" cy="87387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721630" marR="6773">
              <a:spcBef>
                <a:spcPts val="133"/>
              </a:spcBef>
            </a:pPr>
            <a:r>
              <a:rPr sz="1867" b="1" dirty="0"/>
              <a:t>One</a:t>
            </a:r>
            <a:r>
              <a:rPr sz="1867" b="1" spc="-27" dirty="0"/>
              <a:t> </a:t>
            </a:r>
            <a:r>
              <a:rPr sz="1867" b="1" dirty="0"/>
              <a:t>to</a:t>
            </a:r>
            <a:r>
              <a:rPr sz="1867" b="1" spc="-27" dirty="0"/>
              <a:t> </a:t>
            </a:r>
            <a:r>
              <a:rPr sz="1867" b="1" dirty="0"/>
              <a:t>many</a:t>
            </a:r>
            <a:r>
              <a:rPr sz="1867" dirty="0">
                <a:latin typeface="Arial MT"/>
                <a:cs typeface="Arial MT"/>
              </a:rPr>
              <a:t>: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Produce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output </a:t>
            </a:r>
            <a:r>
              <a:rPr sz="1867" dirty="0">
                <a:latin typeface="Arial MT"/>
                <a:cs typeface="Arial MT"/>
              </a:rPr>
              <a:t>sequence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from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single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input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vector</a:t>
            </a:r>
            <a:endParaRPr sz="1867">
              <a:latin typeface="Arial MT"/>
              <a:cs typeface="Arial MT"/>
            </a:endParaRPr>
          </a:p>
          <a:p>
            <a:pPr marL="16933">
              <a:lnSpc>
                <a:spcPts val="2180"/>
              </a:lnSpc>
            </a:pPr>
            <a:r>
              <a:rPr sz="1867" b="1" dirty="0"/>
              <a:t>Many</a:t>
            </a:r>
            <a:r>
              <a:rPr sz="1867" b="1" spc="-27" dirty="0"/>
              <a:t> </a:t>
            </a:r>
            <a:r>
              <a:rPr sz="1867" b="1" dirty="0"/>
              <a:t>to</a:t>
            </a:r>
            <a:r>
              <a:rPr sz="1867" b="1" spc="-27" dirty="0"/>
              <a:t> </a:t>
            </a:r>
            <a:r>
              <a:rPr sz="1867" b="1" dirty="0"/>
              <a:t>one</a:t>
            </a:r>
            <a:r>
              <a:rPr sz="1867" dirty="0">
                <a:latin typeface="Arial MT"/>
                <a:cs typeface="Arial MT"/>
              </a:rPr>
              <a:t>: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Encode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input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209882" y="3251416"/>
            <a:ext cx="478367" cy="440267"/>
            <a:chOff x="5407411" y="2438562"/>
            <a:chExt cx="358775" cy="330200"/>
          </a:xfrm>
        </p:grpSpPr>
        <p:sp>
          <p:nvSpPr>
            <p:cNvPr id="12" name="object 12"/>
            <p:cNvSpPr/>
            <p:nvPr/>
          </p:nvSpPr>
          <p:spPr>
            <a:xfrm>
              <a:off x="5412173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348760" y="320162"/>
                  </a:moveTo>
                  <a:lnTo>
                    <a:pt x="0" y="320162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016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3" name="object 13"/>
            <p:cNvSpPr/>
            <p:nvPr/>
          </p:nvSpPr>
          <p:spPr>
            <a:xfrm>
              <a:off x="5412173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0" y="0"/>
                  </a:moveTo>
                  <a:lnTo>
                    <a:pt x="348760" y="0"/>
                  </a:lnTo>
                  <a:lnTo>
                    <a:pt x="348760" y="320162"/>
                  </a:lnTo>
                  <a:lnTo>
                    <a:pt x="0" y="3201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279731" y="3302553"/>
            <a:ext cx="3166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f</a:t>
            </a:r>
            <a:r>
              <a:rPr sz="1800" spc="-49" baseline="-33950" dirty="0">
                <a:latin typeface="Arial MT"/>
                <a:cs typeface="Arial MT"/>
              </a:rPr>
              <a:t>W</a:t>
            </a:r>
            <a:endParaRPr sz="1800" baseline="-33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28139" y="3145655"/>
            <a:ext cx="373380" cy="407997"/>
          </a:xfrm>
          <a:prstGeom prst="rect">
            <a:avLst/>
          </a:prstGeom>
          <a:solidFill>
            <a:srgbClr val="D0E0E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47"/>
              </a:spcBef>
            </a:pPr>
            <a:endParaRPr sz="667">
              <a:latin typeface="Times New Roman"/>
              <a:cs typeface="Times New Roman"/>
            </a:endParaRPr>
          </a:p>
          <a:p>
            <a:pPr marL="123610"/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1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681245" y="3251416"/>
            <a:ext cx="1478280" cy="440267"/>
            <a:chOff x="5760934" y="2438562"/>
            <a:chExt cx="1108710" cy="33020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60934" y="2562415"/>
              <a:ext cx="241768" cy="819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15937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348760" y="320162"/>
                  </a:moveTo>
                  <a:lnTo>
                    <a:pt x="0" y="320162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016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9" name="object 19"/>
            <p:cNvSpPr/>
            <p:nvPr/>
          </p:nvSpPr>
          <p:spPr>
            <a:xfrm>
              <a:off x="6515937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0" y="0"/>
                  </a:moveTo>
                  <a:lnTo>
                    <a:pt x="348760" y="0"/>
                  </a:lnTo>
                  <a:lnTo>
                    <a:pt x="348760" y="320162"/>
                  </a:lnTo>
                  <a:lnTo>
                    <a:pt x="0" y="3201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751416" y="3302553"/>
            <a:ext cx="3166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f</a:t>
            </a:r>
            <a:r>
              <a:rPr sz="1800" spc="-49" baseline="-33950" dirty="0">
                <a:latin typeface="Arial MT"/>
                <a:cs typeface="Arial MT"/>
              </a:rPr>
              <a:t>W</a:t>
            </a:r>
            <a:endParaRPr sz="1800" baseline="-339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99801" y="3145655"/>
            <a:ext cx="373380" cy="407997"/>
          </a:xfrm>
          <a:prstGeom prst="rect">
            <a:avLst/>
          </a:prstGeom>
          <a:solidFill>
            <a:srgbClr val="D0E0E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47"/>
              </a:spcBef>
            </a:pPr>
            <a:endParaRPr sz="667">
              <a:latin typeface="Times New Roman"/>
              <a:cs typeface="Times New Roman"/>
            </a:endParaRPr>
          </a:p>
          <a:p>
            <a:pPr marL="123610"/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2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400939" y="3251416"/>
            <a:ext cx="2230119" cy="440267"/>
            <a:chOff x="6300704" y="2438562"/>
            <a:chExt cx="1672589" cy="33020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0704" y="2562372"/>
              <a:ext cx="196843" cy="819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64698" y="2562415"/>
              <a:ext cx="241768" cy="8198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619702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348760" y="320162"/>
                  </a:moveTo>
                  <a:lnTo>
                    <a:pt x="0" y="320162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016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6" name="object 26"/>
            <p:cNvSpPr/>
            <p:nvPr/>
          </p:nvSpPr>
          <p:spPr>
            <a:xfrm>
              <a:off x="7619702" y="2443325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0" y="0"/>
                  </a:moveTo>
                  <a:lnTo>
                    <a:pt x="348760" y="0"/>
                  </a:lnTo>
                  <a:lnTo>
                    <a:pt x="348760" y="320162"/>
                  </a:lnTo>
                  <a:lnTo>
                    <a:pt x="0" y="3201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223103" y="3302553"/>
            <a:ext cx="3166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f</a:t>
            </a:r>
            <a:r>
              <a:rPr sz="1800" spc="-49" baseline="-33950" dirty="0">
                <a:latin typeface="Arial MT"/>
                <a:cs typeface="Arial MT"/>
              </a:rPr>
              <a:t>W</a:t>
            </a:r>
            <a:endParaRPr sz="1800" baseline="-339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410451" y="3416497"/>
            <a:ext cx="4537287" cy="1356359"/>
            <a:chOff x="4807838" y="2562372"/>
            <a:chExt cx="3402965" cy="1017269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4450" y="2562372"/>
              <a:ext cx="196842" cy="819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68463" y="2562415"/>
              <a:ext cx="241768" cy="8198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812601" y="3254647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348760" y="320162"/>
                  </a:moveTo>
                  <a:lnTo>
                    <a:pt x="0" y="320162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0162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32" name="object 32"/>
            <p:cNvSpPr/>
            <p:nvPr/>
          </p:nvSpPr>
          <p:spPr>
            <a:xfrm>
              <a:off x="4812601" y="3254647"/>
              <a:ext cx="349250" cy="320675"/>
            </a:xfrm>
            <a:custGeom>
              <a:avLst/>
              <a:gdLst/>
              <a:ahLst/>
              <a:cxnLst/>
              <a:rect l="l" t="t" r="r" b="b"/>
              <a:pathLst>
                <a:path w="349250" h="320675">
                  <a:moveTo>
                    <a:pt x="0" y="0"/>
                  </a:moveTo>
                  <a:lnTo>
                    <a:pt x="348760" y="0"/>
                  </a:lnTo>
                  <a:lnTo>
                    <a:pt x="348760" y="320162"/>
                  </a:lnTo>
                  <a:lnTo>
                    <a:pt x="0" y="32016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480302" y="4449339"/>
            <a:ext cx="280247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067" spc="-33" dirty="0">
                <a:latin typeface="Arial MT"/>
                <a:cs typeface="Arial MT"/>
              </a:rPr>
              <a:t>W</a:t>
            </a:r>
            <a:r>
              <a:rPr sz="1000" spc="-49" baseline="-33333" dirty="0">
                <a:latin typeface="Arial MT"/>
                <a:cs typeface="Arial MT"/>
              </a:rPr>
              <a:t>2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36609" y="3693627"/>
            <a:ext cx="3589020" cy="2294467"/>
            <a:chOff x="4977456" y="2770220"/>
            <a:chExt cx="2691765" cy="1720850"/>
          </a:xfrm>
        </p:grpSpPr>
        <p:sp>
          <p:nvSpPr>
            <p:cNvPr id="35" name="object 35"/>
            <p:cNvSpPr/>
            <p:nvPr/>
          </p:nvSpPr>
          <p:spPr>
            <a:xfrm>
              <a:off x="4986981" y="2866189"/>
              <a:ext cx="1539240" cy="1614805"/>
            </a:xfrm>
            <a:custGeom>
              <a:avLst/>
              <a:gdLst/>
              <a:ahLst/>
              <a:cxnLst/>
              <a:rect l="l" t="t" r="r" b="b"/>
              <a:pathLst>
                <a:path w="1539240" h="1614804">
                  <a:moveTo>
                    <a:pt x="0" y="708620"/>
                  </a:moveTo>
                  <a:lnTo>
                    <a:pt x="1270" y="753619"/>
                  </a:lnTo>
                  <a:lnTo>
                    <a:pt x="5023" y="799136"/>
                  </a:lnTo>
                  <a:lnTo>
                    <a:pt x="11174" y="845002"/>
                  </a:lnTo>
                  <a:lnTo>
                    <a:pt x="19636" y="891051"/>
                  </a:lnTo>
                  <a:lnTo>
                    <a:pt x="30325" y="937114"/>
                  </a:lnTo>
                  <a:lnTo>
                    <a:pt x="43154" y="983023"/>
                  </a:lnTo>
                  <a:lnTo>
                    <a:pt x="58039" y="1028611"/>
                  </a:lnTo>
                  <a:lnTo>
                    <a:pt x="74893" y="1073709"/>
                  </a:lnTo>
                  <a:lnTo>
                    <a:pt x="93630" y="1118151"/>
                  </a:lnTo>
                  <a:lnTo>
                    <a:pt x="114166" y="1161767"/>
                  </a:lnTo>
                  <a:lnTo>
                    <a:pt x="136414" y="1204390"/>
                  </a:lnTo>
                  <a:lnTo>
                    <a:pt x="160289" y="1245852"/>
                  </a:lnTo>
                  <a:lnTo>
                    <a:pt x="185705" y="1285986"/>
                  </a:lnTo>
                  <a:lnTo>
                    <a:pt x="212577" y="1324623"/>
                  </a:lnTo>
                  <a:lnTo>
                    <a:pt x="240819" y="1361596"/>
                  </a:lnTo>
                  <a:lnTo>
                    <a:pt x="270346" y="1396736"/>
                  </a:lnTo>
                  <a:lnTo>
                    <a:pt x="301071" y="1429876"/>
                  </a:lnTo>
                  <a:lnTo>
                    <a:pt x="332909" y="1460848"/>
                  </a:lnTo>
                  <a:lnTo>
                    <a:pt x="365775" y="1489484"/>
                  </a:lnTo>
                  <a:lnTo>
                    <a:pt x="399582" y="1515616"/>
                  </a:lnTo>
                  <a:lnTo>
                    <a:pt x="434246" y="1539077"/>
                  </a:lnTo>
                  <a:lnTo>
                    <a:pt x="469680" y="1559697"/>
                  </a:lnTo>
                  <a:lnTo>
                    <a:pt x="505800" y="1577311"/>
                  </a:lnTo>
                  <a:lnTo>
                    <a:pt x="542518" y="1591749"/>
                  </a:lnTo>
                  <a:lnTo>
                    <a:pt x="579751" y="1602844"/>
                  </a:lnTo>
                  <a:lnTo>
                    <a:pt x="617412" y="1610428"/>
                  </a:lnTo>
                  <a:lnTo>
                    <a:pt x="655415" y="1614333"/>
                  </a:lnTo>
                  <a:lnTo>
                    <a:pt x="693675" y="1614391"/>
                  </a:lnTo>
                  <a:lnTo>
                    <a:pt x="732106" y="1610435"/>
                  </a:lnTo>
                  <a:lnTo>
                    <a:pt x="770623" y="1602296"/>
                  </a:lnTo>
                  <a:lnTo>
                    <a:pt x="842775" y="1575496"/>
                  </a:lnTo>
                  <a:lnTo>
                    <a:pt x="878674" y="1556613"/>
                  </a:lnTo>
                  <a:lnTo>
                    <a:pt x="914362" y="1534208"/>
                  </a:lnTo>
                  <a:lnTo>
                    <a:pt x="949768" y="1508381"/>
                  </a:lnTo>
                  <a:lnTo>
                    <a:pt x="984821" y="1479235"/>
                  </a:lnTo>
                  <a:lnTo>
                    <a:pt x="1019451" y="1446868"/>
                  </a:lnTo>
                  <a:lnTo>
                    <a:pt x="1053586" y="1411383"/>
                  </a:lnTo>
                  <a:lnTo>
                    <a:pt x="1087158" y="1372879"/>
                  </a:lnTo>
                  <a:lnTo>
                    <a:pt x="1120094" y="1331458"/>
                  </a:lnTo>
                  <a:lnTo>
                    <a:pt x="1152325" y="1287219"/>
                  </a:lnTo>
                  <a:lnTo>
                    <a:pt x="1183779" y="1240265"/>
                  </a:lnTo>
                  <a:lnTo>
                    <a:pt x="1214388" y="1190694"/>
                  </a:lnTo>
                  <a:lnTo>
                    <a:pt x="1244078" y="1138608"/>
                  </a:lnTo>
                  <a:lnTo>
                    <a:pt x="1272782" y="1084108"/>
                  </a:lnTo>
                  <a:lnTo>
                    <a:pt x="1300426" y="1027294"/>
                  </a:lnTo>
                  <a:lnTo>
                    <a:pt x="1319827" y="984579"/>
                  </a:lnTo>
                  <a:lnTo>
                    <a:pt x="1338603" y="940731"/>
                  </a:lnTo>
                  <a:lnTo>
                    <a:pt x="1356728" y="895791"/>
                  </a:lnTo>
                  <a:lnTo>
                    <a:pt x="1374174" y="849797"/>
                  </a:lnTo>
                  <a:lnTo>
                    <a:pt x="1390915" y="802786"/>
                  </a:lnTo>
                  <a:lnTo>
                    <a:pt x="1406923" y="754799"/>
                  </a:lnTo>
                  <a:lnTo>
                    <a:pt x="1422171" y="705873"/>
                  </a:lnTo>
                  <a:lnTo>
                    <a:pt x="1436632" y="656048"/>
                  </a:lnTo>
                  <a:lnTo>
                    <a:pt x="1450279" y="605362"/>
                  </a:lnTo>
                  <a:lnTo>
                    <a:pt x="1463084" y="553853"/>
                  </a:lnTo>
                  <a:lnTo>
                    <a:pt x="1475021" y="501562"/>
                  </a:lnTo>
                  <a:lnTo>
                    <a:pt x="1485177" y="452973"/>
                  </a:lnTo>
                  <a:lnTo>
                    <a:pt x="1494560" y="403788"/>
                  </a:lnTo>
                  <a:lnTo>
                    <a:pt x="1503148" y="354037"/>
                  </a:lnTo>
                  <a:lnTo>
                    <a:pt x="1510921" y="303749"/>
                  </a:lnTo>
                  <a:lnTo>
                    <a:pt x="1517858" y="252955"/>
                  </a:lnTo>
                  <a:lnTo>
                    <a:pt x="1523937" y="201685"/>
                  </a:lnTo>
                  <a:lnTo>
                    <a:pt x="1527922" y="162937"/>
                  </a:lnTo>
                  <a:lnTo>
                    <a:pt x="1531404" y="123951"/>
                  </a:lnTo>
                  <a:lnTo>
                    <a:pt x="1534375" y="84738"/>
                  </a:lnTo>
                  <a:lnTo>
                    <a:pt x="1536825" y="45312"/>
                  </a:lnTo>
                  <a:lnTo>
                    <a:pt x="1538746" y="5684"/>
                  </a:lnTo>
                  <a:lnTo>
                    <a:pt x="1538963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4961" y="2770230"/>
              <a:ext cx="81967" cy="10611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986981" y="2884680"/>
              <a:ext cx="425450" cy="370205"/>
            </a:xfrm>
            <a:custGeom>
              <a:avLst/>
              <a:gdLst/>
              <a:ahLst/>
              <a:cxnLst/>
              <a:rect l="l" t="t" r="r" b="b"/>
              <a:pathLst>
                <a:path w="425450" h="370204">
                  <a:moveTo>
                    <a:pt x="0" y="369966"/>
                  </a:moveTo>
                  <a:lnTo>
                    <a:pt x="12214" y="357567"/>
                  </a:lnTo>
                  <a:lnTo>
                    <a:pt x="45369" y="352448"/>
                  </a:lnTo>
                  <a:lnTo>
                    <a:pt x="94229" y="347379"/>
                  </a:lnTo>
                  <a:lnTo>
                    <a:pt x="153558" y="335128"/>
                  </a:lnTo>
                  <a:lnTo>
                    <a:pt x="218123" y="308466"/>
                  </a:lnTo>
                  <a:lnTo>
                    <a:pt x="258808" y="281622"/>
                  </a:lnTo>
                  <a:lnTo>
                    <a:pt x="298215" y="246672"/>
                  </a:lnTo>
                  <a:lnTo>
                    <a:pt x="335066" y="203964"/>
                  </a:lnTo>
                  <a:lnTo>
                    <a:pt x="368083" y="153846"/>
                  </a:lnTo>
                  <a:lnTo>
                    <a:pt x="395987" y="96666"/>
                  </a:lnTo>
                  <a:lnTo>
                    <a:pt x="417501" y="32773"/>
                  </a:lnTo>
                  <a:lnTo>
                    <a:pt x="423660" y="7154"/>
                  </a:lnTo>
                  <a:lnTo>
                    <a:pt x="425136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71276" y="2789114"/>
              <a:ext cx="81682" cy="10814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986981" y="2866145"/>
              <a:ext cx="2641600" cy="1615440"/>
            </a:xfrm>
            <a:custGeom>
              <a:avLst/>
              <a:gdLst/>
              <a:ahLst/>
              <a:cxnLst/>
              <a:rect l="l" t="t" r="r" b="b"/>
              <a:pathLst>
                <a:path w="2641600" h="1615439">
                  <a:moveTo>
                    <a:pt x="0" y="708664"/>
                  </a:moveTo>
                  <a:lnTo>
                    <a:pt x="5127" y="778118"/>
                  </a:lnTo>
                  <a:lnTo>
                    <a:pt x="20154" y="848584"/>
                  </a:lnTo>
                  <a:lnTo>
                    <a:pt x="44545" y="919450"/>
                  </a:lnTo>
                  <a:lnTo>
                    <a:pt x="60085" y="954842"/>
                  </a:lnTo>
                  <a:lnTo>
                    <a:pt x="77765" y="990105"/>
                  </a:lnTo>
                  <a:lnTo>
                    <a:pt x="97519" y="1025163"/>
                  </a:lnTo>
                  <a:lnTo>
                    <a:pt x="119279" y="1059939"/>
                  </a:lnTo>
                  <a:lnTo>
                    <a:pt x="142979" y="1094356"/>
                  </a:lnTo>
                  <a:lnTo>
                    <a:pt x="168552" y="1128339"/>
                  </a:lnTo>
                  <a:lnTo>
                    <a:pt x="195930" y="1161811"/>
                  </a:lnTo>
                  <a:lnTo>
                    <a:pt x="225048" y="1194695"/>
                  </a:lnTo>
                  <a:lnTo>
                    <a:pt x="255838" y="1226915"/>
                  </a:lnTo>
                  <a:lnTo>
                    <a:pt x="288233" y="1258394"/>
                  </a:lnTo>
                  <a:lnTo>
                    <a:pt x="322166" y="1289057"/>
                  </a:lnTo>
                  <a:lnTo>
                    <a:pt x="357571" y="1318827"/>
                  </a:lnTo>
                  <a:lnTo>
                    <a:pt x="394380" y="1347627"/>
                  </a:lnTo>
                  <a:lnTo>
                    <a:pt x="432528" y="1375381"/>
                  </a:lnTo>
                  <a:lnTo>
                    <a:pt x="471946" y="1402012"/>
                  </a:lnTo>
                  <a:lnTo>
                    <a:pt x="512568" y="1427445"/>
                  </a:lnTo>
                  <a:lnTo>
                    <a:pt x="554327" y="1451603"/>
                  </a:lnTo>
                  <a:lnTo>
                    <a:pt x="597156" y="1474409"/>
                  </a:lnTo>
                  <a:lnTo>
                    <a:pt x="640988" y="1495786"/>
                  </a:lnTo>
                  <a:lnTo>
                    <a:pt x="685757" y="1515660"/>
                  </a:lnTo>
                  <a:lnTo>
                    <a:pt x="731395" y="1533952"/>
                  </a:lnTo>
                  <a:lnTo>
                    <a:pt x="777837" y="1550587"/>
                  </a:lnTo>
                  <a:lnTo>
                    <a:pt x="825013" y="1565489"/>
                  </a:lnTo>
                  <a:lnTo>
                    <a:pt x="872859" y="1578580"/>
                  </a:lnTo>
                  <a:lnTo>
                    <a:pt x="921307" y="1589785"/>
                  </a:lnTo>
                  <a:lnTo>
                    <a:pt x="970289" y="1599027"/>
                  </a:lnTo>
                  <a:lnTo>
                    <a:pt x="1019740" y="1606229"/>
                  </a:lnTo>
                  <a:lnTo>
                    <a:pt x="1069592" y="1611316"/>
                  </a:lnTo>
                  <a:lnTo>
                    <a:pt x="1119779" y="1614211"/>
                  </a:lnTo>
                  <a:lnTo>
                    <a:pt x="1170233" y="1614837"/>
                  </a:lnTo>
                  <a:lnTo>
                    <a:pt x="1220888" y="1613118"/>
                  </a:lnTo>
                  <a:lnTo>
                    <a:pt x="1271677" y="1608978"/>
                  </a:lnTo>
                  <a:lnTo>
                    <a:pt x="1322532" y="1602340"/>
                  </a:lnTo>
                  <a:lnTo>
                    <a:pt x="1367611" y="1594322"/>
                  </a:lnTo>
                  <a:lnTo>
                    <a:pt x="1412643" y="1584320"/>
                  </a:lnTo>
                  <a:lnTo>
                    <a:pt x="1457581" y="1572373"/>
                  </a:lnTo>
                  <a:lnTo>
                    <a:pt x="1502381" y="1558520"/>
                  </a:lnTo>
                  <a:lnTo>
                    <a:pt x="1546993" y="1542800"/>
                  </a:lnTo>
                  <a:lnTo>
                    <a:pt x="1591373" y="1525251"/>
                  </a:lnTo>
                  <a:lnTo>
                    <a:pt x="1635474" y="1505911"/>
                  </a:lnTo>
                  <a:lnTo>
                    <a:pt x="1679248" y="1484820"/>
                  </a:lnTo>
                  <a:lnTo>
                    <a:pt x="1722650" y="1462017"/>
                  </a:lnTo>
                  <a:lnTo>
                    <a:pt x="1765633" y="1437540"/>
                  </a:lnTo>
                  <a:lnTo>
                    <a:pt x="1808149" y="1411427"/>
                  </a:lnTo>
                  <a:lnTo>
                    <a:pt x="1850154" y="1383718"/>
                  </a:lnTo>
                  <a:lnTo>
                    <a:pt x="1891600" y="1354451"/>
                  </a:lnTo>
                  <a:lnTo>
                    <a:pt x="1932440" y="1323665"/>
                  </a:lnTo>
                  <a:lnTo>
                    <a:pt x="1972628" y="1291399"/>
                  </a:lnTo>
                  <a:lnTo>
                    <a:pt x="2012117" y="1257691"/>
                  </a:lnTo>
                  <a:lnTo>
                    <a:pt x="2050861" y="1222580"/>
                  </a:lnTo>
                  <a:lnTo>
                    <a:pt x="2088813" y="1186105"/>
                  </a:lnTo>
                  <a:lnTo>
                    <a:pt x="2125927" y="1148304"/>
                  </a:lnTo>
                  <a:lnTo>
                    <a:pt x="2162156" y="1109217"/>
                  </a:lnTo>
                  <a:lnTo>
                    <a:pt x="2197454" y="1068882"/>
                  </a:lnTo>
                  <a:lnTo>
                    <a:pt x="2231773" y="1027337"/>
                  </a:lnTo>
                  <a:lnTo>
                    <a:pt x="2262334" y="988226"/>
                  </a:lnTo>
                  <a:lnTo>
                    <a:pt x="2291997" y="948160"/>
                  </a:lnTo>
                  <a:lnTo>
                    <a:pt x="2320728" y="907170"/>
                  </a:lnTo>
                  <a:lnTo>
                    <a:pt x="2348490" y="865287"/>
                  </a:lnTo>
                  <a:lnTo>
                    <a:pt x="2375247" y="822538"/>
                  </a:lnTo>
                  <a:lnTo>
                    <a:pt x="2400964" y="778956"/>
                  </a:lnTo>
                  <a:lnTo>
                    <a:pt x="2425605" y="734569"/>
                  </a:lnTo>
                  <a:lnTo>
                    <a:pt x="2449134" y="689406"/>
                  </a:lnTo>
                  <a:lnTo>
                    <a:pt x="2471514" y="643499"/>
                  </a:lnTo>
                  <a:lnTo>
                    <a:pt x="2492711" y="596877"/>
                  </a:lnTo>
                  <a:lnTo>
                    <a:pt x="2512688" y="549569"/>
                  </a:lnTo>
                  <a:lnTo>
                    <a:pt x="2531409" y="501605"/>
                  </a:lnTo>
                  <a:lnTo>
                    <a:pt x="2548839" y="453016"/>
                  </a:lnTo>
                  <a:lnTo>
                    <a:pt x="2564941" y="403831"/>
                  </a:lnTo>
                  <a:lnTo>
                    <a:pt x="2579680" y="354080"/>
                  </a:lnTo>
                  <a:lnTo>
                    <a:pt x="2593020" y="303793"/>
                  </a:lnTo>
                  <a:lnTo>
                    <a:pt x="2604925" y="252999"/>
                  </a:lnTo>
                  <a:lnTo>
                    <a:pt x="2615359" y="201728"/>
                  </a:lnTo>
                  <a:lnTo>
                    <a:pt x="2622198" y="162981"/>
                  </a:lnTo>
                  <a:lnTo>
                    <a:pt x="2628174" y="123994"/>
                  </a:lnTo>
                  <a:lnTo>
                    <a:pt x="2633272" y="84782"/>
                  </a:lnTo>
                  <a:lnTo>
                    <a:pt x="2637477" y="45355"/>
                  </a:lnTo>
                  <a:lnTo>
                    <a:pt x="2640774" y="5728"/>
                  </a:lnTo>
                  <a:lnTo>
                    <a:pt x="2641166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87175" y="2770220"/>
              <a:ext cx="81943" cy="106523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97367" y="5875882"/>
            <a:ext cx="5113020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dirty="0">
                <a:latin typeface="Arial MT"/>
                <a:cs typeface="Arial MT"/>
              </a:rPr>
              <a:t>Sutskever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et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al,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“Sequence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to</a:t>
            </a:r>
            <a:r>
              <a:rPr sz="1067" spc="-20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Sequence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Learning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with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Neural</a:t>
            </a:r>
            <a:r>
              <a:rPr sz="1067" spc="-27" dirty="0">
                <a:latin typeface="Arial MT"/>
                <a:cs typeface="Arial MT"/>
              </a:rPr>
              <a:t> </a:t>
            </a:r>
            <a:r>
              <a:rPr sz="1067" spc="-13" dirty="0">
                <a:latin typeface="Arial MT"/>
                <a:cs typeface="Arial MT"/>
              </a:rPr>
              <a:t>Networks”,</a:t>
            </a:r>
            <a:r>
              <a:rPr sz="1067" spc="-20" dirty="0">
                <a:latin typeface="Arial MT"/>
                <a:cs typeface="Arial MT"/>
              </a:rPr>
              <a:t> </a:t>
            </a:r>
            <a:r>
              <a:rPr sz="1067" dirty="0">
                <a:latin typeface="Arial MT"/>
                <a:cs typeface="Arial MT"/>
              </a:rPr>
              <a:t>NIPS</a:t>
            </a:r>
            <a:r>
              <a:rPr sz="1067" spc="-27" dirty="0">
                <a:latin typeface="Arial MT"/>
                <a:cs typeface="Arial MT"/>
              </a:rPr>
              <a:t> 2014</a:t>
            </a:r>
            <a:endParaRPr sz="1067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0341" y="3107922"/>
            <a:ext cx="373380" cy="420821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73"/>
              </a:spcBef>
            </a:pPr>
            <a:endParaRPr sz="667">
              <a:latin typeface="Times New Roman"/>
              <a:cs typeface="Times New Roman"/>
            </a:endParaRPr>
          </a:p>
          <a:p>
            <a:pPr marL="123610"/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0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179781" y="3215003"/>
            <a:ext cx="478367" cy="445347"/>
            <a:chOff x="884835" y="2411252"/>
            <a:chExt cx="358775" cy="334010"/>
          </a:xfrm>
        </p:grpSpPr>
        <p:sp>
          <p:nvSpPr>
            <p:cNvPr id="44" name="object 44"/>
            <p:cNvSpPr/>
            <p:nvPr/>
          </p:nvSpPr>
          <p:spPr>
            <a:xfrm>
              <a:off x="889598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348760" y="323887"/>
                  </a:moveTo>
                  <a:lnTo>
                    <a:pt x="0" y="323887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388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45" name="object 45"/>
            <p:cNvSpPr/>
            <p:nvPr/>
          </p:nvSpPr>
          <p:spPr>
            <a:xfrm>
              <a:off x="889598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0" y="0"/>
                  </a:moveTo>
                  <a:lnTo>
                    <a:pt x="348760" y="0"/>
                  </a:lnTo>
                  <a:lnTo>
                    <a:pt x="348760" y="323887"/>
                  </a:lnTo>
                  <a:lnTo>
                    <a:pt x="0" y="3238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249631" y="3268624"/>
            <a:ext cx="3166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f</a:t>
            </a:r>
            <a:r>
              <a:rPr sz="1800" spc="-49" baseline="-33950" dirty="0">
                <a:latin typeface="Arial MT"/>
                <a:cs typeface="Arial MT"/>
              </a:rPr>
              <a:t>W</a:t>
            </a:r>
            <a:endParaRPr sz="1800" baseline="-3395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72042" y="3107922"/>
            <a:ext cx="373380" cy="420821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73"/>
              </a:spcBef>
            </a:pPr>
            <a:endParaRPr sz="667">
              <a:latin typeface="Times New Roman"/>
              <a:cs typeface="Times New Roman"/>
            </a:endParaRPr>
          </a:p>
          <a:p>
            <a:pPr marL="123610"/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1</a:t>
            </a:r>
            <a:endParaRPr sz="1000" baseline="-33333">
              <a:latin typeface="Arial MT"/>
              <a:cs typeface="Arial MT"/>
            </a:endParaRPr>
          </a:p>
        </p:txBody>
      </p:sp>
      <p:pic>
        <p:nvPicPr>
          <p:cNvPr id="48" name="object 4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63993" y="3677593"/>
            <a:ext cx="109308" cy="34902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73140" y="3382549"/>
            <a:ext cx="288467" cy="10930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51146" y="3382624"/>
            <a:ext cx="296348" cy="109307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2651466" y="3215003"/>
            <a:ext cx="478367" cy="445347"/>
            <a:chOff x="1988599" y="2411252"/>
            <a:chExt cx="358775" cy="334010"/>
          </a:xfrm>
        </p:grpSpPr>
        <p:sp>
          <p:nvSpPr>
            <p:cNvPr id="52" name="object 52"/>
            <p:cNvSpPr/>
            <p:nvPr/>
          </p:nvSpPr>
          <p:spPr>
            <a:xfrm>
              <a:off x="1993362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348760" y="323887"/>
                  </a:moveTo>
                  <a:lnTo>
                    <a:pt x="0" y="323887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388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53" name="object 53"/>
            <p:cNvSpPr/>
            <p:nvPr/>
          </p:nvSpPr>
          <p:spPr>
            <a:xfrm>
              <a:off x="1993362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0" y="0"/>
                  </a:moveTo>
                  <a:lnTo>
                    <a:pt x="348760" y="0"/>
                  </a:lnTo>
                  <a:lnTo>
                    <a:pt x="348760" y="323887"/>
                  </a:lnTo>
                  <a:lnTo>
                    <a:pt x="0" y="3238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721316" y="3268624"/>
            <a:ext cx="3166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f</a:t>
            </a:r>
            <a:r>
              <a:rPr sz="1800" spc="-49" baseline="-33950" dirty="0">
                <a:latin typeface="Arial MT"/>
                <a:cs typeface="Arial MT"/>
              </a:rPr>
              <a:t>W</a:t>
            </a:r>
            <a:endParaRPr sz="1800" baseline="-339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69702" y="3107937"/>
            <a:ext cx="373380" cy="420821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73"/>
              </a:spcBef>
            </a:pPr>
            <a:endParaRPr sz="667">
              <a:latin typeface="Times New Roman"/>
              <a:cs typeface="Times New Roman"/>
            </a:endParaRPr>
          </a:p>
          <a:p>
            <a:pPr marL="123610"/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2</a:t>
            </a:r>
            <a:endParaRPr sz="1000" baseline="-33333">
              <a:latin typeface="Arial MT"/>
              <a:cs typeface="Arial MT"/>
            </a:endParaRPr>
          </a:p>
        </p:txBody>
      </p:sp>
      <p:pic>
        <p:nvPicPr>
          <p:cNvPr id="56" name="object 5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44840" y="3382549"/>
            <a:ext cx="288467" cy="10930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835693" y="3677722"/>
            <a:ext cx="109307" cy="356641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22831" y="3382624"/>
            <a:ext cx="322357" cy="109307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4123153" y="3215003"/>
            <a:ext cx="478367" cy="445347"/>
            <a:chOff x="3092364" y="2411252"/>
            <a:chExt cx="358775" cy="334010"/>
          </a:xfrm>
        </p:grpSpPr>
        <p:sp>
          <p:nvSpPr>
            <p:cNvPr id="60" name="object 60"/>
            <p:cNvSpPr/>
            <p:nvPr/>
          </p:nvSpPr>
          <p:spPr>
            <a:xfrm>
              <a:off x="3097127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348760" y="323887"/>
                  </a:moveTo>
                  <a:lnTo>
                    <a:pt x="0" y="323887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388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61" name="object 61"/>
            <p:cNvSpPr/>
            <p:nvPr/>
          </p:nvSpPr>
          <p:spPr>
            <a:xfrm>
              <a:off x="3097127" y="2416015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0" y="0"/>
                  </a:moveTo>
                  <a:lnTo>
                    <a:pt x="348760" y="0"/>
                  </a:lnTo>
                  <a:lnTo>
                    <a:pt x="348760" y="323887"/>
                  </a:lnTo>
                  <a:lnTo>
                    <a:pt x="0" y="3238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4193003" y="3268624"/>
            <a:ext cx="3166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f</a:t>
            </a:r>
            <a:r>
              <a:rPr sz="1800" spc="-49" baseline="-33950" dirty="0">
                <a:latin typeface="Arial MT"/>
                <a:cs typeface="Arial MT"/>
              </a:rPr>
              <a:t>W</a:t>
            </a:r>
            <a:endParaRPr sz="1800" baseline="-3395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941394" y="3107937"/>
            <a:ext cx="373380" cy="420821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73"/>
              </a:spcBef>
            </a:pPr>
            <a:endParaRPr sz="667">
              <a:latin typeface="Times New Roman"/>
              <a:cs typeface="Times New Roman"/>
            </a:endParaRPr>
          </a:p>
          <a:p>
            <a:pPr marL="123610"/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3</a:t>
            </a:r>
            <a:endParaRPr sz="1000" baseline="-33333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188471" y="4034363"/>
            <a:ext cx="373380" cy="420821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73"/>
              </a:spcBef>
            </a:pPr>
            <a:endParaRPr sz="66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67" spc="-33" dirty="0">
                <a:latin typeface="Arial MT"/>
                <a:cs typeface="Arial MT"/>
              </a:rPr>
              <a:t>x</a:t>
            </a:r>
            <a:r>
              <a:rPr sz="1000" spc="-49" baseline="-33333" dirty="0">
                <a:latin typeface="Arial MT"/>
                <a:cs typeface="Arial MT"/>
              </a:rPr>
              <a:t>3</a:t>
            </a:r>
            <a:endParaRPr sz="1000" baseline="-33333">
              <a:latin typeface="Arial MT"/>
              <a:cs typeface="Arial MT"/>
            </a:endParaRPr>
          </a:p>
        </p:txBody>
      </p:sp>
      <p:pic>
        <p:nvPicPr>
          <p:cNvPr id="65" name="object 6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12513" y="3677700"/>
            <a:ext cx="109259" cy="369363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42501" y="3382565"/>
            <a:ext cx="262457" cy="109307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94518" y="3382624"/>
            <a:ext cx="322357" cy="109307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314194" y="3382565"/>
            <a:ext cx="248271" cy="109307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5650701" y="3132560"/>
            <a:ext cx="338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67" dirty="0">
                <a:latin typeface="Arial MT"/>
                <a:cs typeface="Arial MT"/>
              </a:rPr>
              <a:t>…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703947" y="4034363"/>
            <a:ext cx="373380" cy="420821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73"/>
              </a:spcBef>
            </a:pPr>
            <a:endParaRPr sz="66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67" spc="-33" dirty="0">
                <a:latin typeface="Arial MT"/>
                <a:cs typeface="Arial MT"/>
              </a:rPr>
              <a:t>x</a:t>
            </a:r>
            <a:r>
              <a:rPr sz="1000" spc="-49" baseline="-33333" dirty="0">
                <a:latin typeface="Arial MT"/>
                <a:cs typeface="Arial MT"/>
              </a:rPr>
              <a:t>2</a:t>
            </a:r>
            <a:endParaRPr sz="1000" baseline="-33333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232246" y="4026618"/>
            <a:ext cx="373380" cy="420821"/>
          </a:xfrm>
          <a:prstGeom prst="rect">
            <a:avLst/>
          </a:prstGeom>
          <a:solidFill>
            <a:srgbClr val="F4CCCC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73"/>
              </a:spcBef>
            </a:pPr>
            <a:endParaRPr sz="66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67" spc="-33" dirty="0">
                <a:latin typeface="Arial MT"/>
                <a:cs typeface="Arial MT"/>
              </a:rPr>
              <a:t>x</a:t>
            </a:r>
            <a:r>
              <a:rPr sz="1000" spc="-49" baseline="-33333" dirty="0">
                <a:latin typeface="Arial MT"/>
                <a:cs typeface="Arial MT"/>
              </a:rPr>
              <a:t>1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80351" y="4309352"/>
            <a:ext cx="478367" cy="445347"/>
            <a:chOff x="285263" y="3232014"/>
            <a:chExt cx="358775" cy="334010"/>
          </a:xfrm>
        </p:grpSpPr>
        <p:sp>
          <p:nvSpPr>
            <p:cNvPr id="73" name="object 73"/>
            <p:cNvSpPr/>
            <p:nvPr/>
          </p:nvSpPr>
          <p:spPr>
            <a:xfrm>
              <a:off x="290025" y="3236777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348760" y="323887"/>
                  </a:moveTo>
                  <a:lnTo>
                    <a:pt x="0" y="323887"/>
                  </a:lnTo>
                  <a:lnTo>
                    <a:pt x="0" y="0"/>
                  </a:lnTo>
                  <a:lnTo>
                    <a:pt x="348760" y="0"/>
                  </a:lnTo>
                  <a:lnTo>
                    <a:pt x="348760" y="323887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74" name="object 74"/>
            <p:cNvSpPr/>
            <p:nvPr/>
          </p:nvSpPr>
          <p:spPr>
            <a:xfrm>
              <a:off x="290025" y="3236777"/>
              <a:ext cx="349250" cy="324485"/>
            </a:xfrm>
            <a:custGeom>
              <a:avLst/>
              <a:gdLst/>
              <a:ahLst/>
              <a:cxnLst/>
              <a:rect l="l" t="t" r="r" b="b"/>
              <a:pathLst>
                <a:path w="349250" h="324485">
                  <a:moveTo>
                    <a:pt x="0" y="0"/>
                  </a:moveTo>
                  <a:lnTo>
                    <a:pt x="348760" y="0"/>
                  </a:lnTo>
                  <a:lnTo>
                    <a:pt x="348760" y="323887"/>
                  </a:lnTo>
                  <a:lnTo>
                    <a:pt x="0" y="3238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450201" y="4427996"/>
            <a:ext cx="280247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067" spc="-33" dirty="0">
                <a:latin typeface="Arial MT"/>
                <a:cs typeface="Arial MT"/>
              </a:rPr>
              <a:t>W</a:t>
            </a:r>
            <a:r>
              <a:rPr sz="1000" spc="-49" baseline="-33333" dirty="0">
                <a:latin typeface="Arial MT"/>
                <a:cs typeface="Arial MT"/>
              </a:rPr>
              <a:t>1</a:t>
            </a:r>
            <a:endParaRPr sz="1000" baseline="-33333">
              <a:latin typeface="Arial MT"/>
              <a:cs typeface="Arial MT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06508" y="3662001"/>
            <a:ext cx="5372947" cy="2319867"/>
            <a:chOff x="454881" y="2746501"/>
            <a:chExt cx="4029710" cy="1739900"/>
          </a:xfrm>
        </p:grpSpPr>
        <p:sp>
          <p:nvSpPr>
            <p:cNvPr id="77" name="object 77"/>
            <p:cNvSpPr/>
            <p:nvPr/>
          </p:nvSpPr>
          <p:spPr>
            <a:xfrm>
              <a:off x="464406" y="2842470"/>
              <a:ext cx="1539240" cy="1634489"/>
            </a:xfrm>
            <a:custGeom>
              <a:avLst/>
              <a:gdLst/>
              <a:ahLst/>
              <a:cxnLst/>
              <a:rect l="l" t="t" r="r" b="b"/>
              <a:pathLst>
                <a:path w="1539239" h="1634489">
                  <a:moveTo>
                    <a:pt x="0" y="718194"/>
                  </a:moveTo>
                  <a:lnTo>
                    <a:pt x="1270" y="763686"/>
                  </a:lnTo>
                  <a:lnTo>
                    <a:pt x="5023" y="809702"/>
                  </a:lnTo>
                  <a:lnTo>
                    <a:pt x="11174" y="856072"/>
                  </a:lnTo>
                  <a:lnTo>
                    <a:pt x="19636" y="902626"/>
                  </a:lnTo>
                  <a:lnTo>
                    <a:pt x="30325" y="949195"/>
                  </a:lnTo>
                  <a:lnTo>
                    <a:pt x="43154" y="995610"/>
                  </a:lnTo>
                  <a:lnTo>
                    <a:pt x="58039" y="1041699"/>
                  </a:lnTo>
                  <a:lnTo>
                    <a:pt x="74893" y="1087294"/>
                  </a:lnTo>
                  <a:lnTo>
                    <a:pt x="93630" y="1132224"/>
                  </a:lnTo>
                  <a:lnTo>
                    <a:pt x="114166" y="1176320"/>
                  </a:lnTo>
                  <a:lnTo>
                    <a:pt x="136414" y="1219413"/>
                  </a:lnTo>
                  <a:lnTo>
                    <a:pt x="160289" y="1261332"/>
                  </a:lnTo>
                  <a:lnTo>
                    <a:pt x="185705" y="1301907"/>
                  </a:lnTo>
                  <a:lnTo>
                    <a:pt x="212577" y="1340969"/>
                  </a:lnTo>
                  <a:lnTo>
                    <a:pt x="240819" y="1378349"/>
                  </a:lnTo>
                  <a:lnTo>
                    <a:pt x="270346" y="1413876"/>
                  </a:lnTo>
                  <a:lnTo>
                    <a:pt x="301071" y="1447380"/>
                  </a:lnTo>
                  <a:lnTo>
                    <a:pt x="332909" y="1478693"/>
                  </a:lnTo>
                  <a:lnTo>
                    <a:pt x="365774" y="1507643"/>
                  </a:lnTo>
                  <a:lnTo>
                    <a:pt x="399582" y="1534062"/>
                  </a:lnTo>
                  <a:lnTo>
                    <a:pt x="434246" y="1557779"/>
                  </a:lnTo>
                  <a:lnTo>
                    <a:pt x="469680" y="1578625"/>
                  </a:lnTo>
                  <a:lnTo>
                    <a:pt x="505800" y="1596430"/>
                  </a:lnTo>
                  <a:lnTo>
                    <a:pt x="542518" y="1611024"/>
                  </a:lnTo>
                  <a:lnTo>
                    <a:pt x="579751" y="1622238"/>
                  </a:lnTo>
                  <a:lnTo>
                    <a:pt x="617412" y="1629902"/>
                  </a:lnTo>
                  <a:lnTo>
                    <a:pt x="655415" y="1633846"/>
                  </a:lnTo>
                  <a:lnTo>
                    <a:pt x="693675" y="1633900"/>
                  </a:lnTo>
                  <a:lnTo>
                    <a:pt x="732106" y="1629894"/>
                  </a:lnTo>
                  <a:lnTo>
                    <a:pt x="770623" y="1621660"/>
                  </a:lnTo>
                  <a:lnTo>
                    <a:pt x="842775" y="1594552"/>
                  </a:lnTo>
                  <a:lnTo>
                    <a:pt x="878674" y="1575453"/>
                  </a:lnTo>
                  <a:lnTo>
                    <a:pt x="914362" y="1552793"/>
                  </a:lnTo>
                  <a:lnTo>
                    <a:pt x="949768" y="1526673"/>
                  </a:lnTo>
                  <a:lnTo>
                    <a:pt x="984821" y="1497197"/>
                  </a:lnTo>
                  <a:lnTo>
                    <a:pt x="1019450" y="1464464"/>
                  </a:lnTo>
                  <a:lnTo>
                    <a:pt x="1053586" y="1428578"/>
                  </a:lnTo>
                  <a:lnTo>
                    <a:pt x="1087157" y="1389639"/>
                  </a:lnTo>
                  <a:lnTo>
                    <a:pt x="1120094" y="1347750"/>
                  </a:lnTo>
                  <a:lnTo>
                    <a:pt x="1152325" y="1303013"/>
                  </a:lnTo>
                  <a:lnTo>
                    <a:pt x="1183779" y="1255528"/>
                  </a:lnTo>
                  <a:lnTo>
                    <a:pt x="1214387" y="1205399"/>
                  </a:lnTo>
                  <a:lnTo>
                    <a:pt x="1244078" y="1152726"/>
                  </a:lnTo>
                  <a:lnTo>
                    <a:pt x="1272782" y="1097611"/>
                  </a:lnTo>
                  <a:lnTo>
                    <a:pt x="1300426" y="1040157"/>
                  </a:lnTo>
                  <a:lnTo>
                    <a:pt x="1319827" y="996961"/>
                  </a:lnTo>
                  <a:lnTo>
                    <a:pt x="1338603" y="952620"/>
                  </a:lnTo>
                  <a:lnTo>
                    <a:pt x="1356728" y="907173"/>
                  </a:lnTo>
                  <a:lnTo>
                    <a:pt x="1374174" y="860660"/>
                  </a:lnTo>
                  <a:lnTo>
                    <a:pt x="1390915" y="813120"/>
                  </a:lnTo>
                  <a:lnTo>
                    <a:pt x="1406923" y="764593"/>
                  </a:lnTo>
                  <a:lnTo>
                    <a:pt x="1422171" y="715116"/>
                  </a:lnTo>
                  <a:lnTo>
                    <a:pt x="1436632" y="664729"/>
                  </a:lnTo>
                  <a:lnTo>
                    <a:pt x="1450279" y="613472"/>
                  </a:lnTo>
                  <a:lnTo>
                    <a:pt x="1463084" y="561384"/>
                  </a:lnTo>
                  <a:lnTo>
                    <a:pt x="1475021" y="508503"/>
                  </a:lnTo>
                  <a:lnTo>
                    <a:pt x="1485177" y="459367"/>
                  </a:lnTo>
                  <a:lnTo>
                    <a:pt x="1494560" y="409627"/>
                  </a:lnTo>
                  <a:lnTo>
                    <a:pt x="1503148" y="359315"/>
                  </a:lnTo>
                  <a:lnTo>
                    <a:pt x="1510921" y="308461"/>
                  </a:lnTo>
                  <a:lnTo>
                    <a:pt x="1517858" y="257095"/>
                  </a:lnTo>
                  <a:lnTo>
                    <a:pt x="1523937" y="205246"/>
                  </a:lnTo>
                  <a:lnTo>
                    <a:pt x="1527922" y="166062"/>
                  </a:lnTo>
                  <a:lnTo>
                    <a:pt x="1531404" y="126636"/>
                  </a:lnTo>
                  <a:lnTo>
                    <a:pt x="1534375" y="86981"/>
                  </a:lnTo>
                  <a:lnTo>
                    <a:pt x="1536825" y="47110"/>
                  </a:lnTo>
                  <a:lnTo>
                    <a:pt x="1538746" y="7036"/>
                  </a:lnTo>
                  <a:lnTo>
                    <a:pt x="1539012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78" name="object 7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962434" y="2746511"/>
              <a:ext cx="81968" cy="106099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64406" y="2861291"/>
              <a:ext cx="426720" cy="375920"/>
            </a:xfrm>
            <a:custGeom>
              <a:avLst/>
              <a:gdLst/>
              <a:ahLst/>
              <a:cxnLst/>
              <a:rect l="l" t="t" r="r" b="b"/>
              <a:pathLst>
                <a:path w="426719" h="375919">
                  <a:moveTo>
                    <a:pt x="0" y="375485"/>
                  </a:moveTo>
                  <a:lnTo>
                    <a:pt x="12214" y="368443"/>
                  </a:lnTo>
                  <a:lnTo>
                    <a:pt x="45369" y="368320"/>
                  </a:lnTo>
                  <a:lnTo>
                    <a:pt x="94229" y="367355"/>
                  </a:lnTo>
                  <a:lnTo>
                    <a:pt x="153558" y="357787"/>
                  </a:lnTo>
                  <a:lnTo>
                    <a:pt x="218123" y="331855"/>
                  </a:lnTo>
                  <a:lnTo>
                    <a:pt x="258808" y="304281"/>
                  </a:lnTo>
                  <a:lnTo>
                    <a:pt x="298215" y="267744"/>
                  </a:lnTo>
                  <a:lnTo>
                    <a:pt x="335066" y="222706"/>
                  </a:lnTo>
                  <a:lnTo>
                    <a:pt x="368083" y="169628"/>
                  </a:lnTo>
                  <a:lnTo>
                    <a:pt x="395987" y="108970"/>
                  </a:lnTo>
                  <a:lnTo>
                    <a:pt x="417501" y="41193"/>
                  </a:lnTo>
                  <a:lnTo>
                    <a:pt x="425462" y="4780"/>
                  </a:lnTo>
                  <a:lnTo>
                    <a:pt x="426317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80" name="object 8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49852" y="2765642"/>
              <a:ext cx="81743" cy="10790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464406" y="2842428"/>
              <a:ext cx="2641600" cy="1634489"/>
            </a:xfrm>
            <a:custGeom>
              <a:avLst/>
              <a:gdLst/>
              <a:ahLst/>
              <a:cxnLst/>
              <a:rect l="l" t="t" r="r" b="b"/>
              <a:pathLst>
                <a:path w="2641600" h="1634489">
                  <a:moveTo>
                    <a:pt x="0" y="718235"/>
                  </a:moveTo>
                  <a:lnTo>
                    <a:pt x="5127" y="788451"/>
                  </a:lnTo>
                  <a:lnTo>
                    <a:pt x="20154" y="859690"/>
                  </a:lnTo>
                  <a:lnTo>
                    <a:pt x="44545" y="931335"/>
                  </a:lnTo>
                  <a:lnTo>
                    <a:pt x="60085" y="967116"/>
                  </a:lnTo>
                  <a:lnTo>
                    <a:pt x="77765" y="1002767"/>
                  </a:lnTo>
                  <a:lnTo>
                    <a:pt x="97519" y="1038210"/>
                  </a:lnTo>
                  <a:lnTo>
                    <a:pt x="119279" y="1073369"/>
                  </a:lnTo>
                  <a:lnTo>
                    <a:pt x="142979" y="1108165"/>
                  </a:lnTo>
                  <a:lnTo>
                    <a:pt x="168552" y="1142522"/>
                  </a:lnTo>
                  <a:lnTo>
                    <a:pt x="195930" y="1176362"/>
                  </a:lnTo>
                  <a:lnTo>
                    <a:pt x="225048" y="1209608"/>
                  </a:lnTo>
                  <a:lnTo>
                    <a:pt x="255838" y="1242183"/>
                  </a:lnTo>
                  <a:lnTo>
                    <a:pt x="288233" y="1274009"/>
                  </a:lnTo>
                  <a:lnTo>
                    <a:pt x="322166" y="1305009"/>
                  </a:lnTo>
                  <a:lnTo>
                    <a:pt x="357571" y="1335107"/>
                  </a:lnTo>
                  <a:lnTo>
                    <a:pt x="394380" y="1364224"/>
                  </a:lnTo>
                  <a:lnTo>
                    <a:pt x="432528" y="1392283"/>
                  </a:lnTo>
                  <a:lnTo>
                    <a:pt x="471946" y="1419208"/>
                  </a:lnTo>
                  <a:lnTo>
                    <a:pt x="512568" y="1444920"/>
                  </a:lnTo>
                  <a:lnTo>
                    <a:pt x="554327" y="1469343"/>
                  </a:lnTo>
                  <a:lnTo>
                    <a:pt x="597156" y="1492399"/>
                  </a:lnTo>
                  <a:lnTo>
                    <a:pt x="640988" y="1514012"/>
                  </a:lnTo>
                  <a:lnTo>
                    <a:pt x="685757" y="1534103"/>
                  </a:lnTo>
                  <a:lnTo>
                    <a:pt x="731395" y="1552596"/>
                  </a:lnTo>
                  <a:lnTo>
                    <a:pt x="777837" y="1569413"/>
                  </a:lnTo>
                  <a:lnTo>
                    <a:pt x="825013" y="1584477"/>
                  </a:lnTo>
                  <a:lnTo>
                    <a:pt x="872859" y="1597710"/>
                  </a:lnTo>
                  <a:lnTo>
                    <a:pt x="921306" y="1609036"/>
                  </a:lnTo>
                  <a:lnTo>
                    <a:pt x="970289" y="1618378"/>
                  </a:lnTo>
                  <a:lnTo>
                    <a:pt x="1019740" y="1625657"/>
                  </a:lnTo>
                  <a:lnTo>
                    <a:pt x="1069592" y="1630797"/>
                  </a:lnTo>
                  <a:lnTo>
                    <a:pt x="1119779" y="1633720"/>
                  </a:lnTo>
                  <a:lnTo>
                    <a:pt x="1170233" y="1634349"/>
                  </a:lnTo>
                  <a:lnTo>
                    <a:pt x="1220888" y="1632607"/>
                  </a:lnTo>
                  <a:lnTo>
                    <a:pt x="1271676" y="1628417"/>
                  </a:lnTo>
                  <a:lnTo>
                    <a:pt x="1322532" y="1621701"/>
                  </a:lnTo>
                  <a:lnTo>
                    <a:pt x="1367611" y="1613590"/>
                  </a:lnTo>
                  <a:lnTo>
                    <a:pt x="1412643" y="1603474"/>
                  </a:lnTo>
                  <a:lnTo>
                    <a:pt x="1457581" y="1591390"/>
                  </a:lnTo>
                  <a:lnTo>
                    <a:pt x="1502380" y="1577379"/>
                  </a:lnTo>
                  <a:lnTo>
                    <a:pt x="1546993" y="1561480"/>
                  </a:lnTo>
                  <a:lnTo>
                    <a:pt x="1591373" y="1543731"/>
                  </a:lnTo>
                  <a:lnTo>
                    <a:pt x="1635474" y="1524172"/>
                  </a:lnTo>
                  <a:lnTo>
                    <a:pt x="1679248" y="1502843"/>
                  </a:lnTo>
                  <a:lnTo>
                    <a:pt x="1722650" y="1479781"/>
                  </a:lnTo>
                  <a:lnTo>
                    <a:pt x="1765632" y="1455027"/>
                  </a:lnTo>
                  <a:lnTo>
                    <a:pt x="1808149" y="1428619"/>
                  </a:lnTo>
                  <a:lnTo>
                    <a:pt x="1850154" y="1400597"/>
                  </a:lnTo>
                  <a:lnTo>
                    <a:pt x="1891599" y="1371000"/>
                  </a:lnTo>
                  <a:lnTo>
                    <a:pt x="1932439" y="1339866"/>
                  </a:lnTo>
                  <a:lnTo>
                    <a:pt x="1972627" y="1307236"/>
                  </a:lnTo>
                  <a:lnTo>
                    <a:pt x="2012117" y="1273148"/>
                  </a:lnTo>
                  <a:lnTo>
                    <a:pt x="2050861" y="1237641"/>
                  </a:lnTo>
                  <a:lnTo>
                    <a:pt x="2088813" y="1200755"/>
                  </a:lnTo>
                  <a:lnTo>
                    <a:pt x="2125927" y="1162529"/>
                  </a:lnTo>
                  <a:lnTo>
                    <a:pt x="2162156" y="1123001"/>
                  </a:lnTo>
                  <a:lnTo>
                    <a:pt x="2197454" y="1082211"/>
                  </a:lnTo>
                  <a:lnTo>
                    <a:pt x="2231773" y="1040198"/>
                  </a:lnTo>
                  <a:lnTo>
                    <a:pt x="2262333" y="1000646"/>
                  </a:lnTo>
                  <a:lnTo>
                    <a:pt x="2291997" y="960129"/>
                  </a:lnTo>
                  <a:lnTo>
                    <a:pt x="2320728" y="918678"/>
                  </a:lnTo>
                  <a:lnTo>
                    <a:pt x="2348490" y="876322"/>
                  </a:lnTo>
                  <a:lnTo>
                    <a:pt x="2375247" y="833093"/>
                  </a:lnTo>
                  <a:lnTo>
                    <a:pt x="2400964" y="789019"/>
                  </a:lnTo>
                  <a:lnTo>
                    <a:pt x="2425605" y="744132"/>
                  </a:lnTo>
                  <a:lnTo>
                    <a:pt x="2449134" y="698461"/>
                  </a:lnTo>
                  <a:lnTo>
                    <a:pt x="2471514" y="652037"/>
                  </a:lnTo>
                  <a:lnTo>
                    <a:pt x="2492711" y="604889"/>
                  </a:lnTo>
                  <a:lnTo>
                    <a:pt x="2512688" y="557048"/>
                  </a:lnTo>
                  <a:lnTo>
                    <a:pt x="2531409" y="508545"/>
                  </a:lnTo>
                  <a:lnTo>
                    <a:pt x="2548839" y="459408"/>
                  </a:lnTo>
                  <a:lnTo>
                    <a:pt x="2564941" y="409669"/>
                  </a:lnTo>
                  <a:lnTo>
                    <a:pt x="2579680" y="359357"/>
                  </a:lnTo>
                  <a:lnTo>
                    <a:pt x="2593020" y="308503"/>
                  </a:lnTo>
                  <a:lnTo>
                    <a:pt x="2604925" y="257136"/>
                  </a:lnTo>
                  <a:lnTo>
                    <a:pt x="2615359" y="205288"/>
                  </a:lnTo>
                  <a:lnTo>
                    <a:pt x="2622198" y="166104"/>
                  </a:lnTo>
                  <a:lnTo>
                    <a:pt x="2628174" y="126678"/>
                  </a:lnTo>
                  <a:lnTo>
                    <a:pt x="2633272" y="87023"/>
                  </a:lnTo>
                  <a:lnTo>
                    <a:pt x="2637477" y="47152"/>
                  </a:lnTo>
                  <a:lnTo>
                    <a:pt x="2640774" y="7078"/>
                  </a:lnTo>
                  <a:lnTo>
                    <a:pt x="2641253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82" name="object 8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64687" y="2746501"/>
              <a:ext cx="81945" cy="106501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464406" y="2984526"/>
              <a:ext cx="3978910" cy="1489075"/>
            </a:xfrm>
            <a:custGeom>
              <a:avLst/>
              <a:gdLst/>
              <a:ahLst/>
              <a:cxnLst/>
              <a:rect l="l" t="t" r="r" b="b"/>
              <a:pathLst>
                <a:path w="3978910" h="1489075">
                  <a:moveTo>
                    <a:pt x="0" y="576137"/>
                  </a:moveTo>
                  <a:lnTo>
                    <a:pt x="4536" y="629637"/>
                  </a:lnTo>
                  <a:lnTo>
                    <a:pt x="17906" y="683676"/>
                  </a:lnTo>
                  <a:lnTo>
                    <a:pt x="39749" y="737997"/>
                  </a:lnTo>
                  <a:lnTo>
                    <a:pt x="69704" y="792342"/>
                  </a:lnTo>
                  <a:lnTo>
                    <a:pt x="107411" y="846455"/>
                  </a:lnTo>
                  <a:lnTo>
                    <a:pt x="152509" y="900079"/>
                  </a:lnTo>
                  <a:lnTo>
                    <a:pt x="204637" y="952956"/>
                  </a:lnTo>
                  <a:lnTo>
                    <a:pt x="233225" y="979034"/>
                  </a:lnTo>
                  <a:lnTo>
                    <a:pt x="263436" y="1004829"/>
                  </a:lnTo>
                  <a:lnTo>
                    <a:pt x="295224" y="1030309"/>
                  </a:lnTo>
                  <a:lnTo>
                    <a:pt x="328544" y="1055441"/>
                  </a:lnTo>
                  <a:lnTo>
                    <a:pt x="363351" y="1080194"/>
                  </a:lnTo>
                  <a:lnTo>
                    <a:pt x="399601" y="1104536"/>
                  </a:lnTo>
                  <a:lnTo>
                    <a:pt x="437248" y="1128433"/>
                  </a:lnTo>
                  <a:lnTo>
                    <a:pt x="476246" y="1151855"/>
                  </a:lnTo>
                  <a:lnTo>
                    <a:pt x="516552" y="1174769"/>
                  </a:lnTo>
                  <a:lnTo>
                    <a:pt x="558119" y="1197142"/>
                  </a:lnTo>
                  <a:lnTo>
                    <a:pt x="600904" y="1218943"/>
                  </a:lnTo>
                  <a:lnTo>
                    <a:pt x="644860" y="1240140"/>
                  </a:lnTo>
                  <a:lnTo>
                    <a:pt x="689943" y="1260700"/>
                  </a:lnTo>
                  <a:lnTo>
                    <a:pt x="736107" y="1280591"/>
                  </a:lnTo>
                  <a:lnTo>
                    <a:pt x="783308" y="1299782"/>
                  </a:lnTo>
                  <a:lnTo>
                    <a:pt x="831501" y="1318239"/>
                  </a:lnTo>
                  <a:lnTo>
                    <a:pt x="880640" y="1335931"/>
                  </a:lnTo>
                  <a:lnTo>
                    <a:pt x="930680" y="1352826"/>
                  </a:lnTo>
                  <a:lnTo>
                    <a:pt x="981577" y="1368892"/>
                  </a:lnTo>
                  <a:lnTo>
                    <a:pt x="1033284" y="1384096"/>
                  </a:lnTo>
                  <a:lnTo>
                    <a:pt x="1085758" y="1398406"/>
                  </a:lnTo>
                  <a:lnTo>
                    <a:pt x="1138953" y="1411790"/>
                  </a:lnTo>
                  <a:lnTo>
                    <a:pt x="1192825" y="1424216"/>
                  </a:lnTo>
                  <a:lnTo>
                    <a:pt x="1247327" y="1435652"/>
                  </a:lnTo>
                  <a:lnTo>
                    <a:pt x="1302414" y="1446066"/>
                  </a:lnTo>
                  <a:lnTo>
                    <a:pt x="1358043" y="1455426"/>
                  </a:lnTo>
                  <a:lnTo>
                    <a:pt x="1414168" y="1463698"/>
                  </a:lnTo>
                  <a:lnTo>
                    <a:pt x="1470743" y="1470853"/>
                  </a:lnTo>
                  <a:lnTo>
                    <a:pt x="1527724" y="1476856"/>
                  </a:lnTo>
                  <a:lnTo>
                    <a:pt x="1585065" y="1481676"/>
                  </a:lnTo>
                  <a:lnTo>
                    <a:pt x="1642722" y="1485281"/>
                  </a:lnTo>
                  <a:lnTo>
                    <a:pt x="1700649" y="1487639"/>
                  </a:lnTo>
                  <a:lnTo>
                    <a:pt x="1758801" y="1488718"/>
                  </a:lnTo>
                  <a:lnTo>
                    <a:pt x="1817134" y="1488485"/>
                  </a:lnTo>
                  <a:lnTo>
                    <a:pt x="1875602" y="1486908"/>
                  </a:lnTo>
                  <a:lnTo>
                    <a:pt x="1934160" y="1483955"/>
                  </a:lnTo>
                  <a:lnTo>
                    <a:pt x="1992763" y="1479595"/>
                  </a:lnTo>
                  <a:lnTo>
                    <a:pt x="2042578" y="1474763"/>
                  </a:lnTo>
                  <a:lnTo>
                    <a:pt x="2092365" y="1468906"/>
                  </a:lnTo>
                  <a:lnTo>
                    <a:pt x="2142096" y="1462038"/>
                  </a:lnTo>
                  <a:lnTo>
                    <a:pt x="2191745" y="1454174"/>
                  </a:lnTo>
                  <a:lnTo>
                    <a:pt x="2241282" y="1445330"/>
                  </a:lnTo>
                  <a:lnTo>
                    <a:pt x="2290682" y="1435520"/>
                  </a:lnTo>
                  <a:lnTo>
                    <a:pt x="2339915" y="1424759"/>
                  </a:lnTo>
                  <a:lnTo>
                    <a:pt x="2388954" y="1413063"/>
                  </a:lnTo>
                  <a:lnTo>
                    <a:pt x="2437773" y="1400445"/>
                  </a:lnTo>
                  <a:lnTo>
                    <a:pt x="2486342" y="1386922"/>
                  </a:lnTo>
                  <a:lnTo>
                    <a:pt x="2534634" y="1372507"/>
                  </a:lnTo>
                  <a:lnTo>
                    <a:pt x="2582622" y="1357217"/>
                  </a:lnTo>
                  <a:lnTo>
                    <a:pt x="2630277" y="1341065"/>
                  </a:lnTo>
                  <a:lnTo>
                    <a:pt x="2677573" y="1324067"/>
                  </a:lnTo>
                  <a:lnTo>
                    <a:pt x="2724481" y="1306238"/>
                  </a:lnTo>
                  <a:lnTo>
                    <a:pt x="2770975" y="1287592"/>
                  </a:lnTo>
                  <a:lnTo>
                    <a:pt x="2817025" y="1268145"/>
                  </a:lnTo>
                  <a:lnTo>
                    <a:pt x="2862605" y="1247912"/>
                  </a:lnTo>
                  <a:lnTo>
                    <a:pt x="2907687" y="1226907"/>
                  </a:lnTo>
                  <a:lnTo>
                    <a:pt x="2952242" y="1205146"/>
                  </a:lnTo>
                  <a:lnTo>
                    <a:pt x="2996245" y="1182643"/>
                  </a:lnTo>
                  <a:lnTo>
                    <a:pt x="3039666" y="1159413"/>
                  </a:lnTo>
                  <a:lnTo>
                    <a:pt x="3082478" y="1135472"/>
                  </a:lnTo>
                  <a:lnTo>
                    <a:pt x="3124654" y="1110834"/>
                  </a:lnTo>
                  <a:lnTo>
                    <a:pt x="3166165" y="1085514"/>
                  </a:lnTo>
                  <a:lnTo>
                    <a:pt x="3206984" y="1059527"/>
                  </a:lnTo>
                  <a:lnTo>
                    <a:pt x="3247084" y="1032889"/>
                  </a:lnTo>
                  <a:lnTo>
                    <a:pt x="3286436" y="1005613"/>
                  </a:lnTo>
                  <a:lnTo>
                    <a:pt x="3325014" y="977715"/>
                  </a:lnTo>
                  <a:lnTo>
                    <a:pt x="3362789" y="949211"/>
                  </a:lnTo>
                  <a:lnTo>
                    <a:pt x="3405342" y="915586"/>
                  </a:lnTo>
                  <a:lnTo>
                    <a:pt x="3446747" y="881196"/>
                  </a:lnTo>
                  <a:lnTo>
                    <a:pt x="3486961" y="846063"/>
                  </a:lnTo>
                  <a:lnTo>
                    <a:pt x="3525942" y="810211"/>
                  </a:lnTo>
                  <a:lnTo>
                    <a:pt x="3563648" y="773662"/>
                  </a:lnTo>
                  <a:lnTo>
                    <a:pt x="3600036" y="736440"/>
                  </a:lnTo>
                  <a:lnTo>
                    <a:pt x="3635063" y="698567"/>
                  </a:lnTo>
                  <a:lnTo>
                    <a:pt x="3668688" y="660066"/>
                  </a:lnTo>
                  <a:lnTo>
                    <a:pt x="3700866" y="620961"/>
                  </a:lnTo>
                  <a:lnTo>
                    <a:pt x="3731557" y="581274"/>
                  </a:lnTo>
                  <a:lnTo>
                    <a:pt x="3760717" y="541028"/>
                  </a:lnTo>
                  <a:lnTo>
                    <a:pt x="3788303" y="500247"/>
                  </a:lnTo>
                  <a:lnTo>
                    <a:pt x="3814274" y="458952"/>
                  </a:lnTo>
                  <a:lnTo>
                    <a:pt x="3840537" y="413665"/>
                  </a:lnTo>
                  <a:lnTo>
                    <a:pt x="3864800" y="367831"/>
                  </a:lnTo>
                  <a:lnTo>
                    <a:pt x="3887008" y="321481"/>
                  </a:lnTo>
                  <a:lnTo>
                    <a:pt x="3907108" y="274644"/>
                  </a:lnTo>
                  <a:lnTo>
                    <a:pt x="3925046" y="227348"/>
                  </a:lnTo>
                  <a:lnTo>
                    <a:pt x="3940768" y="179623"/>
                  </a:lnTo>
                  <a:lnTo>
                    <a:pt x="3960076" y="107296"/>
                  </a:lnTo>
                  <a:lnTo>
                    <a:pt x="3974094" y="34168"/>
                  </a:lnTo>
                  <a:lnTo>
                    <a:pt x="3976751" y="15772"/>
                  </a:lnTo>
                  <a:lnTo>
                    <a:pt x="3977165" y="12702"/>
                  </a:lnTo>
                  <a:lnTo>
                    <a:pt x="3977565" y="9631"/>
                  </a:lnTo>
                  <a:lnTo>
                    <a:pt x="3977950" y="6558"/>
                  </a:lnTo>
                  <a:lnTo>
                    <a:pt x="3978741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84" name="object 8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402212" y="2888703"/>
              <a:ext cx="81869" cy="107216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6261575" y="3107937"/>
            <a:ext cx="403013" cy="420821"/>
          </a:xfrm>
          <a:prstGeom prst="rect">
            <a:avLst/>
          </a:prstGeom>
          <a:solidFill>
            <a:srgbClr val="D9EAD3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67">
              <a:latin typeface="Times New Roman"/>
              <a:cs typeface="Times New Roman"/>
            </a:endParaRPr>
          </a:p>
          <a:p>
            <a:pPr>
              <a:spcBef>
                <a:spcPts val="373"/>
              </a:spcBef>
            </a:pPr>
            <a:endParaRPr sz="667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67" spc="-33" dirty="0">
                <a:latin typeface="Arial MT"/>
                <a:cs typeface="Arial MT"/>
              </a:rPr>
              <a:t>h</a:t>
            </a:r>
            <a:r>
              <a:rPr sz="1000" spc="-49" baseline="-33333" dirty="0">
                <a:latin typeface="Arial MT"/>
                <a:cs typeface="Arial MT"/>
              </a:rPr>
              <a:t>T</a:t>
            </a:r>
            <a:endParaRPr sz="1000" baseline="-33333">
              <a:latin typeface="Arial MT"/>
              <a:cs typeface="Arial MT"/>
            </a:endParaRPr>
          </a:p>
        </p:txBody>
      </p:sp>
      <p:pic>
        <p:nvPicPr>
          <p:cNvPr id="86" name="object 8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002490" y="3382565"/>
            <a:ext cx="248271" cy="109307"/>
          </a:xfrm>
          <a:prstGeom prst="rect">
            <a:avLst/>
          </a:prstGeom>
        </p:spPr>
      </p:pic>
      <p:sp>
        <p:nvSpPr>
          <p:cNvPr id="88" name="object 88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55</a:t>
            </a:fld>
            <a:endParaRPr spc="-3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6600" y="501377"/>
            <a:ext cx="3237653" cy="4992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200" b="1" spc="-13" dirty="0"/>
              <a:t>Example: </a:t>
            </a:r>
            <a:r>
              <a:rPr sz="3200" b="1" spc="-33" dirty="0"/>
              <a:t>Character-</a:t>
            </a:r>
            <a:r>
              <a:rPr sz="3200" b="1" spc="-13" dirty="0"/>
              <a:t>level </a:t>
            </a:r>
            <a:r>
              <a:rPr sz="3200" b="1" dirty="0"/>
              <a:t>Language</a:t>
            </a:r>
            <a:r>
              <a:rPr sz="3200" b="1" spc="-53" dirty="0"/>
              <a:t> </a:t>
            </a:r>
            <a:r>
              <a:rPr sz="3200" b="1" spc="-13" dirty="0"/>
              <a:t>Model</a:t>
            </a:r>
            <a:endParaRPr sz="3200"/>
          </a:p>
          <a:p>
            <a:pPr>
              <a:spcBef>
                <a:spcPts val="160"/>
              </a:spcBef>
            </a:pPr>
            <a:endParaRPr sz="3200"/>
          </a:p>
          <a:p>
            <a:pPr marL="16933" marR="1089631"/>
            <a:r>
              <a:rPr sz="3200" spc="-33" dirty="0">
                <a:latin typeface="Arial MT"/>
                <a:cs typeface="Arial MT"/>
              </a:rPr>
              <a:t>Vocabulary: </a:t>
            </a:r>
            <a:r>
              <a:rPr sz="3200" spc="-13" dirty="0">
                <a:latin typeface="Arial MT"/>
                <a:cs typeface="Arial MT"/>
              </a:rPr>
              <a:t>[h,e,l,o]</a:t>
            </a:r>
            <a:endParaRPr sz="3200">
              <a:latin typeface="Arial MT"/>
              <a:cs typeface="Arial MT"/>
            </a:endParaRPr>
          </a:p>
          <a:p>
            <a:pPr>
              <a:spcBef>
                <a:spcPts val="160"/>
              </a:spcBef>
            </a:pPr>
            <a:endParaRPr sz="3200">
              <a:latin typeface="Arial MT"/>
              <a:cs typeface="Arial MT"/>
            </a:endParaRPr>
          </a:p>
          <a:p>
            <a:pPr marL="16933" marR="184569"/>
            <a:r>
              <a:rPr sz="3200" dirty="0">
                <a:latin typeface="Arial MT"/>
                <a:cs typeface="Arial MT"/>
              </a:rPr>
              <a:t>Example</a:t>
            </a:r>
            <a:r>
              <a:rPr sz="3200" spc="-173" dirty="0">
                <a:latin typeface="Arial MT"/>
                <a:cs typeface="Arial MT"/>
              </a:rPr>
              <a:t> </a:t>
            </a:r>
            <a:r>
              <a:rPr sz="3200" spc="-13" dirty="0">
                <a:latin typeface="Arial MT"/>
                <a:cs typeface="Arial MT"/>
              </a:rPr>
              <a:t>training sequence: </a:t>
            </a:r>
            <a:r>
              <a:rPr sz="3200" b="1" spc="-13" dirty="0"/>
              <a:t>“hello”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3564253" y="501377"/>
            <a:ext cx="8363559" cy="5260823"/>
            <a:chOff x="2776199" y="114774"/>
            <a:chExt cx="6169660" cy="42068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2435" y="168510"/>
              <a:ext cx="5179268" cy="41527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76199" y="114774"/>
              <a:ext cx="6169660" cy="2975610"/>
            </a:xfrm>
            <a:custGeom>
              <a:avLst/>
              <a:gdLst/>
              <a:ahLst/>
              <a:cxnLst/>
              <a:rect l="l" t="t" r="r" b="b"/>
              <a:pathLst>
                <a:path w="6169659" h="2975610">
                  <a:moveTo>
                    <a:pt x="6169199" y="2975099"/>
                  </a:moveTo>
                  <a:lnTo>
                    <a:pt x="0" y="2975099"/>
                  </a:lnTo>
                  <a:lnTo>
                    <a:pt x="0" y="0"/>
                  </a:lnTo>
                  <a:lnTo>
                    <a:pt x="6169199" y="0"/>
                  </a:lnTo>
                  <a:lnTo>
                    <a:pt x="6169199" y="2975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480800" y="8519777"/>
            <a:ext cx="3657600" cy="397545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50799">
              <a:lnSpc>
                <a:spcPts val="3080"/>
              </a:lnSpc>
            </a:pPr>
            <a:fld id="{81D60167-4931-47E6-BA6A-407CBD079E47}" type="slidenum">
              <a:rPr spc="-33" dirty="0"/>
              <a:pPr marL="50799">
                <a:lnSpc>
                  <a:spcPts val="3080"/>
                </a:lnSpc>
              </a:pPr>
              <a:t>56</a:t>
            </a:fld>
            <a:endParaRPr spc="-3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42034" y="6371852"/>
            <a:ext cx="212259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solidFill>
                  <a:srgbClr val="FFFFFF"/>
                </a:solidFill>
                <a:latin typeface="Arial MT"/>
                <a:cs typeface="Arial MT"/>
              </a:rPr>
              <a:t>April</a:t>
            </a:r>
            <a:r>
              <a:rPr sz="2667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FFFFFF"/>
                </a:solidFill>
                <a:latin typeface="Arial MT"/>
                <a:cs typeface="Arial MT"/>
              </a:rPr>
              <a:t>28,</a:t>
            </a:r>
            <a:r>
              <a:rPr sz="26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67" spc="-27" dirty="0">
                <a:solidFill>
                  <a:srgbClr val="FFFFFF"/>
                </a:solidFill>
                <a:latin typeface="Arial MT"/>
                <a:cs typeface="Arial MT"/>
              </a:rPr>
              <a:t>2022</a:t>
            </a:r>
            <a:endParaRPr sz="2667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6600" y="496206"/>
            <a:ext cx="3237653" cy="1507250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sz="3200" b="1" spc="-13" dirty="0">
                <a:latin typeface="Arial"/>
                <a:cs typeface="Arial"/>
              </a:rPr>
              <a:t>Example: </a:t>
            </a:r>
            <a:r>
              <a:rPr sz="3200" b="1" spc="-33" dirty="0">
                <a:latin typeface="Arial"/>
                <a:cs typeface="Arial"/>
              </a:rPr>
              <a:t>Character-</a:t>
            </a:r>
            <a:r>
              <a:rPr sz="3200" b="1" spc="-13" dirty="0">
                <a:latin typeface="Arial"/>
                <a:cs typeface="Arial"/>
              </a:rPr>
              <a:t>level </a:t>
            </a:r>
            <a:r>
              <a:rPr sz="3200" b="1" dirty="0">
                <a:latin typeface="Arial"/>
                <a:cs typeface="Arial"/>
              </a:rPr>
              <a:t>Language</a:t>
            </a:r>
            <a:r>
              <a:rPr sz="3200" b="1" spc="-53" dirty="0">
                <a:latin typeface="Arial"/>
                <a:cs typeface="Arial"/>
              </a:rPr>
              <a:t> </a:t>
            </a:r>
            <a:r>
              <a:rPr sz="3200" b="1" spc="-13" dirty="0">
                <a:latin typeface="Arial"/>
                <a:cs typeface="Arial"/>
              </a:rPr>
              <a:t>Model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600" y="2452097"/>
            <a:ext cx="3059853" cy="299740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911837">
              <a:spcBef>
                <a:spcPts val="133"/>
              </a:spcBef>
            </a:pPr>
            <a:r>
              <a:rPr sz="3200" spc="-33" dirty="0">
                <a:latin typeface="Arial MT"/>
                <a:cs typeface="Arial MT"/>
              </a:rPr>
              <a:t>Vocabulary: </a:t>
            </a:r>
            <a:r>
              <a:rPr sz="3200" spc="-13" dirty="0">
                <a:latin typeface="Arial MT"/>
                <a:cs typeface="Arial MT"/>
              </a:rPr>
              <a:t>[h,e,l,o]</a:t>
            </a:r>
            <a:endParaRPr sz="3200">
              <a:latin typeface="Arial MT"/>
              <a:cs typeface="Arial MT"/>
            </a:endParaRPr>
          </a:p>
          <a:p>
            <a:pPr>
              <a:spcBef>
                <a:spcPts val="160"/>
              </a:spcBef>
            </a:pPr>
            <a:endParaRPr sz="3200">
              <a:latin typeface="Arial MT"/>
              <a:cs typeface="Arial MT"/>
            </a:endParaRPr>
          </a:p>
          <a:p>
            <a:pPr marL="16933" marR="6773"/>
            <a:r>
              <a:rPr sz="3200" dirty="0">
                <a:latin typeface="Arial MT"/>
                <a:cs typeface="Arial MT"/>
              </a:rPr>
              <a:t>Example</a:t>
            </a:r>
            <a:r>
              <a:rPr sz="3200" spc="-173" dirty="0">
                <a:latin typeface="Arial MT"/>
                <a:cs typeface="Arial MT"/>
              </a:rPr>
              <a:t> </a:t>
            </a:r>
            <a:r>
              <a:rPr sz="3200" spc="-13" dirty="0">
                <a:latin typeface="Arial MT"/>
                <a:cs typeface="Arial MT"/>
              </a:rPr>
              <a:t>training sequence: </a:t>
            </a:r>
            <a:r>
              <a:rPr sz="3200" b="1" spc="-13" dirty="0"/>
              <a:t>“hello”</a:t>
            </a:r>
            <a:endParaRPr sz="3200"/>
          </a:p>
        </p:txBody>
      </p:sp>
      <p:grpSp>
        <p:nvGrpSpPr>
          <p:cNvPr id="7" name="object 7"/>
          <p:cNvGrpSpPr/>
          <p:nvPr/>
        </p:nvGrpSpPr>
        <p:grpSpPr>
          <a:xfrm>
            <a:off x="3701599" y="153033"/>
            <a:ext cx="8226213" cy="5609167"/>
            <a:chOff x="2776199" y="114774"/>
            <a:chExt cx="6169660" cy="42068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2435" y="168510"/>
              <a:ext cx="5179268" cy="41527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76199" y="114774"/>
              <a:ext cx="6169660" cy="1694180"/>
            </a:xfrm>
            <a:custGeom>
              <a:avLst/>
              <a:gdLst/>
              <a:ahLst/>
              <a:cxnLst/>
              <a:rect l="l" t="t" r="r" b="b"/>
              <a:pathLst>
                <a:path w="6169659" h="1694180">
                  <a:moveTo>
                    <a:pt x="6169199" y="1693799"/>
                  </a:moveTo>
                  <a:lnTo>
                    <a:pt x="0" y="1693799"/>
                  </a:lnTo>
                  <a:lnTo>
                    <a:pt x="0" y="0"/>
                  </a:lnTo>
                  <a:lnTo>
                    <a:pt x="6169199" y="0"/>
                  </a:lnTo>
                  <a:lnTo>
                    <a:pt x="6169199" y="1693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6625" y="576138"/>
              <a:ext cx="4438649" cy="4286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951862" y="571375"/>
              <a:ext cx="4448175" cy="438150"/>
            </a:xfrm>
            <a:custGeom>
              <a:avLst/>
              <a:gdLst/>
              <a:ahLst/>
              <a:cxnLst/>
              <a:rect l="l" t="t" r="r" b="b"/>
              <a:pathLst>
                <a:path w="4448175" h="438150">
                  <a:moveTo>
                    <a:pt x="0" y="0"/>
                  </a:moveTo>
                  <a:lnTo>
                    <a:pt x="4448174" y="0"/>
                  </a:lnTo>
                  <a:lnTo>
                    <a:pt x="4448174" y="438149"/>
                  </a:lnTo>
                  <a:lnTo>
                    <a:pt x="0" y="438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6600" y="501377"/>
            <a:ext cx="3237653" cy="4992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200" b="1" spc="-13" dirty="0"/>
              <a:t>Example: </a:t>
            </a:r>
            <a:r>
              <a:rPr sz="3200" b="1" spc="-33" dirty="0"/>
              <a:t>Character-</a:t>
            </a:r>
            <a:r>
              <a:rPr sz="3200" b="1" spc="-13" dirty="0"/>
              <a:t>level </a:t>
            </a:r>
            <a:r>
              <a:rPr sz="3200" b="1" dirty="0"/>
              <a:t>Language</a:t>
            </a:r>
            <a:r>
              <a:rPr sz="3200" b="1" spc="-53" dirty="0"/>
              <a:t> </a:t>
            </a:r>
            <a:r>
              <a:rPr sz="3200" b="1" spc="-13" dirty="0"/>
              <a:t>Model</a:t>
            </a:r>
            <a:endParaRPr sz="3200"/>
          </a:p>
          <a:p>
            <a:pPr>
              <a:spcBef>
                <a:spcPts val="160"/>
              </a:spcBef>
            </a:pPr>
            <a:endParaRPr sz="3200"/>
          </a:p>
          <a:p>
            <a:pPr marL="16933" marR="1089631"/>
            <a:r>
              <a:rPr sz="3200" spc="-33" dirty="0">
                <a:latin typeface="Arial MT"/>
                <a:cs typeface="Arial MT"/>
              </a:rPr>
              <a:t>Vocabulary: </a:t>
            </a:r>
            <a:r>
              <a:rPr sz="3200" spc="-13" dirty="0">
                <a:latin typeface="Arial MT"/>
                <a:cs typeface="Arial MT"/>
              </a:rPr>
              <a:t>[h,e,l,o]</a:t>
            </a:r>
            <a:endParaRPr sz="3200">
              <a:latin typeface="Arial MT"/>
              <a:cs typeface="Arial MT"/>
            </a:endParaRPr>
          </a:p>
          <a:p>
            <a:pPr>
              <a:spcBef>
                <a:spcPts val="160"/>
              </a:spcBef>
            </a:pPr>
            <a:endParaRPr sz="3200">
              <a:latin typeface="Arial MT"/>
              <a:cs typeface="Arial MT"/>
            </a:endParaRPr>
          </a:p>
          <a:p>
            <a:pPr marL="16933" marR="184569"/>
            <a:r>
              <a:rPr sz="3200" dirty="0">
                <a:latin typeface="Arial MT"/>
                <a:cs typeface="Arial MT"/>
              </a:rPr>
              <a:t>Example</a:t>
            </a:r>
            <a:r>
              <a:rPr sz="3200" spc="-173" dirty="0">
                <a:latin typeface="Arial MT"/>
                <a:cs typeface="Arial MT"/>
              </a:rPr>
              <a:t> </a:t>
            </a:r>
            <a:r>
              <a:rPr sz="3200" spc="-13" dirty="0">
                <a:latin typeface="Arial MT"/>
                <a:cs typeface="Arial MT"/>
              </a:rPr>
              <a:t>training sequence: </a:t>
            </a:r>
            <a:r>
              <a:rPr sz="3200" b="1" spc="-13" dirty="0"/>
              <a:t>“hello”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6580" y="233087"/>
            <a:ext cx="6905691" cy="553170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480800" y="8519777"/>
            <a:ext cx="3657600" cy="397545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/>
          <a:p>
            <a:pPr marL="50799">
              <a:lnSpc>
                <a:spcPts val="3080"/>
              </a:lnSpc>
            </a:pPr>
            <a:fld id="{81D60167-4931-47E6-BA6A-407CBD079E47}" type="slidenum">
              <a:rPr spc="-33" dirty="0"/>
              <a:pPr marL="50799">
                <a:lnSpc>
                  <a:spcPts val="3080"/>
                </a:lnSpc>
              </a:pPr>
              <a:t>58</a:t>
            </a:fld>
            <a:endParaRPr spc="-3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50767" y="160432"/>
            <a:ext cx="5229860" cy="5845387"/>
            <a:chOff x="4688075" y="120324"/>
            <a:chExt cx="3922395" cy="4384040"/>
          </a:xfrm>
        </p:grpSpPr>
        <p:sp>
          <p:nvSpPr>
            <p:cNvPr id="3" name="object 3"/>
            <p:cNvSpPr/>
            <p:nvPr/>
          </p:nvSpPr>
          <p:spPr>
            <a:xfrm>
              <a:off x="4688075" y="120324"/>
              <a:ext cx="3910329" cy="1817370"/>
            </a:xfrm>
            <a:custGeom>
              <a:avLst/>
              <a:gdLst/>
              <a:ahLst/>
              <a:cxnLst/>
              <a:rect l="l" t="t" r="r" b="b"/>
              <a:pathLst>
                <a:path w="3910329" h="1817370">
                  <a:moveTo>
                    <a:pt x="3607093" y="1816799"/>
                  </a:moveTo>
                  <a:lnTo>
                    <a:pt x="302806" y="1816799"/>
                  </a:lnTo>
                  <a:lnTo>
                    <a:pt x="253689" y="1812836"/>
                  </a:lnTo>
                  <a:lnTo>
                    <a:pt x="207095" y="1801362"/>
                  </a:lnTo>
                  <a:lnTo>
                    <a:pt x="163649" y="1783001"/>
                  </a:lnTo>
                  <a:lnTo>
                    <a:pt x="123972" y="1758375"/>
                  </a:lnTo>
                  <a:lnTo>
                    <a:pt x="88689" y="1728110"/>
                  </a:lnTo>
                  <a:lnTo>
                    <a:pt x="58423" y="1692827"/>
                  </a:lnTo>
                  <a:lnTo>
                    <a:pt x="33798" y="1653150"/>
                  </a:lnTo>
                  <a:lnTo>
                    <a:pt x="15437" y="1609704"/>
                  </a:lnTo>
                  <a:lnTo>
                    <a:pt x="3963" y="1563110"/>
                  </a:lnTo>
                  <a:lnTo>
                    <a:pt x="0" y="1513993"/>
                  </a:lnTo>
                  <a:lnTo>
                    <a:pt x="0" y="302806"/>
                  </a:lnTo>
                  <a:lnTo>
                    <a:pt x="3963" y="253689"/>
                  </a:lnTo>
                  <a:lnTo>
                    <a:pt x="15437" y="207095"/>
                  </a:lnTo>
                  <a:lnTo>
                    <a:pt x="33798" y="163649"/>
                  </a:lnTo>
                  <a:lnTo>
                    <a:pt x="58423" y="123972"/>
                  </a:lnTo>
                  <a:lnTo>
                    <a:pt x="88689" y="88689"/>
                  </a:lnTo>
                  <a:lnTo>
                    <a:pt x="123972" y="58424"/>
                  </a:lnTo>
                  <a:lnTo>
                    <a:pt x="163649" y="33798"/>
                  </a:lnTo>
                  <a:lnTo>
                    <a:pt x="207095" y="15437"/>
                  </a:lnTo>
                  <a:lnTo>
                    <a:pt x="253689" y="3963"/>
                  </a:lnTo>
                  <a:lnTo>
                    <a:pt x="302806" y="0"/>
                  </a:lnTo>
                  <a:lnTo>
                    <a:pt x="3607093" y="0"/>
                  </a:lnTo>
                  <a:lnTo>
                    <a:pt x="3654748" y="3772"/>
                  </a:lnTo>
                  <a:lnTo>
                    <a:pt x="3700801" y="14864"/>
                  </a:lnTo>
                  <a:lnTo>
                    <a:pt x="3744437" y="32938"/>
                  </a:lnTo>
                  <a:lnTo>
                    <a:pt x="3784845" y="57659"/>
                  </a:lnTo>
                  <a:lnTo>
                    <a:pt x="3821209" y="88689"/>
                  </a:lnTo>
                  <a:lnTo>
                    <a:pt x="3852240" y="125054"/>
                  </a:lnTo>
                  <a:lnTo>
                    <a:pt x="3876961" y="165461"/>
                  </a:lnTo>
                  <a:lnTo>
                    <a:pt x="3895035" y="209098"/>
                  </a:lnTo>
                  <a:lnTo>
                    <a:pt x="3906127" y="255150"/>
                  </a:lnTo>
                  <a:lnTo>
                    <a:pt x="3909899" y="302806"/>
                  </a:lnTo>
                  <a:lnTo>
                    <a:pt x="3909899" y="1513993"/>
                  </a:lnTo>
                  <a:lnTo>
                    <a:pt x="3905936" y="1563110"/>
                  </a:lnTo>
                  <a:lnTo>
                    <a:pt x="3894462" y="1609704"/>
                  </a:lnTo>
                  <a:lnTo>
                    <a:pt x="3876101" y="1653150"/>
                  </a:lnTo>
                  <a:lnTo>
                    <a:pt x="3851475" y="1692827"/>
                  </a:lnTo>
                  <a:lnTo>
                    <a:pt x="3821210" y="1728110"/>
                  </a:lnTo>
                  <a:lnTo>
                    <a:pt x="3785927" y="1758375"/>
                  </a:lnTo>
                  <a:lnTo>
                    <a:pt x="3746250" y="1783001"/>
                  </a:lnTo>
                  <a:lnTo>
                    <a:pt x="3702803" y="1801362"/>
                  </a:lnTo>
                  <a:lnTo>
                    <a:pt x="3656210" y="1812836"/>
                  </a:lnTo>
                  <a:lnTo>
                    <a:pt x="3607093" y="18167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0350" y="1643474"/>
              <a:ext cx="3909874" cy="286032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6600" y="496204"/>
            <a:ext cx="4885267" cy="1507250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sz="3200" b="1" dirty="0">
                <a:latin typeface="Arial"/>
                <a:cs typeface="Arial"/>
              </a:rPr>
              <a:t>Example:</a:t>
            </a:r>
            <a:r>
              <a:rPr sz="3200" b="1" spc="-47" dirty="0">
                <a:latin typeface="Arial"/>
                <a:cs typeface="Arial"/>
              </a:rPr>
              <a:t> </a:t>
            </a:r>
            <a:r>
              <a:rPr sz="3200" b="1" spc="-33" dirty="0">
                <a:latin typeface="Arial"/>
                <a:cs typeface="Arial"/>
              </a:rPr>
              <a:t>Character-</a:t>
            </a:r>
            <a:r>
              <a:rPr sz="3200" b="1" spc="-13" dirty="0">
                <a:latin typeface="Arial"/>
                <a:cs typeface="Arial"/>
              </a:rPr>
              <a:t>level </a:t>
            </a:r>
            <a:r>
              <a:rPr sz="3200" b="1" dirty="0">
                <a:latin typeface="Arial"/>
                <a:cs typeface="Arial"/>
              </a:rPr>
              <a:t>Language</a:t>
            </a:r>
            <a:r>
              <a:rPr sz="3200" b="1" spc="-53" dirty="0">
                <a:latin typeface="Arial"/>
                <a:cs typeface="Arial"/>
              </a:rPr>
              <a:t> </a:t>
            </a:r>
            <a:r>
              <a:rPr sz="3200" b="1" spc="-13" dirty="0">
                <a:latin typeface="Arial"/>
                <a:cs typeface="Arial"/>
              </a:rPr>
              <a:t>Model Sampling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600" y="2452098"/>
            <a:ext cx="5063067" cy="287409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-13" dirty="0">
                <a:latin typeface="Arial MT"/>
                <a:cs typeface="Arial MT"/>
              </a:rPr>
              <a:t>Vocabulary:</a:t>
            </a:r>
            <a:endParaRPr sz="3200" dirty="0">
              <a:latin typeface="Arial MT"/>
              <a:cs typeface="Arial MT"/>
            </a:endParaRPr>
          </a:p>
          <a:p>
            <a:pPr marL="16933"/>
            <a:r>
              <a:rPr sz="3200" spc="-13" dirty="0">
                <a:latin typeface="Arial MT"/>
                <a:cs typeface="Arial MT"/>
              </a:rPr>
              <a:t>[h,e,l,o]</a:t>
            </a:r>
            <a:endParaRPr sz="3200" dirty="0">
              <a:latin typeface="Arial MT"/>
              <a:cs typeface="Arial MT"/>
            </a:endParaRPr>
          </a:p>
          <a:p>
            <a:pPr>
              <a:spcBef>
                <a:spcPts val="167"/>
              </a:spcBef>
            </a:pPr>
            <a:endParaRPr sz="3200" dirty="0">
              <a:latin typeface="Arial MT"/>
              <a:cs typeface="Arial MT"/>
            </a:endParaRPr>
          </a:p>
          <a:p>
            <a:pPr marL="16933" marR="6773"/>
            <a:r>
              <a:rPr sz="2933" dirty="0">
                <a:latin typeface="Arial MT"/>
                <a:cs typeface="Arial MT"/>
              </a:rPr>
              <a:t>At</a:t>
            </a:r>
            <a:r>
              <a:rPr sz="2933" spc="-67" dirty="0">
                <a:latin typeface="Arial MT"/>
                <a:cs typeface="Arial MT"/>
              </a:rPr>
              <a:t> </a:t>
            </a:r>
            <a:r>
              <a:rPr sz="2933" spc="-27" dirty="0">
                <a:latin typeface="Arial MT"/>
                <a:cs typeface="Arial MT"/>
              </a:rPr>
              <a:t>test-</a:t>
            </a:r>
            <a:r>
              <a:rPr sz="2933" dirty="0">
                <a:latin typeface="Arial MT"/>
                <a:cs typeface="Arial MT"/>
              </a:rPr>
              <a:t>time</a:t>
            </a:r>
            <a:r>
              <a:rPr sz="2933" spc="-60" dirty="0">
                <a:latin typeface="Arial MT"/>
                <a:cs typeface="Arial MT"/>
              </a:rPr>
              <a:t> </a:t>
            </a:r>
            <a:r>
              <a:rPr sz="2933" dirty="0">
                <a:latin typeface="Arial MT"/>
                <a:cs typeface="Arial MT"/>
              </a:rPr>
              <a:t>sample</a:t>
            </a:r>
            <a:r>
              <a:rPr sz="2933" spc="-67" dirty="0">
                <a:latin typeface="Arial MT"/>
                <a:cs typeface="Arial MT"/>
              </a:rPr>
              <a:t> </a:t>
            </a:r>
            <a:r>
              <a:rPr sz="2933" spc="-13" dirty="0">
                <a:latin typeface="Arial MT"/>
                <a:cs typeface="Arial MT"/>
              </a:rPr>
              <a:t>characters </a:t>
            </a:r>
            <a:r>
              <a:rPr sz="2933" dirty="0">
                <a:latin typeface="Arial MT"/>
                <a:cs typeface="Arial MT"/>
              </a:rPr>
              <a:t>one</a:t>
            </a:r>
            <a:r>
              <a:rPr sz="2933" spc="-67" dirty="0">
                <a:latin typeface="Arial MT"/>
                <a:cs typeface="Arial MT"/>
              </a:rPr>
              <a:t> </a:t>
            </a:r>
            <a:r>
              <a:rPr sz="2933" dirty="0">
                <a:latin typeface="Arial MT"/>
                <a:cs typeface="Arial MT"/>
              </a:rPr>
              <a:t>at</a:t>
            </a:r>
            <a:r>
              <a:rPr sz="2933" spc="-60" dirty="0">
                <a:latin typeface="Arial MT"/>
                <a:cs typeface="Arial MT"/>
              </a:rPr>
              <a:t> </a:t>
            </a:r>
            <a:r>
              <a:rPr sz="2933" dirty="0">
                <a:latin typeface="Arial MT"/>
                <a:cs typeface="Arial MT"/>
              </a:rPr>
              <a:t>a</a:t>
            </a:r>
            <a:r>
              <a:rPr sz="2933" spc="-67" dirty="0">
                <a:latin typeface="Arial MT"/>
                <a:cs typeface="Arial MT"/>
              </a:rPr>
              <a:t> </a:t>
            </a:r>
            <a:r>
              <a:rPr sz="2933" dirty="0">
                <a:latin typeface="Arial MT"/>
                <a:cs typeface="Arial MT"/>
              </a:rPr>
              <a:t>time,</a:t>
            </a:r>
            <a:r>
              <a:rPr sz="2933" spc="-60" dirty="0">
                <a:latin typeface="Arial MT"/>
                <a:cs typeface="Arial MT"/>
              </a:rPr>
              <a:t> </a:t>
            </a:r>
            <a:r>
              <a:rPr sz="2933" dirty="0">
                <a:latin typeface="Arial MT"/>
                <a:cs typeface="Arial MT"/>
              </a:rPr>
              <a:t>feed</a:t>
            </a:r>
            <a:r>
              <a:rPr sz="2933" spc="-67" dirty="0">
                <a:latin typeface="Arial MT"/>
                <a:cs typeface="Arial MT"/>
              </a:rPr>
              <a:t> </a:t>
            </a:r>
            <a:r>
              <a:rPr sz="2933" dirty="0">
                <a:latin typeface="Arial MT"/>
                <a:cs typeface="Arial MT"/>
              </a:rPr>
              <a:t>back</a:t>
            </a:r>
            <a:r>
              <a:rPr sz="2933" spc="-60" dirty="0">
                <a:latin typeface="Arial MT"/>
                <a:cs typeface="Arial MT"/>
              </a:rPr>
              <a:t> </a:t>
            </a:r>
            <a:r>
              <a:rPr sz="2933" spc="-47" dirty="0">
                <a:latin typeface="Arial MT"/>
                <a:cs typeface="Arial MT"/>
              </a:rPr>
              <a:t>to </a:t>
            </a:r>
            <a:r>
              <a:rPr sz="2933" spc="-13" dirty="0">
                <a:latin typeface="Arial MT"/>
                <a:cs typeface="Arial MT"/>
              </a:rPr>
              <a:t>model</a:t>
            </a:r>
            <a:endParaRPr sz="2933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89001" y="1086433"/>
            <a:ext cx="464820" cy="831852"/>
          </a:xfrm>
          <a:prstGeom prst="rect">
            <a:avLst/>
          </a:prstGeom>
          <a:solidFill>
            <a:srgbClr val="FCE4CD"/>
          </a:solidFill>
          <a:ln w="9524">
            <a:solidFill>
              <a:srgbClr val="666666"/>
            </a:solidFill>
          </a:ln>
        </p:spPr>
        <p:txBody>
          <a:bodyPr vert="horz" wrap="square" lIns="0" tIns="92287" rIns="0" bIns="0" rtlCol="0">
            <a:spAutoFit/>
          </a:bodyPr>
          <a:lstStyle/>
          <a:p>
            <a:pPr marL="114297">
              <a:spcBef>
                <a:spcPts val="727"/>
              </a:spcBef>
            </a:pPr>
            <a:r>
              <a:rPr sz="1200" b="1" spc="-33" dirty="0"/>
              <a:t>.03</a:t>
            </a:r>
            <a:endParaRPr sz="1200"/>
          </a:p>
          <a:p>
            <a:pPr marL="114297"/>
            <a:r>
              <a:rPr sz="1200" b="1" spc="-33" dirty="0"/>
              <a:t>.84</a:t>
            </a:r>
            <a:endParaRPr sz="1200"/>
          </a:p>
          <a:p>
            <a:pPr marL="114297"/>
            <a:r>
              <a:rPr sz="1200" b="1" spc="-33" dirty="0"/>
              <a:t>.00</a:t>
            </a:r>
            <a:endParaRPr sz="1200"/>
          </a:p>
          <a:p>
            <a:pPr marL="114297"/>
            <a:r>
              <a:rPr sz="1200" b="1" spc="-33" dirty="0"/>
              <a:t>.13</a:t>
            </a:r>
            <a:endParaRPr sz="1200"/>
          </a:p>
        </p:txBody>
      </p:sp>
      <p:grpSp>
        <p:nvGrpSpPr>
          <p:cNvPr id="8" name="object 8"/>
          <p:cNvGrpSpPr/>
          <p:nvPr/>
        </p:nvGrpSpPr>
        <p:grpSpPr>
          <a:xfrm>
            <a:off x="7993673" y="2027050"/>
            <a:ext cx="55033" cy="176953"/>
            <a:chOff x="5995254" y="1520287"/>
            <a:chExt cx="41275" cy="132715"/>
          </a:xfrm>
        </p:grpSpPr>
        <p:sp>
          <p:nvSpPr>
            <p:cNvPr id="9" name="object 9"/>
            <p:cNvSpPr/>
            <p:nvPr/>
          </p:nvSpPr>
          <p:spPr>
            <a:xfrm>
              <a:off x="6015749" y="156827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1" name="object 11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506200" y="1421918"/>
            <a:ext cx="90424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B45F06"/>
                </a:solidFill>
                <a:latin typeface="Arial MT"/>
                <a:cs typeface="Arial MT"/>
              </a:rPr>
              <a:t>Softmax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7863" y="508150"/>
            <a:ext cx="324272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“e”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33495" y="518307"/>
            <a:ext cx="223520" cy="1423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53">
              <a:lnSpc>
                <a:spcPts val="2060"/>
              </a:lnSpc>
            </a:pPr>
            <a:r>
              <a:rPr sz="1867" spc="-33" dirty="0">
                <a:latin typeface="Arial MT"/>
                <a:cs typeface="Arial MT"/>
              </a:rPr>
              <a:t>“l”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987"/>
              </a:spcBef>
            </a:pPr>
            <a:endParaRPr sz="1867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200" b="1" spc="-33" dirty="0"/>
              <a:t>.25</a:t>
            </a:r>
            <a:endParaRPr sz="1200"/>
          </a:p>
          <a:p>
            <a:pPr>
              <a:lnSpc>
                <a:spcPct val="100000"/>
              </a:lnSpc>
            </a:pPr>
            <a:r>
              <a:rPr sz="1200" b="1" spc="-33" dirty="0"/>
              <a:t>.20</a:t>
            </a:r>
            <a:endParaRPr sz="1200"/>
          </a:p>
          <a:p>
            <a:pPr>
              <a:lnSpc>
                <a:spcPct val="100000"/>
              </a:lnSpc>
            </a:pPr>
            <a:r>
              <a:rPr sz="1200" b="1" spc="-33" dirty="0"/>
              <a:t>.05</a:t>
            </a:r>
            <a:endParaRPr sz="1200"/>
          </a:p>
          <a:p>
            <a:pPr>
              <a:lnSpc>
                <a:spcPct val="100000"/>
              </a:lnSpc>
            </a:pPr>
            <a:r>
              <a:rPr sz="1200" b="1" spc="-33" dirty="0"/>
              <a:t>.50</a:t>
            </a:r>
            <a:endParaRPr sz="1200"/>
          </a:p>
        </p:txBody>
      </p:sp>
      <p:sp>
        <p:nvSpPr>
          <p:cNvPr id="15" name="object 15"/>
          <p:cNvSpPr txBox="1"/>
          <p:nvPr/>
        </p:nvSpPr>
        <p:spPr>
          <a:xfrm>
            <a:off x="9726530" y="547540"/>
            <a:ext cx="1220047" cy="1385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79">
              <a:lnSpc>
                <a:spcPts val="2140"/>
              </a:lnSpc>
              <a:tabLst>
                <a:tab pos="929617" algn="l"/>
              </a:tabLst>
            </a:pPr>
            <a:r>
              <a:rPr sz="1867" spc="-33" dirty="0">
                <a:latin typeface="Arial MT"/>
                <a:cs typeface="Arial MT"/>
              </a:rPr>
              <a:t>“l”</a:t>
            </a:r>
            <a:r>
              <a:rPr sz="1867" dirty="0">
                <a:latin typeface="Arial MT"/>
                <a:cs typeface="Arial MT"/>
              </a:rPr>
              <a:t>	</a:t>
            </a:r>
            <a:r>
              <a:rPr sz="2800" spc="-49" baseline="1984" dirty="0">
                <a:latin typeface="Arial MT"/>
                <a:cs typeface="Arial MT"/>
              </a:rPr>
              <a:t>“o”</a:t>
            </a:r>
            <a:endParaRPr sz="2800" baseline="1984">
              <a:latin typeface="Arial MT"/>
              <a:cs typeface="Arial MT"/>
            </a:endParaRPr>
          </a:p>
          <a:p>
            <a:pPr>
              <a:spcBef>
                <a:spcPts val="679"/>
              </a:spcBef>
            </a:pPr>
            <a:endParaRPr sz="1867">
              <a:latin typeface="Arial MT"/>
              <a:cs typeface="Arial MT"/>
            </a:endParaRPr>
          </a:p>
          <a:p>
            <a:pPr>
              <a:tabLst>
                <a:tab pos="956709" algn="l"/>
              </a:tabLst>
            </a:pPr>
            <a:r>
              <a:rPr sz="1200" b="1" spc="-33" dirty="0"/>
              <a:t>.11</a:t>
            </a:r>
            <a:r>
              <a:rPr sz="1200" b="1" dirty="0"/>
              <a:t>	</a:t>
            </a:r>
            <a:r>
              <a:rPr sz="1200" b="1" spc="-33" dirty="0"/>
              <a:t>.11</a:t>
            </a:r>
            <a:endParaRPr sz="1200"/>
          </a:p>
          <a:p>
            <a:pPr>
              <a:tabLst>
                <a:tab pos="956709" algn="l"/>
              </a:tabLst>
            </a:pPr>
            <a:r>
              <a:rPr sz="1200" b="1" spc="-33" dirty="0"/>
              <a:t>.17</a:t>
            </a:r>
            <a:r>
              <a:rPr sz="1200" b="1" dirty="0"/>
              <a:t>	</a:t>
            </a:r>
            <a:r>
              <a:rPr sz="1200" b="1" spc="-33" dirty="0"/>
              <a:t>.02</a:t>
            </a:r>
            <a:endParaRPr sz="1200"/>
          </a:p>
          <a:p>
            <a:pPr>
              <a:tabLst>
                <a:tab pos="956709" algn="l"/>
              </a:tabLst>
            </a:pPr>
            <a:r>
              <a:rPr sz="1200" b="1" spc="-33" dirty="0"/>
              <a:t>.68</a:t>
            </a:r>
            <a:r>
              <a:rPr sz="1200" b="1" dirty="0"/>
              <a:t>	</a:t>
            </a:r>
            <a:r>
              <a:rPr sz="1200" b="1" spc="-33" dirty="0"/>
              <a:t>.08</a:t>
            </a:r>
            <a:endParaRPr sz="1200"/>
          </a:p>
          <a:p>
            <a:pPr>
              <a:tabLst>
                <a:tab pos="956709" algn="l"/>
              </a:tabLst>
            </a:pPr>
            <a:r>
              <a:rPr sz="1200" b="1" spc="-33" dirty="0"/>
              <a:t>.03</a:t>
            </a:r>
            <a:r>
              <a:rPr sz="1200" b="1" dirty="0"/>
              <a:t>	</a:t>
            </a:r>
            <a:r>
              <a:rPr sz="1200" b="1" spc="-33" dirty="0"/>
              <a:t>.79</a:t>
            </a:r>
            <a:endParaRPr sz="1200"/>
          </a:p>
        </p:txBody>
      </p:sp>
      <p:grpSp>
        <p:nvGrpSpPr>
          <p:cNvPr id="16" name="object 16"/>
          <p:cNvGrpSpPr/>
          <p:nvPr/>
        </p:nvGrpSpPr>
        <p:grpSpPr>
          <a:xfrm>
            <a:off x="7993673" y="866884"/>
            <a:ext cx="55033" cy="176953"/>
            <a:chOff x="5995254" y="650162"/>
            <a:chExt cx="41275" cy="132715"/>
          </a:xfrm>
        </p:grpSpPr>
        <p:sp>
          <p:nvSpPr>
            <p:cNvPr id="17" name="object 17"/>
            <p:cNvSpPr/>
            <p:nvPr/>
          </p:nvSpPr>
          <p:spPr>
            <a:xfrm>
              <a:off x="6015749" y="698150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8" name="object 18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9" name="object 19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06200" y="692150"/>
            <a:ext cx="8382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Sample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623758" y="98839"/>
            <a:ext cx="2982807" cy="6005407"/>
          </a:xfrm>
          <a:custGeom>
            <a:avLst/>
            <a:gdLst/>
            <a:ahLst/>
            <a:cxnLst/>
            <a:rect l="l" t="t" r="r" b="b"/>
            <a:pathLst>
              <a:path w="2237104" h="4504055">
                <a:moveTo>
                  <a:pt x="2237054" y="0"/>
                </a:moveTo>
                <a:lnTo>
                  <a:pt x="1727695" y="0"/>
                </a:lnTo>
                <a:lnTo>
                  <a:pt x="509346" y="0"/>
                </a:lnTo>
                <a:lnTo>
                  <a:pt x="0" y="0"/>
                </a:lnTo>
                <a:lnTo>
                  <a:pt x="0" y="4503902"/>
                </a:lnTo>
                <a:lnTo>
                  <a:pt x="509346" y="4503902"/>
                </a:lnTo>
                <a:lnTo>
                  <a:pt x="1727695" y="4503902"/>
                </a:lnTo>
                <a:lnTo>
                  <a:pt x="2237054" y="4503902"/>
                </a:lnTo>
                <a:lnTo>
                  <a:pt x="22370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67133" y="160433"/>
            <a:ext cx="5213772" cy="5956300"/>
            <a:chOff x="4700349" y="120324"/>
            <a:chExt cx="3910329" cy="4467225"/>
          </a:xfrm>
        </p:grpSpPr>
        <p:sp>
          <p:nvSpPr>
            <p:cNvPr id="3" name="object 3"/>
            <p:cNvSpPr/>
            <p:nvPr/>
          </p:nvSpPr>
          <p:spPr>
            <a:xfrm>
              <a:off x="4700349" y="120324"/>
              <a:ext cx="3897629" cy="1817370"/>
            </a:xfrm>
            <a:custGeom>
              <a:avLst/>
              <a:gdLst/>
              <a:ahLst/>
              <a:cxnLst/>
              <a:rect l="l" t="t" r="r" b="b"/>
              <a:pathLst>
                <a:path w="3897629" h="1817370">
                  <a:moveTo>
                    <a:pt x="3594793" y="1816799"/>
                  </a:moveTo>
                  <a:lnTo>
                    <a:pt x="302806" y="1816799"/>
                  </a:lnTo>
                  <a:lnTo>
                    <a:pt x="253689" y="1812836"/>
                  </a:lnTo>
                  <a:lnTo>
                    <a:pt x="207095" y="1801362"/>
                  </a:lnTo>
                  <a:lnTo>
                    <a:pt x="163649" y="1783001"/>
                  </a:lnTo>
                  <a:lnTo>
                    <a:pt x="123972" y="1758375"/>
                  </a:lnTo>
                  <a:lnTo>
                    <a:pt x="88689" y="1728110"/>
                  </a:lnTo>
                  <a:lnTo>
                    <a:pt x="58423" y="1692827"/>
                  </a:lnTo>
                  <a:lnTo>
                    <a:pt x="33798" y="1653150"/>
                  </a:lnTo>
                  <a:lnTo>
                    <a:pt x="15437" y="1609704"/>
                  </a:lnTo>
                  <a:lnTo>
                    <a:pt x="3963" y="1563110"/>
                  </a:lnTo>
                  <a:lnTo>
                    <a:pt x="0" y="1513993"/>
                  </a:lnTo>
                  <a:lnTo>
                    <a:pt x="0" y="302806"/>
                  </a:lnTo>
                  <a:lnTo>
                    <a:pt x="3963" y="253689"/>
                  </a:lnTo>
                  <a:lnTo>
                    <a:pt x="15437" y="207095"/>
                  </a:lnTo>
                  <a:lnTo>
                    <a:pt x="33798" y="163649"/>
                  </a:lnTo>
                  <a:lnTo>
                    <a:pt x="58423" y="123972"/>
                  </a:lnTo>
                  <a:lnTo>
                    <a:pt x="88689" y="88689"/>
                  </a:lnTo>
                  <a:lnTo>
                    <a:pt x="123972" y="58424"/>
                  </a:lnTo>
                  <a:lnTo>
                    <a:pt x="163649" y="33798"/>
                  </a:lnTo>
                  <a:lnTo>
                    <a:pt x="207095" y="15437"/>
                  </a:lnTo>
                  <a:lnTo>
                    <a:pt x="253689" y="3963"/>
                  </a:lnTo>
                  <a:lnTo>
                    <a:pt x="302806" y="0"/>
                  </a:lnTo>
                  <a:lnTo>
                    <a:pt x="3594793" y="0"/>
                  </a:lnTo>
                  <a:lnTo>
                    <a:pt x="3642448" y="3772"/>
                  </a:lnTo>
                  <a:lnTo>
                    <a:pt x="3688501" y="14864"/>
                  </a:lnTo>
                  <a:lnTo>
                    <a:pt x="3732137" y="32938"/>
                  </a:lnTo>
                  <a:lnTo>
                    <a:pt x="3772545" y="57659"/>
                  </a:lnTo>
                  <a:lnTo>
                    <a:pt x="3808909" y="88689"/>
                  </a:lnTo>
                  <a:lnTo>
                    <a:pt x="3839940" y="125054"/>
                  </a:lnTo>
                  <a:lnTo>
                    <a:pt x="3864661" y="165461"/>
                  </a:lnTo>
                  <a:lnTo>
                    <a:pt x="3882735" y="209098"/>
                  </a:lnTo>
                  <a:lnTo>
                    <a:pt x="3893827" y="255150"/>
                  </a:lnTo>
                  <a:lnTo>
                    <a:pt x="3897599" y="302806"/>
                  </a:lnTo>
                  <a:lnTo>
                    <a:pt x="3897599" y="1513993"/>
                  </a:lnTo>
                  <a:lnTo>
                    <a:pt x="3893636" y="1563110"/>
                  </a:lnTo>
                  <a:lnTo>
                    <a:pt x="3882162" y="1609704"/>
                  </a:lnTo>
                  <a:lnTo>
                    <a:pt x="3863801" y="1653150"/>
                  </a:lnTo>
                  <a:lnTo>
                    <a:pt x="3839175" y="1692827"/>
                  </a:lnTo>
                  <a:lnTo>
                    <a:pt x="3808910" y="1728110"/>
                  </a:lnTo>
                  <a:lnTo>
                    <a:pt x="3773627" y="1758375"/>
                  </a:lnTo>
                  <a:lnTo>
                    <a:pt x="3733950" y="1783001"/>
                  </a:lnTo>
                  <a:lnTo>
                    <a:pt x="3690503" y="1801362"/>
                  </a:lnTo>
                  <a:lnTo>
                    <a:pt x="3643910" y="1812836"/>
                  </a:lnTo>
                  <a:lnTo>
                    <a:pt x="3594793" y="18167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0350" y="1643474"/>
              <a:ext cx="3909874" cy="28603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74777" y="210974"/>
              <a:ext cx="426720" cy="4367530"/>
            </a:xfrm>
            <a:custGeom>
              <a:avLst/>
              <a:gdLst/>
              <a:ahLst/>
              <a:cxnLst/>
              <a:rect l="l" t="t" r="r" b="b"/>
              <a:pathLst>
                <a:path w="426720" h="4367530">
                  <a:moveTo>
                    <a:pt x="0" y="100972"/>
                  </a:moveTo>
                  <a:lnTo>
                    <a:pt x="1283" y="99893"/>
                  </a:lnTo>
                  <a:lnTo>
                    <a:pt x="4948" y="89434"/>
                  </a:lnTo>
                  <a:lnTo>
                    <a:pt x="10718" y="72637"/>
                  </a:lnTo>
                  <a:lnTo>
                    <a:pt x="18316" y="52541"/>
                  </a:lnTo>
                  <a:lnTo>
                    <a:pt x="27465" y="32189"/>
                  </a:lnTo>
                  <a:lnTo>
                    <a:pt x="37889" y="14620"/>
                  </a:lnTo>
                  <a:lnTo>
                    <a:pt x="49309" y="2877"/>
                  </a:lnTo>
                  <a:lnTo>
                    <a:pt x="61449" y="0"/>
                  </a:lnTo>
                  <a:lnTo>
                    <a:pt x="74033" y="9029"/>
                  </a:lnTo>
                  <a:lnTo>
                    <a:pt x="99421" y="74973"/>
                  </a:lnTo>
                  <a:lnTo>
                    <a:pt x="111672" y="137969"/>
                  </a:lnTo>
                  <a:lnTo>
                    <a:pt x="118564" y="185651"/>
                  </a:lnTo>
                  <a:lnTo>
                    <a:pt x="125239" y="241184"/>
                  </a:lnTo>
                  <a:lnTo>
                    <a:pt x="131709" y="304171"/>
                  </a:lnTo>
                  <a:lnTo>
                    <a:pt x="137984" y="374215"/>
                  </a:lnTo>
                  <a:lnTo>
                    <a:pt x="144076" y="450919"/>
                  </a:lnTo>
                  <a:lnTo>
                    <a:pt x="147057" y="491645"/>
                  </a:lnTo>
                  <a:lnTo>
                    <a:pt x="149996" y="533887"/>
                  </a:lnTo>
                  <a:lnTo>
                    <a:pt x="152894" y="577595"/>
                  </a:lnTo>
                  <a:lnTo>
                    <a:pt x="155754" y="622720"/>
                  </a:lnTo>
                  <a:lnTo>
                    <a:pt x="158576" y="669212"/>
                  </a:lnTo>
                  <a:lnTo>
                    <a:pt x="161363" y="717022"/>
                  </a:lnTo>
                  <a:lnTo>
                    <a:pt x="164114" y="766100"/>
                  </a:lnTo>
                  <a:lnTo>
                    <a:pt x="166832" y="816397"/>
                  </a:lnTo>
                  <a:lnTo>
                    <a:pt x="169518" y="867862"/>
                  </a:lnTo>
                  <a:lnTo>
                    <a:pt x="172174" y="920446"/>
                  </a:lnTo>
                  <a:lnTo>
                    <a:pt x="174801" y="974100"/>
                  </a:lnTo>
                  <a:lnTo>
                    <a:pt x="177399" y="1028774"/>
                  </a:lnTo>
                  <a:lnTo>
                    <a:pt x="179972" y="1084418"/>
                  </a:lnTo>
                  <a:lnTo>
                    <a:pt x="182519" y="1140983"/>
                  </a:lnTo>
                  <a:lnTo>
                    <a:pt x="185043" y="1198419"/>
                  </a:lnTo>
                  <a:lnTo>
                    <a:pt x="187544" y="1256677"/>
                  </a:lnTo>
                  <a:lnTo>
                    <a:pt x="190025" y="1315706"/>
                  </a:lnTo>
                  <a:lnTo>
                    <a:pt x="192486" y="1375457"/>
                  </a:lnTo>
                  <a:lnTo>
                    <a:pt x="194929" y="1435881"/>
                  </a:lnTo>
                  <a:lnTo>
                    <a:pt x="197356" y="1496928"/>
                  </a:lnTo>
                  <a:lnTo>
                    <a:pt x="199767" y="1558548"/>
                  </a:lnTo>
                  <a:lnTo>
                    <a:pt x="202164" y="1620692"/>
                  </a:lnTo>
                  <a:lnTo>
                    <a:pt x="204549" y="1683310"/>
                  </a:lnTo>
                  <a:lnTo>
                    <a:pt x="206923" y="1746352"/>
                  </a:lnTo>
                  <a:lnTo>
                    <a:pt x="209287" y="1809770"/>
                  </a:lnTo>
                  <a:lnTo>
                    <a:pt x="211643" y="1873512"/>
                  </a:lnTo>
                  <a:lnTo>
                    <a:pt x="213992" y="1937530"/>
                  </a:lnTo>
                  <a:lnTo>
                    <a:pt x="216335" y="2001774"/>
                  </a:lnTo>
                  <a:lnTo>
                    <a:pt x="218674" y="2066195"/>
                  </a:lnTo>
                  <a:lnTo>
                    <a:pt x="221010" y="2130742"/>
                  </a:lnTo>
                  <a:lnTo>
                    <a:pt x="223345" y="2195366"/>
                  </a:lnTo>
                  <a:lnTo>
                    <a:pt x="225680" y="2260017"/>
                  </a:lnTo>
                  <a:lnTo>
                    <a:pt x="228016" y="2324642"/>
                  </a:lnTo>
                  <a:lnTo>
                    <a:pt x="230355" y="2389187"/>
                  </a:lnTo>
                  <a:lnTo>
                    <a:pt x="232699" y="2453598"/>
                  </a:lnTo>
                  <a:lnTo>
                    <a:pt x="235047" y="2517823"/>
                  </a:lnTo>
                  <a:lnTo>
                    <a:pt x="237403" y="2581807"/>
                  </a:lnTo>
                  <a:lnTo>
                    <a:pt x="239767" y="2645496"/>
                  </a:lnTo>
                  <a:lnTo>
                    <a:pt x="242141" y="2708837"/>
                  </a:lnTo>
                  <a:lnTo>
                    <a:pt x="244526" y="2771777"/>
                  </a:lnTo>
                  <a:lnTo>
                    <a:pt x="246923" y="2834262"/>
                  </a:lnTo>
                  <a:lnTo>
                    <a:pt x="249335" y="2896237"/>
                  </a:lnTo>
                  <a:lnTo>
                    <a:pt x="251761" y="2957650"/>
                  </a:lnTo>
                  <a:lnTo>
                    <a:pt x="254205" y="3018446"/>
                  </a:lnTo>
                  <a:lnTo>
                    <a:pt x="256666" y="3078573"/>
                  </a:lnTo>
                  <a:lnTo>
                    <a:pt x="259147" y="3137976"/>
                  </a:lnTo>
                  <a:lnTo>
                    <a:pt x="261648" y="3196602"/>
                  </a:lnTo>
                  <a:lnTo>
                    <a:pt x="264172" y="3254397"/>
                  </a:lnTo>
                  <a:lnTo>
                    <a:pt x="266720" y="3311308"/>
                  </a:lnTo>
                  <a:lnTo>
                    <a:pt x="269292" y="3367281"/>
                  </a:lnTo>
                  <a:lnTo>
                    <a:pt x="271891" y="3422262"/>
                  </a:lnTo>
                  <a:lnTo>
                    <a:pt x="274518" y="3476197"/>
                  </a:lnTo>
                  <a:lnTo>
                    <a:pt x="277173" y="3529033"/>
                  </a:lnTo>
                  <a:lnTo>
                    <a:pt x="279860" y="3580717"/>
                  </a:lnTo>
                  <a:lnTo>
                    <a:pt x="282578" y="3631195"/>
                  </a:lnTo>
                  <a:lnTo>
                    <a:pt x="285330" y="3680412"/>
                  </a:lnTo>
                  <a:lnTo>
                    <a:pt x="288116" y="3728316"/>
                  </a:lnTo>
                  <a:lnTo>
                    <a:pt x="290938" y="3774853"/>
                  </a:lnTo>
                  <a:lnTo>
                    <a:pt x="293798" y="3819968"/>
                  </a:lnTo>
                  <a:lnTo>
                    <a:pt x="296697" y="3863609"/>
                  </a:lnTo>
                  <a:lnTo>
                    <a:pt x="299636" y="3905722"/>
                  </a:lnTo>
                  <a:lnTo>
                    <a:pt x="302617" y="3946254"/>
                  </a:lnTo>
                  <a:lnTo>
                    <a:pt x="305641" y="3985149"/>
                  </a:lnTo>
                  <a:lnTo>
                    <a:pt x="311823" y="4057820"/>
                  </a:lnTo>
                  <a:lnTo>
                    <a:pt x="318195" y="4123304"/>
                  </a:lnTo>
                  <a:lnTo>
                    <a:pt x="324766" y="4181174"/>
                  </a:lnTo>
                  <a:lnTo>
                    <a:pt x="331548" y="4231000"/>
                  </a:lnTo>
                  <a:lnTo>
                    <a:pt x="349780" y="4320209"/>
                  </a:lnTo>
                  <a:lnTo>
                    <a:pt x="365016" y="4356493"/>
                  </a:lnTo>
                  <a:lnTo>
                    <a:pt x="380252" y="4366961"/>
                  </a:lnTo>
                  <a:lnTo>
                    <a:pt x="395009" y="4356962"/>
                  </a:lnTo>
                  <a:lnTo>
                    <a:pt x="412850" y="4321735"/>
                  </a:lnTo>
                  <a:lnTo>
                    <a:pt x="424556" y="4285294"/>
                  </a:lnTo>
                  <a:lnTo>
                    <a:pt x="425676" y="4281203"/>
                  </a:lnTo>
                  <a:lnTo>
                    <a:pt x="426255" y="427902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0549" y="4395421"/>
              <a:ext cx="80965" cy="10973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89001" y="1086433"/>
            <a:ext cx="464820" cy="831852"/>
          </a:xfrm>
          <a:prstGeom prst="rect">
            <a:avLst/>
          </a:prstGeom>
          <a:solidFill>
            <a:srgbClr val="FCE4CD"/>
          </a:solidFill>
          <a:ln w="9524">
            <a:solidFill>
              <a:srgbClr val="666666"/>
            </a:solidFill>
          </a:ln>
        </p:spPr>
        <p:txBody>
          <a:bodyPr vert="horz" wrap="square" lIns="0" tIns="92287" rIns="0" bIns="0" rtlCol="0">
            <a:spAutoFit/>
          </a:bodyPr>
          <a:lstStyle/>
          <a:p>
            <a:pPr marL="114297">
              <a:spcBef>
                <a:spcPts val="727"/>
              </a:spcBef>
            </a:pPr>
            <a:r>
              <a:rPr sz="1200" b="1" spc="-33" dirty="0"/>
              <a:t>.03</a:t>
            </a:r>
            <a:endParaRPr sz="1200"/>
          </a:p>
          <a:p>
            <a:pPr marL="114297"/>
            <a:r>
              <a:rPr sz="1200" b="1" spc="-33" dirty="0"/>
              <a:t>.84</a:t>
            </a:r>
            <a:endParaRPr sz="1200"/>
          </a:p>
          <a:p>
            <a:pPr marL="114297"/>
            <a:r>
              <a:rPr sz="1200" b="1" spc="-33" dirty="0"/>
              <a:t>.00</a:t>
            </a:r>
            <a:endParaRPr sz="1200"/>
          </a:p>
          <a:p>
            <a:pPr marL="114297"/>
            <a:r>
              <a:rPr sz="1200" b="1" spc="-33" dirty="0"/>
              <a:t>.13</a:t>
            </a:r>
            <a:endParaRPr sz="1200"/>
          </a:p>
        </p:txBody>
      </p:sp>
      <p:grpSp>
        <p:nvGrpSpPr>
          <p:cNvPr id="8" name="object 8"/>
          <p:cNvGrpSpPr/>
          <p:nvPr/>
        </p:nvGrpSpPr>
        <p:grpSpPr>
          <a:xfrm>
            <a:off x="7993673" y="2027050"/>
            <a:ext cx="55033" cy="176953"/>
            <a:chOff x="5995254" y="1520287"/>
            <a:chExt cx="41275" cy="132715"/>
          </a:xfrm>
        </p:grpSpPr>
        <p:sp>
          <p:nvSpPr>
            <p:cNvPr id="9" name="object 9"/>
            <p:cNvSpPr/>
            <p:nvPr/>
          </p:nvSpPr>
          <p:spPr>
            <a:xfrm>
              <a:off x="6015749" y="156827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0" name="object 10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1" name="object 11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506200" y="1421918"/>
            <a:ext cx="90424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B45F06"/>
                </a:solidFill>
                <a:latin typeface="Arial MT"/>
                <a:cs typeface="Arial MT"/>
              </a:rPr>
              <a:t>Softmax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7863" y="508150"/>
            <a:ext cx="324272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“e”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33495" y="518307"/>
            <a:ext cx="223520" cy="14235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53">
              <a:lnSpc>
                <a:spcPts val="2060"/>
              </a:lnSpc>
            </a:pPr>
            <a:r>
              <a:rPr sz="1867" spc="-33" dirty="0">
                <a:latin typeface="Arial MT"/>
                <a:cs typeface="Arial MT"/>
              </a:rPr>
              <a:t>“l”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987"/>
              </a:spcBef>
            </a:pPr>
            <a:endParaRPr sz="1867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200" b="1" spc="-33" dirty="0"/>
              <a:t>.25</a:t>
            </a:r>
            <a:endParaRPr sz="1200"/>
          </a:p>
          <a:p>
            <a:pPr>
              <a:lnSpc>
                <a:spcPct val="100000"/>
              </a:lnSpc>
            </a:pPr>
            <a:r>
              <a:rPr sz="1200" b="1" spc="-33" dirty="0"/>
              <a:t>.20</a:t>
            </a:r>
            <a:endParaRPr sz="1200"/>
          </a:p>
          <a:p>
            <a:pPr>
              <a:lnSpc>
                <a:spcPct val="100000"/>
              </a:lnSpc>
            </a:pPr>
            <a:r>
              <a:rPr sz="1200" b="1" spc="-33" dirty="0"/>
              <a:t>.05</a:t>
            </a:r>
            <a:endParaRPr sz="1200"/>
          </a:p>
          <a:p>
            <a:pPr>
              <a:lnSpc>
                <a:spcPct val="100000"/>
              </a:lnSpc>
            </a:pPr>
            <a:r>
              <a:rPr sz="1200" b="1" spc="-33" dirty="0"/>
              <a:t>.50</a:t>
            </a:r>
            <a:endParaRPr sz="1200"/>
          </a:p>
        </p:txBody>
      </p:sp>
      <p:sp>
        <p:nvSpPr>
          <p:cNvPr id="15" name="object 15"/>
          <p:cNvSpPr txBox="1"/>
          <p:nvPr/>
        </p:nvSpPr>
        <p:spPr>
          <a:xfrm>
            <a:off x="9726530" y="547540"/>
            <a:ext cx="1220047" cy="1385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79">
              <a:lnSpc>
                <a:spcPts val="2140"/>
              </a:lnSpc>
              <a:tabLst>
                <a:tab pos="929617" algn="l"/>
              </a:tabLst>
            </a:pPr>
            <a:r>
              <a:rPr sz="1867" spc="-33" dirty="0">
                <a:latin typeface="Arial MT"/>
                <a:cs typeface="Arial MT"/>
              </a:rPr>
              <a:t>“l”</a:t>
            </a:r>
            <a:r>
              <a:rPr sz="1867" dirty="0">
                <a:latin typeface="Arial MT"/>
                <a:cs typeface="Arial MT"/>
              </a:rPr>
              <a:t>	</a:t>
            </a:r>
            <a:r>
              <a:rPr sz="2800" spc="-49" baseline="1984" dirty="0">
                <a:latin typeface="Arial MT"/>
                <a:cs typeface="Arial MT"/>
              </a:rPr>
              <a:t>“o”</a:t>
            </a:r>
            <a:endParaRPr sz="2800" baseline="1984">
              <a:latin typeface="Arial MT"/>
              <a:cs typeface="Arial MT"/>
            </a:endParaRPr>
          </a:p>
          <a:p>
            <a:pPr>
              <a:spcBef>
                <a:spcPts val="679"/>
              </a:spcBef>
            </a:pPr>
            <a:endParaRPr sz="1867">
              <a:latin typeface="Arial MT"/>
              <a:cs typeface="Arial MT"/>
            </a:endParaRPr>
          </a:p>
          <a:p>
            <a:pPr>
              <a:tabLst>
                <a:tab pos="956709" algn="l"/>
              </a:tabLst>
            </a:pPr>
            <a:r>
              <a:rPr sz="1200" b="1" spc="-33" dirty="0"/>
              <a:t>.11</a:t>
            </a:r>
            <a:r>
              <a:rPr sz="1200" b="1" dirty="0"/>
              <a:t>	</a:t>
            </a:r>
            <a:r>
              <a:rPr sz="1200" b="1" spc="-33" dirty="0"/>
              <a:t>.11</a:t>
            </a:r>
            <a:endParaRPr sz="1200"/>
          </a:p>
          <a:p>
            <a:pPr>
              <a:tabLst>
                <a:tab pos="956709" algn="l"/>
              </a:tabLst>
            </a:pPr>
            <a:r>
              <a:rPr sz="1200" b="1" spc="-33" dirty="0"/>
              <a:t>.17</a:t>
            </a:r>
            <a:r>
              <a:rPr sz="1200" b="1" dirty="0"/>
              <a:t>	</a:t>
            </a:r>
            <a:r>
              <a:rPr sz="1200" b="1" spc="-33" dirty="0"/>
              <a:t>.02</a:t>
            </a:r>
            <a:endParaRPr sz="1200"/>
          </a:p>
          <a:p>
            <a:pPr>
              <a:tabLst>
                <a:tab pos="956709" algn="l"/>
              </a:tabLst>
            </a:pPr>
            <a:r>
              <a:rPr sz="1200" b="1" spc="-33" dirty="0"/>
              <a:t>.68</a:t>
            </a:r>
            <a:r>
              <a:rPr sz="1200" b="1" dirty="0"/>
              <a:t>	</a:t>
            </a:r>
            <a:r>
              <a:rPr sz="1200" b="1" spc="-33" dirty="0"/>
              <a:t>.08</a:t>
            </a:r>
            <a:endParaRPr sz="1200"/>
          </a:p>
          <a:p>
            <a:pPr>
              <a:tabLst>
                <a:tab pos="956709" algn="l"/>
              </a:tabLst>
            </a:pPr>
            <a:r>
              <a:rPr sz="1200" b="1" spc="-33" dirty="0"/>
              <a:t>.03</a:t>
            </a:r>
            <a:r>
              <a:rPr sz="1200" b="1" dirty="0"/>
              <a:t>	</a:t>
            </a:r>
            <a:r>
              <a:rPr sz="1200" b="1" spc="-33" dirty="0"/>
              <a:t>.79</a:t>
            </a:r>
            <a:endParaRPr sz="1200"/>
          </a:p>
        </p:txBody>
      </p:sp>
      <p:grpSp>
        <p:nvGrpSpPr>
          <p:cNvPr id="16" name="object 16"/>
          <p:cNvGrpSpPr/>
          <p:nvPr/>
        </p:nvGrpSpPr>
        <p:grpSpPr>
          <a:xfrm>
            <a:off x="7993673" y="866884"/>
            <a:ext cx="55033" cy="176953"/>
            <a:chOff x="5995254" y="650162"/>
            <a:chExt cx="41275" cy="132715"/>
          </a:xfrm>
        </p:grpSpPr>
        <p:sp>
          <p:nvSpPr>
            <p:cNvPr id="17" name="object 17"/>
            <p:cNvSpPr/>
            <p:nvPr/>
          </p:nvSpPr>
          <p:spPr>
            <a:xfrm>
              <a:off x="6015749" y="698150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8" name="object 18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9" name="object 19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06200" y="692150"/>
            <a:ext cx="8382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Sample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623758" y="98839"/>
            <a:ext cx="2982807" cy="6005407"/>
          </a:xfrm>
          <a:custGeom>
            <a:avLst/>
            <a:gdLst/>
            <a:ahLst/>
            <a:cxnLst/>
            <a:rect l="l" t="t" r="r" b="b"/>
            <a:pathLst>
              <a:path w="2237104" h="4504055">
                <a:moveTo>
                  <a:pt x="2237054" y="0"/>
                </a:moveTo>
                <a:lnTo>
                  <a:pt x="509346" y="0"/>
                </a:lnTo>
                <a:lnTo>
                  <a:pt x="0" y="12"/>
                </a:lnTo>
                <a:lnTo>
                  <a:pt x="0" y="3505212"/>
                </a:lnTo>
                <a:lnTo>
                  <a:pt x="509346" y="3505212"/>
                </a:lnTo>
                <a:lnTo>
                  <a:pt x="509346" y="4503902"/>
                </a:lnTo>
                <a:lnTo>
                  <a:pt x="2237054" y="4503902"/>
                </a:lnTo>
                <a:lnTo>
                  <a:pt x="22370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26600" y="496204"/>
            <a:ext cx="4885267" cy="1507250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sz="3200" b="1" dirty="0">
                <a:latin typeface="Arial"/>
                <a:cs typeface="Arial"/>
              </a:rPr>
              <a:t>Example:</a:t>
            </a:r>
            <a:r>
              <a:rPr sz="3200" b="1" spc="-47" dirty="0">
                <a:latin typeface="Arial"/>
                <a:cs typeface="Arial"/>
              </a:rPr>
              <a:t> </a:t>
            </a:r>
            <a:r>
              <a:rPr sz="3200" b="1" spc="-33" dirty="0">
                <a:latin typeface="Arial"/>
                <a:cs typeface="Arial"/>
              </a:rPr>
              <a:t>Character-</a:t>
            </a:r>
            <a:r>
              <a:rPr sz="3200" b="1" spc="-13" dirty="0">
                <a:latin typeface="Arial"/>
                <a:cs typeface="Arial"/>
              </a:rPr>
              <a:t>level </a:t>
            </a:r>
            <a:r>
              <a:rPr sz="3200" b="1" dirty="0">
                <a:latin typeface="Arial"/>
                <a:cs typeface="Arial"/>
              </a:rPr>
              <a:t>Language</a:t>
            </a:r>
            <a:r>
              <a:rPr sz="3200" b="1" spc="-53" dirty="0">
                <a:latin typeface="Arial"/>
                <a:cs typeface="Arial"/>
              </a:rPr>
              <a:t> </a:t>
            </a:r>
            <a:r>
              <a:rPr sz="3200" b="1" spc="-13" dirty="0">
                <a:latin typeface="Arial"/>
                <a:cs typeface="Arial"/>
              </a:rPr>
              <a:t>Model Sampling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xfrm>
            <a:off x="341376" y="2434167"/>
            <a:ext cx="4552951" cy="2774072"/>
          </a:xfrm>
          <a:prstGeom prst="rect">
            <a:avLst/>
          </a:prstGeom>
        </p:spPr>
        <p:txBody>
          <a:bodyPr spcFirstLastPara="1" vert="horz" wrap="square" lIns="0" tIns="16933" rIns="0" bIns="0" rtlCol="0" anchor="t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Vocabulary:</a:t>
            </a:r>
          </a:p>
          <a:p>
            <a:pPr marL="16933">
              <a:lnSpc>
                <a:spcPct val="100000"/>
              </a:lnSpc>
            </a:pPr>
            <a:r>
              <a:rPr spc="-13" dirty="0"/>
              <a:t>[h,e,l,o]</a:t>
            </a:r>
          </a:p>
          <a:p>
            <a:pPr>
              <a:lnSpc>
                <a:spcPct val="100000"/>
              </a:lnSpc>
              <a:spcBef>
                <a:spcPts val="167"/>
              </a:spcBef>
            </a:pPr>
            <a:endParaRPr spc="-13" dirty="0"/>
          </a:p>
          <a:p>
            <a:pPr marL="16933" marR="6773">
              <a:lnSpc>
                <a:spcPct val="100000"/>
              </a:lnSpc>
            </a:pPr>
            <a:r>
              <a:rPr sz="2933" dirty="0"/>
              <a:t>At</a:t>
            </a:r>
            <a:r>
              <a:rPr sz="2933" spc="-27" dirty="0"/>
              <a:t> test-</a:t>
            </a:r>
            <a:r>
              <a:rPr sz="2933" dirty="0"/>
              <a:t>time</a:t>
            </a:r>
            <a:r>
              <a:rPr sz="2933" spc="-27" dirty="0"/>
              <a:t> </a:t>
            </a:r>
            <a:r>
              <a:rPr sz="2933" spc="-13" dirty="0"/>
              <a:t>sample </a:t>
            </a:r>
            <a:r>
              <a:rPr sz="2933" dirty="0"/>
              <a:t>characters</a:t>
            </a:r>
            <a:r>
              <a:rPr sz="2933" spc="-80" dirty="0"/>
              <a:t> </a:t>
            </a:r>
            <a:r>
              <a:rPr sz="2933" dirty="0"/>
              <a:t>one</a:t>
            </a:r>
            <a:r>
              <a:rPr sz="2933" spc="-73" dirty="0"/>
              <a:t> </a:t>
            </a:r>
            <a:r>
              <a:rPr sz="2933" dirty="0"/>
              <a:t>at</a:t>
            </a:r>
            <a:r>
              <a:rPr sz="2933" spc="-73" dirty="0"/>
              <a:t> </a:t>
            </a:r>
            <a:r>
              <a:rPr sz="2933" dirty="0"/>
              <a:t>a</a:t>
            </a:r>
            <a:r>
              <a:rPr sz="2933" spc="-73" dirty="0"/>
              <a:t> </a:t>
            </a:r>
            <a:r>
              <a:rPr sz="2933" dirty="0"/>
              <a:t>time,</a:t>
            </a:r>
            <a:r>
              <a:rPr sz="2933" spc="-73" dirty="0"/>
              <a:t> </a:t>
            </a:r>
            <a:r>
              <a:rPr sz="2933" spc="-27" dirty="0"/>
              <a:t>feed </a:t>
            </a:r>
            <a:r>
              <a:rPr sz="2933" dirty="0"/>
              <a:t>back</a:t>
            </a:r>
            <a:r>
              <a:rPr sz="2933" spc="-53" dirty="0"/>
              <a:t> </a:t>
            </a:r>
            <a:r>
              <a:rPr sz="2933" dirty="0"/>
              <a:t>to</a:t>
            </a:r>
            <a:r>
              <a:rPr sz="2933" spc="-53" dirty="0"/>
              <a:t> </a:t>
            </a:r>
            <a:r>
              <a:rPr sz="2933" spc="-13" dirty="0"/>
              <a:t>model</a:t>
            </a:r>
            <a:endParaRPr sz="293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50767" y="160433"/>
            <a:ext cx="5229860" cy="5956300"/>
            <a:chOff x="4688075" y="120324"/>
            <a:chExt cx="3922395" cy="4467225"/>
          </a:xfrm>
        </p:grpSpPr>
        <p:sp>
          <p:nvSpPr>
            <p:cNvPr id="3" name="object 3"/>
            <p:cNvSpPr/>
            <p:nvPr/>
          </p:nvSpPr>
          <p:spPr>
            <a:xfrm>
              <a:off x="4688075" y="120324"/>
              <a:ext cx="3910329" cy="1817370"/>
            </a:xfrm>
            <a:custGeom>
              <a:avLst/>
              <a:gdLst/>
              <a:ahLst/>
              <a:cxnLst/>
              <a:rect l="l" t="t" r="r" b="b"/>
              <a:pathLst>
                <a:path w="3910329" h="1817370">
                  <a:moveTo>
                    <a:pt x="3607093" y="1816799"/>
                  </a:moveTo>
                  <a:lnTo>
                    <a:pt x="302806" y="1816799"/>
                  </a:lnTo>
                  <a:lnTo>
                    <a:pt x="253689" y="1812836"/>
                  </a:lnTo>
                  <a:lnTo>
                    <a:pt x="207095" y="1801362"/>
                  </a:lnTo>
                  <a:lnTo>
                    <a:pt x="163649" y="1783001"/>
                  </a:lnTo>
                  <a:lnTo>
                    <a:pt x="123972" y="1758375"/>
                  </a:lnTo>
                  <a:lnTo>
                    <a:pt x="88689" y="1728110"/>
                  </a:lnTo>
                  <a:lnTo>
                    <a:pt x="58423" y="1692827"/>
                  </a:lnTo>
                  <a:lnTo>
                    <a:pt x="33798" y="1653150"/>
                  </a:lnTo>
                  <a:lnTo>
                    <a:pt x="15437" y="1609704"/>
                  </a:lnTo>
                  <a:lnTo>
                    <a:pt x="3963" y="1563110"/>
                  </a:lnTo>
                  <a:lnTo>
                    <a:pt x="0" y="1513993"/>
                  </a:lnTo>
                  <a:lnTo>
                    <a:pt x="0" y="302806"/>
                  </a:lnTo>
                  <a:lnTo>
                    <a:pt x="3963" y="253689"/>
                  </a:lnTo>
                  <a:lnTo>
                    <a:pt x="15437" y="207095"/>
                  </a:lnTo>
                  <a:lnTo>
                    <a:pt x="33798" y="163649"/>
                  </a:lnTo>
                  <a:lnTo>
                    <a:pt x="58423" y="123972"/>
                  </a:lnTo>
                  <a:lnTo>
                    <a:pt x="88689" y="88689"/>
                  </a:lnTo>
                  <a:lnTo>
                    <a:pt x="123972" y="58424"/>
                  </a:lnTo>
                  <a:lnTo>
                    <a:pt x="163649" y="33798"/>
                  </a:lnTo>
                  <a:lnTo>
                    <a:pt x="207095" y="15437"/>
                  </a:lnTo>
                  <a:lnTo>
                    <a:pt x="253689" y="3963"/>
                  </a:lnTo>
                  <a:lnTo>
                    <a:pt x="302806" y="0"/>
                  </a:lnTo>
                  <a:lnTo>
                    <a:pt x="3607093" y="0"/>
                  </a:lnTo>
                  <a:lnTo>
                    <a:pt x="3654748" y="3772"/>
                  </a:lnTo>
                  <a:lnTo>
                    <a:pt x="3700801" y="14864"/>
                  </a:lnTo>
                  <a:lnTo>
                    <a:pt x="3744437" y="32938"/>
                  </a:lnTo>
                  <a:lnTo>
                    <a:pt x="3784845" y="57659"/>
                  </a:lnTo>
                  <a:lnTo>
                    <a:pt x="3821209" y="88689"/>
                  </a:lnTo>
                  <a:lnTo>
                    <a:pt x="3852240" y="125054"/>
                  </a:lnTo>
                  <a:lnTo>
                    <a:pt x="3876961" y="165461"/>
                  </a:lnTo>
                  <a:lnTo>
                    <a:pt x="3895035" y="209098"/>
                  </a:lnTo>
                  <a:lnTo>
                    <a:pt x="3906127" y="255150"/>
                  </a:lnTo>
                  <a:lnTo>
                    <a:pt x="3909899" y="302806"/>
                  </a:lnTo>
                  <a:lnTo>
                    <a:pt x="3909899" y="1513993"/>
                  </a:lnTo>
                  <a:lnTo>
                    <a:pt x="3905936" y="1563110"/>
                  </a:lnTo>
                  <a:lnTo>
                    <a:pt x="3894462" y="1609704"/>
                  </a:lnTo>
                  <a:lnTo>
                    <a:pt x="3876101" y="1653150"/>
                  </a:lnTo>
                  <a:lnTo>
                    <a:pt x="3851475" y="1692827"/>
                  </a:lnTo>
                  <a:lnTo>
                    <a:pt x="3821210" y="1728110"/>
                  </a:lnTo>
                  <a:lnTo>
                    <a:pt x="3785927" y="1758375"/>
                  </a:lnTo>
                  <a:lnTo>
                    <a:pt x="3746250" y="1783001"/>
                  </a:lnTo>
                  <a:lnTo>
                    <a:pt x="3702803" y="1801362"/>
                  </a:lnTo>
                  <a:lnTo>
                    <a:pt x="3656210" y="1812836"/>
                  </a:lnTo>
                  <a:lnTo>
                    <a:pt x="3607093" y="18167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0350" y="1643474"/>
              <a:ext cx="3909874" cy="28603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74778" y="210974"/>
              <a:ext cx="426720" cy="4367530"/>
            </a:xfrm>
            <a:custGeom>
              <a:avLst/>
              <a:gdLst/>
              <a:ahLst/>
              <a:cxnLst/>
              <a:rect l="l" t="t" r="r" b="b"/>
              <a:pathLst>
                <a:path w="426720" h="4367530">
                  <a:moveTo>
                    <a:pt x="0" y="100972"/>
                  </a:moveTo>
                  <a:lnTo>
                    <a:pt x="1283" y="99893"/>
                  </a:lnTo>
                  <a:lnTo>
                    <a:pt x="4948" y="89434"/>
                  </a:lnTo>
                  <a:lnTo>
                    <a:pt x="10718" y="72637"/>
                  </a:lnTo>
                  <a:lnTo>
                    <a:pt x="18316" y="52541"/>
                  </a:lnTo>
                  <a:lnTo>
                    <a:pt x="27465" y="32189"/>
                  </a:lnTo>
                  <a:lnTo>
                    <a:pt x="37889" y="14620"/>
                  </a:lnTo>
                  <a:lnTo>
                    <a:pt x="49309" y="2877"/>
                  </a:lnTo>
                  <a:lnTo>
                    <a:pt x="61449" y="0"/>
                  </a:lnTo>
                  <a:lnTo>
                    <a:pt x="74033" y="9029"/>
                  </a:lnTo>
                  <a:lnTo>
                    <a:pt x="99421" y="74973"/>
                  </a:lnTo>
                  <a:lnTo>
                    <a:pt x="111672" y="137969"/>
                  </a:lnTo>
                  <a:lnTo>
                    <a:pt x="118564" y="185651"/>
                  </a:lnTo>
                  <a:lnTo>
                    <a:pt x="125239" y="241184"/>
                  </a:lnTo>
                  <a:lnTo>
                    <a:pt x="131709" y="304171"/>
                  </a:lnTo>
                  <a:lnTo>
                    <a:pt x="137984" y="374215"/>
                  </a:lnTo>
                  <a:lnTo>
                    <a:pt x="144076" y="450919"/>
                  </a:lnTo>
                  <a:lnTo>
                    <a:pt x="147057" y="491645"/>
                  </a:lnTo>
                  <a:lnTo>
                    <a:pt x="149996" y="533887"/>
                  </a:lnTo>
                  <a:lnTo>
                    <a:pt x="152894" y="577595"/>
                  </a:lnTo>
                  <a:lnTo>
                    <a:pt x="155754" y="622720"/>
                  </a:lnTo>
                  <a:lnTo>
                    <a:pt x="158576" y="669212"/>
                  </a:lnTo>
                  <a:lnTo>
                    <a:pt x="161363" y="717022"/>
                  </a:lnTo>
                  <a:lnTo>
                    <a:pt x="164114" y="766100"/>
                  </a:lnTo>
                  <a:lnTo>
                    <a:pt x="166832" y="816397"/>
                  </a:lnTo>
                  <a:lnTo>
                    <a:pt x="169518" y="867862"/>
                  </a:lnTo>
                  <a:lnTo>
                    <a:pt x="172174" y="920446"/>
                  </a:lnTo>
                  <a:lnTo>
                    <a:pt x="174801" y="974100"/>
                  </a:lnTo>
                  <a:lnTo>
                    <a:pt x="177399" y="1028774"/>
                  </a:lnTo>
                  <a:lnTo>
                    <a:pt x="179972" y="1084418"/>
                  </a:lnTo>
                  <a:lnTo>
                    <a:pt x="182519" y="1140983"/>
                  </a:lnTo>
                  <a:lnTo>
                    <a:pt x="185043" y="1198419"/>
                  </a:lnTo>
                  <a:lnTo>
                    <a:pt x="187544" y="1256677"/>
                  </a:lnTo>
                  <a:lnTo>
                    <a:pt x="190025" y="1315706"/>
                  </a:lnTo>
                  <a:lnTo>
                    <a:pt x="192486" y="1375457"/>
                  </a:lnTo>
                  <a:lnTo>
                    <a:pt x="194929" y="1435881"/>
                  </a:lnTo>
                  <a:lnTo>
                    <a:pt x="197356" y="1496928"/>
                  </a:lnTo>
                  <a:lnTo>
                    <a:pt x="199767" y="1558548"/>
                  </a:lnTo>
                  <a:lnTo>
                    <a:pt x="202164" y="1620692"/>
                  </a:lnTo>
                  <a:lnTo>
                    <a:pt x="204549" y="1683310"/>
                  </a:lnTo>
                  <a:lnTo>
                    <a:pt x="206923" y="1746352"/>
                  </a:lnTo>
                  <a:lnTo>
                    <a:pt x="209287" y="1809770"/>
                  </a:lnTo>
                  <a:lnTo>
                    <a:pt x="211643" y="1873512"/>
                  </a:lnTo>
                  <a:lnTo>
                    <a:pt x="213992" y="1937530"/>
                  </a:lnTo>
                  <a:lnTo>
                    <a:pt x="216335" y="2001774"/>
                  </a:lnTo>
                  <a:lnTo>
                    <a:pt x="218674" y="2066195"/>
                  </a:lnTo>
                  <a:lnTo>
                    <a:pt x="221010" y="2130742"/>
                  </a:lnTo>
                  <a:lnTo>
                    <a:pt x="223345" y="2195366"/>
                  </a:lnTo>
                  <a:lnTo>
                    <a:pt x="225680" y="2260017"/>
                  </a:lnTo>
                  <a:lnTo>
                    <a:pt x="228016" y="2324642"/>
                  </a:lnTo>
                  <a:lnTo>
                    <a:pt x="230355" y="2389187"/>
                  </a:lnTo>
                  <a:lnTo>
                    <a:pt x="232699" y="2453598"/>
                  </a:lnTo>
                  <a:lnTo>
                    <a:pt x="235047" y="2517823"/>
                  </a:lnTo>
                  <a:lnTo>
                    <a:pt x="237403" y="2581807"/>
                  </a:lnTo>
                  <a:lnTo>
                    <a:pt x="239767" y="2645496"/>
                  </a:lnTo>
                  <a:lnTo>
                    <a:pt x="242141" y="2708837"/>
                  </a:lnTo>
                  <a:lnTo>
                    <a:pt x="244526" y="2771777"/>
                  </a:lnTo>
                  <a:lnTo>
                    <a:pt x="246923" y="2834262"/>
                  </a:lnTo>
                  <a:lnTo>
                    <a:pt x="249335" y="2896237"/>
                  </a:lnTo>
                  <a:lnTo>
                    <a:pt x="251761" y="2957650"/>
                  </a:lnTo>
                  <a:lnTo>
                    <a:pt x="254205" y="3018446"/>
                  </a:lnTo>
                  <a:lnTo>
                    <a:pt x="256666" y="3078573"/>
                  </a:lnTo>
                  <a:lnTo>
                    <a:pt x="259147" y="3137976"/>
                  </a:lnTo>
                  <a:lnTo>
                    <a:pt x="261648" y="3196602"/>
                  </a:lnTo>
                  <a:lnTo>
                    <a:pt x="264172" y="3254397"/>
                  </a:lnTo>
                  <a:lnTo>
                    <a:pt x="266720" y="3311308"/>
                  </a:lnTo>
                  <a:lnTo>
                    <a:pt x="269292" y="3367281"/>
                  </a:lnTo>
                  <a:lnTo>
                    <a:pt x="271891" y="3422262"/>
                  </a:lnTo>
                  <a:lnTo>
                    <a:pt x="274518" y="3476197"/>
                  </a:lnTo>
                  <a:lnTo>
                    <a:pt x="277173" y="3529033"/>
                  </a:lnTo>
                  <a:lnTo>
                    <a:pt x="279860" y="3580717"/>
                  </a:lnTo>
                  <a:lnTo>
                    <a:pt x="282578" y="3631195"/>
                  </a:lnTo>
                  <a:lnTo>
                    <a:pt x="285330" y="3680412"/>
                  </a:lnTo>
                  <a:lnTo>
                    <a:pt x="288116" y="3728316"/>
                  </a:lnTo>
                  <a:lnTo>
                    <a:pt x="290938" y="3774853"/>
                  </a:lnTo>
                  <a:lnTo>
                    <a:pt x="293798" y="3819968"/>
                  </a:lnTo>
                  <a:lnTo>
                    <a:pt x="296697" y="3863609"/>
                  </a:lnTo>
                  <a:lnTo>
                    <a:pt x="299636" y="3905722"/>
                  </a:lnTo>
                  <a:lnTo>
                    <a:pt x="302617" y="3946254"/>
                  </a:lnTo>
                  <a:lnTo>
                    <a:pt x="305641" y="3985149"/>
                  </a:lnTo>
                  <a:lnTo>
                    <a:pt x="311823" y="4057820"/>
                  </a:lnTo>
                  <a:lnTo>
                    <a:pt x="318195" y="4123304"/>
                  </a:lnTo>
                  <a:lnTo>
                    <a:pt x="324766" y="4181174"/>
                  </a:lnTo>
                  <a:lnTo>
                    <a:pt x="331548" y="4231000"/>
                  </a:lnTo>
                  <a:lnTo>
                    <a:pt x="349780" y="4320209"/>
                  </a:lnTo>
                  <a:lnTo>
                    <a:pt x="365016" y="4356493"/>
                  </a:lnTo>
                  <a:lnTo>
                    <a:pt x="380252" y="4366961"/>
                  </a:lnTo>
                  <a:lnTo>
                    <a:pt x="395009" y="4356962"/>
                  </a:lnTo>
                  <a:lnTo>
                    <a:pt x="412850" y="4321735"/>
                  </a:lnTo>
                  <a:lnTo>
                    <a:pt x="424556" y="4285294"/>
                  </a:lnTo>
                  <a:lnTo>
                    <a:pt x="425676" y="4281203"/>
                  </a:lnTo>
                  <a:lnTo>
                    <a:pt x="426255" y="427902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0550" y="4395421"/>
              <a:ext cx="80965" cy="10973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89001" y="1086433"/>
            <a:ext cx="464820" cy="831852"/>
          </a:xfrm>
          <a:prstGeom prst="rect">
            <a:avLst/>
          </a:prstGeom>
          <a:solidFill>
            <a:srgbClr val="FCE4CD"/>
          </a:solidFill>
          <a:ln w="9524">
            <a:solidFill>
              <a:srgbClr val="666666"/>
            </a:solidFill>
          </a:ln>
        </p:spPr>
        <p:txBody>
          <a:bodyPr vert="horz" wrap="square" lIns="0" tIns="92287" rIns="0" bIns="0" rtlCol="0">
            <a:spAutoFit/>
          </a:bodyPr>
          <a:lstStyle/>
          <a:p>
            <a:pPr marL="114297">
              <a:spcBef>
                <a:spcPts val="727"/>
              </a:spcBef>
            </a:pPr>
            <a:r>
              <a:rPr sz="1200" b="1" spc="-33" dirty="0"/>
              <a:t>.03</a:t>
            </a:r>
            <a:endParaRPr sz="1200"/>
          </a:p>
          <a:p>
            <a:pPr marL="114297"/>
            <a:r>
              <a:rPr sz="1200" b="1" spc="-33" dirty="0"/>
              <a:t>.84</a:t>
            </a:r>
            <a:endParaRPr sz="1200"/>
          </a:p>
          <a:p>
            <a:pPr marL="114297"/>
            <a:r>
              <a:rPr sz="1200" b="1" spc="-33" dirty="0"/>
              <a:t>.00</a:t>
            </a:r>
            <a:endParaRPr sz="1200"/>
          </a:p>
          <a:p>
            <a:pPr marL="114297"/>
            <a:r>
              <a:rPr sz="1200" b="1" spc="-33" dirty="0"/>
              <a:t>.13</a:t>
            </a:r>
            <a:endParaRPr sz="1200"/>
          </a:p>
        </p:txBody>
      </p:sp>
      <p:sp>
        <p:nvSpPr>
          <p:cNvPr id="8" name="object 8"/>
          <p:cNvSpPr txBox="1"/>
          <p:nvPr/>
        </p:nvSpPr>
        <p:spPr>
          <a:xfrm>
            <a:off x="8719195" y="1086433"/>
            <a:ext cx="464820" cy="831852"/>
          </a:xfrm>
          <a:prstGeom prst="rect">
            <a:avLst/>
          </a:prstGeom>
          <a:solidFill>
            <a:srgbClr val="FCE4CD"/>
          </a:solidFill>
          <a:ln w="9524">
            <a:solidFill>
              <a:srgbClr val="666666"/>
            </a:solidFill>
          </a:ln>
        </p:spPr>
        <p:txBody>
          <a:bodyPr vert="horz" wrap="square" lIns="0" tIns="92287" rIns="0" bIns="0" rtlCol="0">
            <a:spAutoFit/>
          </a:bodyPr>
          <a:lstStyle/>
          <a:p>
            <a:pPr marL="113450">
              <a:spcBef>
                <a:spcPts val="727"/>
              </a:spcBef>
            </a:pPr>
            <a:r>
              <a:rPr sz="1200" b="1" spc="-33" dirty="0"/>
              <a:t>.25</a:t>
            </a:r>
            <a:endParaRPr sz="1200"/>
          </a:p>
          <a:p>
            <a:pPr marL="113450"/>
            <a:r>
              <a:rPr sz="1200" b="1" spc="-33" dirty="0"/>
              <a:t>.20</a:t>
            </a:r>
            <a:endParaRPr sz="1200"/>
          </a:p>
          <a:p>
            <a:pPr marL="113450"/>
            <a:r>
              <a:rPr sz="1200" b="1" spc="-33" dirty="0"/>
              <a:t>.50</a:t>
            </a:r>
            <a:endParaRPr sz="1200"/>
          </a:p>
          <a:p>
            <a:pPr marL="113450"/>
            <a:r>
              <a:rPr sz="1200" b="1" spc="-33" dirty="0"/>
              <a:t>.05</a:t>
            </a:r>
            <a:endParaRPr sz="1200"/>
          </a:p>
        </p:txBody>
      </p:sp>
      <p:grpSp>
        <p:nvGrpSpPr>
          <p:cNvPr id="9" name="object 9"/>
          <p:cNvGrpSpPr/>
          <p:nvPr/>
        </p:nvGrpSpPr>
        <p:grpSpPr>
          <a:xfrm>
            <a:off x="7993672" y="2027049"/>
            <a:ext cx="985520" cy="177800"/>
            <a:chOff x="5995254" y="1520287"/>
            <a:chExt cx="739140" cy="133350"/>
          </a:xfrm>
        </p:grpSpPr>
        <p:sp>
          <p:nvSpPr>
            <p:cNvPr id="10" name="object 10"/>
            <p:cNvSpPr/>
            <p:nvPr/>
          </p:nvSpPr>
          <p:spPr>
            <a:xfrm>
              <a:off x="6015749" y="156827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1" name="object 11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2" name="object 12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3" name="object 13"/>
            <p:cNvSpPr/>
            <p:nvPr/>
          </p:nvSpPr>
          <p:spPr>
            <a:xfrm>
              <a:off x="6713399" y="15684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4" name="object 14"/>
            <p:cNvSpPr/>
            <p:nvPr/>
          </p:nvSpPr>
          <p:spPr>
            <a:xfrm>
              <a:off x="669766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5" name="object 15"/>
            <p:cNvSpPr/>
            <p:nvPr/>
          </p:nvSpPr>
          <p:spPr>
            <a:xfrm>
              <a:off x="669766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06200" y="1421918"/>
            <a:ext cx="90424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B45F06"/>
                </a:solidFill>
                <a:latin typeface="Arial MT"/>
                <a:cs typeface="Arial MT"/>
              </a:rPr>
              <a:t>Softmax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77863" y="508150"/>
            <a:ext cx="324272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“e”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993673" y="866884"/>
            <a:ext cx="55033" cy="176953"/>
            <a:chOff x="5995254" y="650162"/>
            <a:chExt cx="41275" cy="132715"/>
          </a:xfrm>
        </p:grpSpPr>
        <p:sp>
          <p:nvSpPr>
            <p:cNvPr id="19" name="object 19"/>
            <p:cNvSpPr/>
            <p:nvPr/>
          </p:nvSpPr>
          <p:spPr>
            <a:xfrm>
              <a:off x="6015749" y="698150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0" name="object 20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1" name="object 21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829046" y="478918"/>
            <a:ext cx="2446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“l”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26530" y="547540"/>
            <a:ext cx="1220047" cy="1385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79">
              <a:lnSpc>
                <a:spcPts val="2140"/>
              </a:lnSpc>
              <a:tabLst>
                <a:tab pos="929617" algn="l"/>
              </a:tabLst>
            </a:pPr>
            <a:r>
              <a:rPr sz="1867" spc="-33" dirty="0">
                <a:latin typeface="Arial MT"/>
                <a:cs typeface="Arial MT"/>
              </a:rPr>
              <a:t>“l”</a:t>
            </a:r>
            <a:r>
              <a:rPr sz="1867" dirty="0">
                <a:latin typeface="Arial MT"/>
                <a:cs typeface="Arial MT"/>
              </a:rPr>
              <a:t>	</a:t>
            </a:r>
            <a:r>
              <a:rPr sz="2800" spc="-49" baseline="1984" dirty="0">
                <a:latin typeface="Arial MT"/>
                <a:cs typeface="Arial MT"/>
              </a:rPr>
              <a:t>“o”</a:t>
            </a:r>
            <a:endParaRPr sz="2800" baseline="1984">
              <a:latin typeface="Arial MT"/>
              <a:cs typeface="Arial MT"/>
            </a:endParaRPr>
          </a:p>
          <a:p>
            <a:pPr>
              <a:spcBef>
                <a:spcPts val="679"/>
              </a:spcBef>
            </a:pPr>
            <a:endParaRPr sz="1867">
              <a:latin typeface="Arial MT"/>
              <a:cs typeface="Arial MT"/>
            </a:endParaRPr>
          </a:p>
          <a:p>
            <a:pPr>
              <a:tabLst>
                <a:tab pos="956709" algn="l"/>
              </a:tabLst>
            </a:pPr>
            <a:r>
              <a:rPr sz="1200" b="1" spc="-33" dirty="0"/>
              <a:t>.11</a:t>
            </a:r>
            <a:r>
              <a:rPr sz="1200" b="1" dirty="0"/>
              <a:t>	</a:t>
            </a:r>
            <a:r>
              <a:rPr sz="1200" b="1" spc="-33" dirty="0"/>
              <a:t>.11</a:t>
            </a:r>
            <a:endParaRPr sz="1200"/>
          </a:p>
          <a:p>
            <a:pPr>
              <a:tabLst>
                <a:tab pos="956709" algn="l"/>
              </a:tabLst>
            </a:pPr>
            <a:r>
              <a:rPr sz="1200" b="1" spc="-33" dirty="0"/>
              <a:t>.17</a:t>
            </a:r>
            <a:r>
              <a:rPr sz="1200" b="1" dirty="0"/>
              <a:t>	</a:t>
            </a:r>
            <a:r>
              <a:rPr sz="1200" b="1" spc="-33" dirty="0"/>
              <a:t>.02</a:t>
            </a:r>
            <a:endParaRPr sz="1200"/>
          </a:p>
          <a:p>
            <a:pPr>
              <a:tabLst>
                <a:tab pos="956709" algn="l"/>
              </a:tabLst>
            </a:pPr>
            <a:r>
              <a:rPr sz="1200" b="1" spc="-33" dirty="0"/>
              <a:t>.68</a:t>
            </a:r>
            <a:r>
              <a:rPr sz="1200" b="1" dirty="0"/>
              <a:t>	</a:t>
            </a:r>
            <a:r>
              <a:rPr sz="1200" b="1" spc="-33" dirty="0"/>
              <a:t>.08</a:t>
            </a:r>
            <a:endParaRPr sz="1200"/>
          </a:p>
          <a:p>
            <a:pPr>
              <a:tabLst>
                <a:tab pos="956709" algn="l"/>
              </a:tabLst>
            </a:pPr>
            <a:r>
              <a:rPr sz="1200" b="1" spc="-33" dirty="0"/>
              <a:t>.03</a:t>
            </a:r>
            <a:r>
              <a:rPr sz="1200" b="1" dirty="0"/>
              <a:t>	</a:t>
            </a:r>
            <a:r>
              <a:rPr sz="1200" b="1" spc="-33" dirty="0"/>
              <a:t>.79</a:t>
            </a:r>
            <a:endParaRPr sz="1200"/>
          </a:p>
        </p:txBody>
      </p:sp>
      <p:grpSp>
        <p:nvGrpSpPr>
          <p:cNvPr id="24" name="object 24"/>
          <p:cNvGrpSpPr/>
          <p:nvPr/>
        </p:nvGrpSpPr>
        <p:grpSpPr>
          <a:xfrm>
            <a:off x="8905292" y="837650"/>
            <a:ext cx="55033" cy="176953"/>
            <a:chOff x="6678968" y="628237"/>
            <a:chExt cx="41275" cy="132715"/>
          </a:xfrm>
        </p:grpSpPr>
        <p:sp>
          <p:nvSpPr>
            <p:cNvPr id="25" name="object 25"/>
            <p:cNvSpPr/>
            <p:nvPr/>
          </p:nvSpPr>
          <p:spPr>
            <a:xfrm>
              <a:off x="6699463" y="6762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6" name="object 26"/>
            <p:cNvSpPr/>
            <p:nvPr/>
          </p:nvSpPr>
          <p:spPr>
            <a:xfrm>
              <a:off x="6683730" y="6329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7" name="object 27"/>
            <p:cNvSpPr/>
            <p:nvPr/>
          </p:nvSpPr>
          <p:spPr>
            <a:xfrm>
              <a:off x="6683730" y="6329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06200" y="692150"/>
            <a:ext cx="8382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Sample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302899" y="98833"/>
            <a:ext cx="2303780" cy="6005407"/>
          </a:xfrm>
          <a:custGeom>
            <a:avLst/>
            <a:gdLst/>
            <a:ahLst/>
            <a:cxnLst/>
            <a:rect l="l" t="t" r="r" b="b"/>
            <a:pathLst>
              <a:path w="1727834" h="4504055">
                <a:moveTo>
                  <a:pt x="1727699" y="4503899"/>
                </a:moveTo>
                <a:lnTo>
                  <a:pt x="0" y="4503899"/>
                </a:lnTo>
                <a:lnTo>
                  <a:pt x="0" y="0"/>
                </a:lnTo>
                <a:lnTo>
                  <a:pt x="1727699" y="0"/>
                </a:lnTo>
                <a:lnTo>
                  <a:pt x="1727699" y="4503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326599" y="496204"/>
            <a:ext cx="4885267" cy="1507250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sz="3200" b="1" dirty="0">
                <a:latin typeface="Arial"/>
                <a:cs typeface="Arial"/>
              </a:rPr>
              <a:t>Example:</a:t>
            </a:r>
            <a:r>
              <a:rPr sz="3200" b="1" spc="-47" dirty="0">
                <a:latin typeface="Arial"/>
                <a:cs typeface="Arial"/>
              </a:rPr>
              <a:t> </a:t>
            </a:r>
            <a:r>
              <a:rPr sz="3200" b="1" spc="-33" dirty="0">
                <a:latin typeface="Arial"/>
                <a:cs typeface="Arial"/>
              </a:rPr>
              <a:t>Character-</a:t>
            </a:r>
            <a:r>
              <a:rPr sz="3200" b="1" spc="-13" dirty="0">
                <a:latin typeface="Arial"/>
                <a:cs typeface="Arial"/>
              </a:rPr>
              <a:t>level </a:t>
            </a:r>
            <a:r>
              <a:rPr sz="3200" b="1" dirty="0">
                <a:latin typeface="Arial"/>
                <a:cs typeface="Arial"/>
              </a:rPr>
              <a:t>Language</a:t>
            </a:r>
            <a:r>
              <a:rPr sz="3200" b="1" spc="-53" dirty="0">
                <a:latin typeface="Arial"/>
                <a:cs typeface="Arial"/>
              </a:rPr>
              <a:t> </a:t>
            </a:r>
            <a:r>
              <a:rPr sz="3200" b="1" spc="-13" dirty="0">
                <a:latin typeface="Arial"/>
                <a:cs typeface="Arial"/>
              </a:rPr>
              <a:t>Model Sampling</a:t>
            </a:r>
            <a:endParaRPr sz="32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xfrm>
            <a:off x="341376" y="2434167"/>
            <a:ext cx="5529585" cy="2322730"/>
          </a:xfrm>
          <a:prstGeom prst="rect">
            <a:avLst/>
          </a:prstGeom>
        </p:spPr>
        <p:txBody>
          <a:bodyPr spcFirstLastPara="1" vert="horz" wrap="square" lIns="0" tIns="16933" rIns="0" bIns="0" rtlCol="0" anchor="t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Vocabulary:</a:t>
            </a:r>
          </a:p>
          <a:p>
            <a:pPr marL="16933">
              <a:lnSpc>
                <a:spcPct val="100000"/>
              </a:lnSpc>
            </a:pPr>
            <a:r>
              <a:rPr spc="-13" dirty="0"/>
              <a:t>[h,e,l,o]</a:t>
            </a:r>
          </a:p>
          <a:p>
            <a:pPr>
              <a:lnSpc>
                <a:spcPct val="100000"/>
              </a:lnSpc>
              <a:spcBef>
                <a:spcPts val="167"/>
              </a:spcBef>
            </a:pPr>
            <a:endParaRPr spc="-13" dirty="0"/>
          </a:p>
          <a:p>
            <a:pPr marL="16933" marR="6773">
              <a:lnSpc>
                <a:spcPct val="100000"/>
              </a:lnSpc>
            </a:pPr>
            <a:r>
              <a:rPr sz="2933" dirty="0"/>
              <a:t>At</a:t>
            </a:r>
            <a:r>
              <a:rPr sz="2933" spc="-27" dirty="0"/>
              <a:t> test-</a:t>
            </a:r>
            <a:r>
              <a:rPr sz="2933" dirty="0"/>
              <a:t>time</a:t>
            </a:r>
            <a:r>
              <a:rPr sz="2933" spc="-27" dirty="0"/>
              <a:t> </a:t>
            </a:r>
            <a:r>
              <a:rPr sz="2933" spc="-13" dirty="0"/>
              <a:t>sample </a:t>
            </a:r>
            <a:r>
              <a:rPr sz="2933" dirty="0"/>
              <a:t>characters</a:t>
            </a:r>
            <a:r>
              <a:rPr sz="2933" spc="-80" dirty="0"/>
              <a:t> </a:t>
            </a:r>
            <a:r>
              <a:rPr sz="2933" dirty="0"/>
              <a:t>one</a:t>
            </a:r>
            <a:r>
              <a:rPr sz="2933" spc="-73" dirty="0"/>
              <a:t> </a:t>
            </a:r>
            <a:r>
              <a:rPr sz="2933" dirty="0"/>
              <a:t>at</a:t>
            </a:r>
            <a:r>
              <a:rPr sz="2933" spc="-73" dirty="0"/>
              <a:t> </a:t>
            </a:r>
            <a:r>
              <a:rPr sz="2933" dirty="0"/>
              <a:t>a</a:t>
            </a:r>
            <a:r>
              <a:rPr sz="2933" spc="-73" dirty="0"/>
              <a:t> </a:t>
            </a:r>
            <a:r>
              <a:rPr sz="2933" dirty="0"/>
              <a:t>time,</a:t>
            </a:r>
            <a:r>
              <a:rPr sz="2933" spc="-73" dirty="0"/>
              <a:t> </a:t>
            </a:r>
            <a:r>
              <a:rPr sz="2933" spc="-27" dirty="0"/>
              <a:t>feed </a:t>
            </a:r>
            <a:r>
              <a:rPr sz="2933" dirty="0"/>
              <a:t>back</a:t>
            </a:r>
            <a:r>
              <a:rPr sz="2933" spc="-53" dirty="0"/>
              <a:t> </a:t>
            </a:r>
            <a:r>
              <a:rPr sz="2933" dirty="0"/>
              <a:t>to</a:t>
            </a:r>
            <a:r>
              <a:rPr sz="2933" spc="-53" dirty="0"/>
              <a:t> </a:t>
            </a:r>
            <a:r>
              <a:rPr sz="2933" spc="-13" dirty="0"/>
              <a:t>model</a:t>
            </a:r>
            <a:endParaRPr sz="293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50767" y="160433"/>
            <a:ext cx="5229860" cy="5956300"/>
            <a:chOff x="4688075" y="120324"/>
            <a:chExt cx="3922395" cy="4467225"/>
          </a:xfrm>
        </p:grpSpPr>
        <p:sp>
          <p:nvSpPr>
            <p:cNvPr id="3" name="object 3"/>
            <p:cNvSpPr/>
            <p:nvPr/>
          </p:nvSpPr>
          <p:spPr>
            <a:xfrm>
              <a:off x="4688075" y="120324"/>
              <a:ext cx="3910329" cy="1817370"/>
            </a:xfrm>
            <a:custGeom>
              <a:avLst/>
              <a:gdLst/>
              <a:ahLst/>
              <a:cxnLst/>
              <a:rect l="l" t="t" r="r" b="b"/>
              <a:pathLst>
                <a:path w="3910329" h="1817370">
                  <a:moveTo>
                    <a:pt x="3607093" y="1816799"/>
                  </a:moveTo>
                  <a:lnTo>
                    <a:pt x="302806" y="1816799"/>
                  </a:lnTo>
                  <a:lnTo>
                    <a:pt x="253689" y="1812836"/>
                  </a:lnTo>
                  <a:lnTo>
                    <a:pt x="207095" y="1801362"/>
                  </a:lnTo>
                  <a:lnTo>
                    <a:pt x="163649" y="1783001"/>
                  </a:lnTo>
                  <a:lnTo>
                    <a:pt x="123972" y="1758375"/>
                  </a:lnTo>
                  <a:lnTo>
                    <a:pt x="88689" y="1728110"/>
                  </a:lnTo>
                  <a:lnTo>
                    <a:pt x="58423" y="1692827"/>
                  </a:lnTo>
                  <a:lnTo>
                    <a:pt x="33798" y="1653150"/>
                  </a:lnTo>
                  <a:lnTo>
                    <a:pt x="15437" y="1609704"/>
                  </a:lnTo>
                  <a:lnTo>
                    <a:pt x="3963" y="1563110"/>
                  </a:lnTo>
                  <a:lnTo>
                    <a:pt x="0" y="1513993"/>
                  </a:lnTo>
                  <a:lnTo>
                    <a:pt x="0" y="302806"/>
                  </a:lnTo>
                  <a:lnTo>
                    <a:pt x="3963" y="253689"/>
                  </a:lnTo>
                  <a:lnTo>
                    <a:pt x="15437" y="207095"/>
                  </a:lnTo>
                  <a:lnTo>
                    <a:pt x="33798" y="163649"/>
                  </a:lnTo>
                  <a:lnTo>
                    <a:pt x="58423" y="123972"/>
                  </a:lnTo>
                  <a:lnTo>
                    <a:pt x="88689" y="88689"/>
                  </a:lnTo>
                  <a:lnTo>
                    <a:pt x="123972" y="58424"/>
                  </a:lnTo>
                  <a:lnTo>
                    <a:pt x="163649" y="33798"/>
                  </a:lnTo>
                  <a:lnTo>
                    <a:pt x="207095" y="15437"/>
                  </a:lnTo>
                  <a:lnTo>
                    <a:pt x="253689" y="3963"/>
                  </a:lnTo>
                  <a:lnTo>
                    <a:pt x="302806" y="0"/>
                  </a:lnTo>
                  <a:lnTo>
                    <a:pt x="3607093" y="0"/>
                  </a:lnTo>
                  <a:lnTo>
                    <a:pt x="3654748" y="3772"/>
                  </a:lnTo>
                  <a:lnTo>
                    <a:pt x="3700801" y="14864"/>
                  </a:lnTo>
                  <a:lnTo>
                    <a:pt x="3744437" y="32938"/>
                  </a:lnTo>
                  <a:lnTo>
                    <a:pt x="3784845" y="57659"/>
                  </a:lnTo>
                  <a:lnTo>
                    <a:pt x="3821209" y="88689"/>
                  </a:lnTo>
                  <a:lnTo>
                    <a:pt x="3852240" y="125054"/>
                  </a:lnTo>
                  <a:lnTo>
                    <a:pt x="3876961" y="165461"/>
                  </a:lnTo>
                  <a:lnTo>
                    <a:pt x="3895035" y="209098"/>
                  </a:lnTo>
                  <a:lnTo>
                    <a:pt x="3906127" y="255150"/>
                  </a:lnTo>
                  <a:lnTo>
                    <a:pt x="3909899" y="302806"/>
                  </a:lnTo>
                  <a:lnTo>
                    <a:pt x="3909899" y="1513993"/>
                  </a:lnTo>
                  <a:lnTo>
                    <a:pt x="3905936" y="1563110"/>
                  </a:lnTo>
                  <a:lnTo>
                    <a:pt x="3894462" y="1609704"/>
                  </a:lnTo>
                  <a:lnTo>
                    <a:pt x="3876101" y="1653150"/>
                  </a:lnTo>
                  <a:lnTo>
                    <a:pt x="3851475" y="1692827"/>
                  </a:lnTo>
                  <a:lnTo>
                    <a:pt x="3821210" y="1728110"/>
                  </a:lnTo>
                  <a:lnTo>
                    <a:pt x="3785927" y="1758375"/>
                  </a:lnTo>
                  <a:lnTo>
                    <a:pt x="3746250" y="1783001"/>
                  </a:lnTo>
                  <a:lnTo>
                    <a:pt x="3702803" y="1801362"/>
                  </a:lnTo>
                  <a:lnTo>
                    <a:pt x="3656210" y="1812836"/>
                  </a:lnTo>
                  <a:lnTo>
                    <a:pt x="3607093" y="18167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0350" y="1643474"/>
              <a:ext cx="3909874" cy="28603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74778" y="210974"/>
              <a:ext cx="426720" cy="4367530"/>
            </a:xfrm>
            <a:custGeom>
              <a:avLst/>
              <a:gdLst/>
              <a:ahLst/>
              <a:cxnLst/>
              <a:rect l="l" t="t" r="r" b="b"/>
              <a:pathLst>
                <a:path w="426720" h="4367530">
                  <a:moveTo>
                    <a:pt x="0" y="100972"/>
                  </a:moveTo>
                  <a:lnTo>
                    <a:pt x="1283" y="99893"/>
                  </a:lnTo>
                  <a:lnTo>
                    <a:pt x="4948" y="89434"/>
                  </a:lnTo>
                  <a:lnTo>
                    <a:pt x="10718" y="72637"/>
                  </a:lnTo>
                  <a:lnTo>
                    <a:pt x="18316" y="52541"/>
                  </a:lnTo>
                  <a:lnTo>
                    <a:pt x="27465" y="32189"/>
                  </a:lnTo>
                  <a:lnTo>
                    <a:pt x="37889" y="14620"/>
                  </a:lnTo>
                  <a:lnTo>
                    <a:pt x="49309" y="2877"/>
                  </a:lnTo>
                  <a:lnTo>
                    <a:pt x="61449" y="0"/>
                  </a:lnTo>
                  <a:lnTo>
                    <a:pt x="74033" y="9029"/>
                  </a:lnTo>
                  <a:lnTo>
                    <a:pt x="99421" y="74973"/>
                  </a:lnTo>
                  <a:lnTo>
                    <a:pt x="111672" y="137969"/>
                  </a:lnTo>
                  <a:lnTo>
                    <a:pt x="118564" y="185651"/>
                  </a:lnTo>
                  <a:lnTo>
                    <a:pt x="125239" y="241184"/>
                  </a:lnTo>
                  <a:lnTo>
                    <a:pt x="131709" y="304171"/>
                  </a:lnTo>
                  <a:lnTo>
                    <a:pt x="137984" y="374215"/>
                  </a:lnTo>
                  <a:lnTo>
                    <a:pt x="144076" y="450919"/>
                  </a:lnTo>
                  <a:lnTo>
                    <a:pt x="147057" y="491645"/>
                  </a:lnTo>
                  <a:lnTo>
                    <a:pt x="149996" y="533887"/>
                  </a:lnTo>
                  <a:lnTo>
                    <a:pt x="152894" y="577595"/>
                  </a:lnTo>
                  <a:lnTo>
                    <a:pt x="155754" y="622720"/>
                  </a:lnTo>
                  <a:lnTo>
                    <a:pt x="158576" y="669212"/>
                  </a:lnTo>
                  <a:lnTo>
                    <a:pt x="161363" y="717022"/>
                  </a:lnTo>
                  <a:lnTo>
                    <a:pt x="164114" y="766100"/>
                  </a:lnTo>
                  <a:lnTo>
                    <a:pt x="166832" y="816397"/>
                  </a:lnTo>
                  <a:lnTo>
                    <a:pt x="169518" y="867862"/>
                  </a:lnTo>
                  <a:lnTo>
                    <a:pt x="172174" y="920446"/>
                  </a:lnTo>
                  <a:lnTo>
                    <a:pt x="174801" y="974100"/>
                  </a:lnTo>
                  <a:lnTo>
                    <a:pt x="177399" y="1028774"/>
                  </a:lnTo>
                  <a:lnTo>
                    <a:pt x="179972" y="1084418"/>
                  </a:lnTo>
                  <a:lnTo>
                    <a:pt x="182519" y="1140983"/>
                  </a:lnTo>
                  <a:lnTo>
                    <a:pt x="185043" y="1198419"/>
                  </a:lnTo>
                  <a:lnTo>
                    <a:pt x="187544" y="1256677"/>
                  </a:lnTo>
                  <a:lnTo>
                    <a:pt x="190025" y="1315706"/>
                  </a:lnTo>
                  <a:lnTo>
                    <a:pt x="192486" y="1375457"/>
                  </a:lnTo>
                  <a:lnTo>
                    <a:pt x="194929" y="1435881"/>
                  </a:lnTo>
                  <a:lnTo>
                    <a:pt x="197356" y="1496928"/>
                  </a:lnTo>
                  <a:lnTo>
                    <a:pt x="199767" y="1558548"/>
                  </a:lnTo>
                  <a:lnTo>
                    <a:pt x="202164" y="1620692"/>
                  </a:lnTo>
                  <a:lnTo>
                    <a:pt x="204549" y="1683310"/>
                  </a:lnTo>
                  <a:lnTo>
                    <a:pt x="206923" y="1746352"/>
                  </a:lnTo>
                  <a:lnTo>
                    <a:pt x="209287" y="1809770"/>
                  </a:lnTo>
                  <a:lnTo>
                    <a:pt x="211643" y="1873512"/>
                  </a:lnTo>
                  <a:lnTo>
                    <a:pt x="213992" y="1937530"/>
                  </a:lnTo>
                  <a:lnTo>
                    <a:pt x="216335" y="2001774"/>
                  </a:lnTo>
                  <a:lnTo>
                    <a:pt x="218674" y="2066195"/>
                  </a:lnTo>
                  <a:lnTo>
                    <a:pt x="221010" y="2130742"/>
                  </a:lnTo>
                  <a:lnTo>
                    <a:pt x="223345" y="2195366"/>
                  </a:lnTo>
                  <a:lnTo>
                    <a:pt x="225680" y="2260017"/>
                  </a:lnTo>
                  <a:lnTo>
                    <a:pt x="228016" y="2324642"/>
                  </a:lnTo>
                  <a:lnTo>
                    <a:pt x="230355" y="2389187"/>
                  </a:lnTo>
                  <a:lnTo>
                    <a:pt x="232699" y="2453598"/>
                  </a:lnTo>
                  <a:lnTo>
                    <a:pt x="235047" y="2517823"/>
                  </a:lnTo>
                  <a:lnTo>
                    <a:pt x="237403" y="2581807"/>
                  </a:lnTo>
                  <a:lnTo>
                    <a:pt x="239767" y="2645496"/>
                  </a:lnTo>
                  <a:lnTo>
                    <a:pt x="242141" y="2708837"/>
                  </a:lnTo>
                  <a:lnTo>
                    <a:pt x="244526" y="2771777"/>
                  </a:lnTo>
                  <a:lnTo>
                    <a:pt x="246923" y="2834262"/>
                  </a:lnTo>
                  <a:lnTo>
                    <a:pt x="249335" y="2896237"/>
                  </a:lnTo>
                  <a:lnTo>
                    <a:pt x="251761" y="2957650"/>
                  </a:lnTo>
                  <a:lnTo>
                    <a:pt x="254205" y="3018446"/>
                  </a:lnTo>
                  <a:lnTo>
                    <a:pt x="256666" y="3078573"/>
                  </a:lnTo>
                  <a:lnTo>
                    <a:pt x="259147" y="3137976"/>
                  </a:lnTo>
                  <a:lnTo>
                    <a:pt x="261648" y="3196602"/>
                  </a:lnTo>
                  <a:lnTo>
                    <a:pt x="264172" y="3254397"/>
                  </a:lnTo>
                  <a:lnTo>
                    <a:pt x="266720" y="3311308"/>
                  </a:lnTo>
                  <a:lnTo>
                    <a:pt x="269292" y="3367281"/>
                  </a:lnTo>
                  <a:lnTo>
                    <a:pt x="271891" y="3422262"/>
                  </a:lnTo>
                  <a:lnTo>
                    <a:pt x="274518" y="3476197"/>
                  </a:lnTo>
                  <a:lnTo>
                    <a:pt x="277173" y="3529033"/>
                  </a:lnTo>
                  <a:lnTo>
                    <a:pt x="279860" y="3580717"/>
                  </a:lnTo>
                  <a:lnTo>
                    <a:pt x="282578" y="3631195"/>
                  </a:lnTo>
                  <a:lnTo>
                    <a:pt x="285330" y="3680412"/>
                  </a:lnTo>
                  <a:lnTo>
                    <a:pt x="288116" y="3728316"/>
                  </a:lnTo>
                  <a:lnTo>
                    <a:pt x="290938" y="3774853"/>
                  </a:lnTo>
                  <a:lnTo>
                    <a:pt x="293798" y="3819968"/>
                  </a:lnTo>
                  <a:lnTo>
                    <a:pt x="296697" y="3863609"/>
                  </a:lnTo>
                  <a:lnTo>
                    <a:pt x="299636" y="3905722"/>
                  </a:lnTo>
                  <a:lnTo>
                    <a:pt x="302617" y="3946254"/>
                  </a:lnTo>
                  <a:lnTo>
                    <a:pt x="305641" y="3985149"/>
                  </a:lnTo>
                  <a:lnTo>
                    <a:pt x="311823" y="4057820"/>
                  </a:lnTo>
                  <a:lnTo>
                    <a:pt x="318195" y="4123304"/>
                  </a:lnTo>
                  <a:lnTo>
                    <a:pt x="324766" y="4181174"/>
                  </a:lnTo>
                  <a:lnTo>
                    <a:pt x="331548" y="4231000"/>
                  </a:lnTo>
                  <a:lnTo>
                    <a:pt x="349780" y="4320209"/>
                  </a:lnTo>
                  <a:lnTo>
                    <a:pt x="365016" y="4356493"/>
                  </a:lnTo>
                  <a:lnTo>
                    <a:pt x="380252" y="4366961"/>
                  </a:lnTo>
                  <a:lnTo>
                    <a:pt x="395009" y="4356962"/>
                  </a:lnTo>
                  <a:lnTo>
                    <a:pt x="412850" y="4321735"/>
                  </a:lnTo>
                  <a:lnTo>
                    <a:pt x="424556" y="4285294"/>
                  </a:lnTo>
                  <a:lnTo>
                    <a:pt x="425676" y="4281203"/>
                  </a:lnTo>
                  <a:lnTo>
                    <a:pt x="426255" y="4279029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0550" y="4395421"/>
              <a:ext cx="80965" cy="10973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15750" y="156827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8" name="object 8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9" name="object 9"/>
            <p:cNvSpPr/>
            <p:nvPr/>
          </p:nvSpPr>
          <p:spPr>
            <a:xfrm>
              <a:off x="6000017" y="15250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0" name="object 10"/>
            <p:cNvSpPr/>
            <p:nvPr/>
          </p:nvSpPr>
          <p:spPr>
            <a:xfrm>
              <a:off x="6713400" y="15684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1" name="object 11"/>
            <p:cNvSpPr/>
            <p:nvPr/>
          </p:nvSpPr>
          <p:spPr>
            <a:xfrm>
              <a:off x="669766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2" name="object 12"/>
            <p:cNvSpPr/>
            <p:nvPr/>
          </p:nvSpPr>
          <p:spPr>
            <a:xfrm>
              <a:off x="669766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3" name="object 13"/>
            <p:cNvSpPr/>
            <p:nvPr/>
          </p:nvSpPr>
          <p:spPr>
            <a:xfrm>
              <a:off x="7383175" y="15684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4" name="object 14"/>
            <p:cNvSpPr/>
            <p:nvPr/>
          </p:nvSpPr>
          <p:spPr>
            <a:xfrm>
              <a:off x="7367442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5" name="object 15"/>
            <p:cNvSpPr/>
            <p:nvPr/>
          </p:nvSpPr>
          <p:spPr>
            <a:xfrm>
              <a:off x="7367442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6" name="object 16"/>
            <p:cNvSpPr/>
            <p:nvPr/>
          </p:nvSpPr>
          <p:spPr>
            <a:xfrm>
              <a:off x="8101050" y="15684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7" name="object 17"/>
            <p:cNvSpPr/>
            <p:nvPr/>
          </p:nvSpPr>
          <p:spPr>
            <a:xfrm>
              <a:off x="808531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8" name="object 18"/>
            <p:cNvSpPr/>
            <p:nvPr/>
          </p:nvSpPr>
          <p:spPr>
            <a:xfrm>
              <a:off x="8085317" y="1525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506200" y="1421918"/>
            <a:ext cx="90424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B45F06"/>
                </a:solidFill>
                <a:latin typeface="Arial MT"/>
                <a:cs typeface="Arial MT"/>
              </a:rPr>
              <a:t>Softmax</a:t>
            </a:r>
            <a:endParaRPr sz="1867">
              <a:latin typeface="Arial MT"/>
              <a:cs typeface="Arial MT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782650" y="518307"/>
          <a:ext cx="3244422" cy="14952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7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39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8112"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“e”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6773" marB="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5"/>
                        </a:lnSpc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“l”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“l”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16087" marB="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900" spc="-25" dirty="0">
                          <a:latin typeface="Arial MT"/>
                          <a:cs typeface="Arial MT"/>
                        </a:rPr>
                        <a:t>“o”</a:t>
                      </a:r>
                      <a:endParaRPr sz="1900">
                        <a:latin typeface="Arial MT"/>
                        <a:cs typeface="Arial MT"/>
                      </a:endParaRPr>
                    </a:p>
                  </a:txBody>
                  <a:tcPr marL="0" marR="0" marT="6773" marB="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787"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  <a:spcBef>
                          <a:spcPts val="545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.03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287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  <a:spcBef>
                          <a:spcPts val="545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.25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287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030"/>
                        </a:lnSpc>
                        <a:spcBef>
                          <a:spcPts val="545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.11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287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030"/>
                        </a:lnSpc>
                        <a:spcBef>
                          <a:spcPts val="545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.11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2287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solidFill>
                      <a:srgbClr val="FC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.84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.20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.17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.02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.50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.68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98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.08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solidFill>
                      <a:srgbClr val="FC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553"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.13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.05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.03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030"/>
                        </a:lnSpc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.79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FCE4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1" name="object 21"/>
          <p:cNvGrpSpPr/>
          <p:nvPr/>
        </p:nvGrpSpPr>
        <p:grpSpPr>
          <a:xfrm>
            <a:off x="7993673" y="866883"/>
            <a:ext cx="55033" cy="171027"/>
            <a:chOff x="5995254" y="650162"/>
            <a:chExt cx="41275" cy="128270"/>
          </a:xfrm>
        </p:grpSpPr>
        <p:sp>
          <p:nvSpPr>
            <p:cNvPr id="22" name="object 22"/>
            <p:cNvSpPr/>
            <p:nvPr/>
          </p:nvSpPr>
          <p:spPr>
            <a:xfrm>
              <a:off x="6015749" y="698150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3" name="object 23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4" name="object 24"/>
            <p:cNvSpPr/>
            <p:nvPr/>
          </p:nvSpPr>
          <p:spPr>
            <a:xfrm>
              <a:off x="6000017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8905292" y="837649"/>
            <a:ext cx="55033" cy="171027"/>
            <a:chOff x="6678968" y="628237"/>
            <a:chExt cx="41275" cy="128270"/>
          </a:xfrm>
        </p:grpSpPr>
        <p:sp>
          <p:nvSpPr>
            <p:cNvPr id="26" name="object 26"/>
            <p:cNvSpPr/>
            <p:nvPr/>
          </p:nvSpPr>
          <p:spPr>
            <a:xfrm>
              <a:off x="6699463" y="67622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7" name="object 27"/>
            <p:cNvSpPr/>
            <p:nvPr/>
          </p:nvSpPr>
          <p:spPr>
            <a:xfrm>
              <a:off x="6683730" y="6329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8" name="object 28"/>
            <p:cNvSpPr/>
            <p:nvPr/>
          </p:nvSpPr>
          <p:spPr>
            <a:xfrm>
              <a:off x="6683730" y="6329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9816908" y="876649"/>
            <a:ext cx="55033" cy="171027"/>
            <a:chOff x="7362680" y="657487"/>
            <a:chExt cx="41275" cy="128270"/>
          </a:xfrm>
        </p:grpSpPr>
        <p:sp>
          <p:nvSpPr>
            <p:cNvPr id="30" name="object 30"/>
            <p:cNvSpPr/>
            <p:nvPr/>
          </p:nvSpPr>
          <p:spPr>
            <a:xfrm>
              <a:off x="7383175" y="705474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31" name="object 31"/>
            <p:cNvSpPr/>
            <p:nvPr/>
          </p:nvSpPr>
          <p:spPr>
            <a:xfrm>
              <a:off x="7367442" y="6622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4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32" name="object 32"/>
            <p:cNvSpPr/>
            <p:nvPr/>
          </p:nvSpPr>
          <p:spPr>
            <a:xfrm>
              <a:off x="7367442" y="6622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4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4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10774058" y="866883"/>
            <a:ext cx="55033" cy="171027"/>
            <a:chOff x="8080543" y="650162"/>
            <a:chExt cx="41275" cy="128270"/>
          </a:xfrm>
        </p:grpSpPr>
        <p:sp>
          <p:nvSpPr>
            <p:cNvPr id="34" name="object 34"/>
            <p:cNvSpPr/>
            <p:nvPr/>
          </p:nvSpPr>
          <p:spPr>
            <a:xfrm>
              <a:off x="8101038" y="698150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09">
                  <a:moveTo>
                    <a:pt x="0" y="79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35" name="object 35"/>
            <p:cNvSpPr/>
            <p:nvPr/>
          </p:nvSpPr>
          <p:spPr>
            <a:xfrm>
              <a:off x="8085305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36" name="object 36"/>
            <p:cNvSpPr/>
            <p:nvPr/>
          </p:nvSpPr>
          <p:spPr>
            <a:xfrm>
              <a:off x="8085305" y="654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506200" y="692150"/>
            <a:ext cx="8382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Sample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014104" y="48458"/>
            <a:ext cx="756920" cy="6118013"/>
          </a:xfrm>
          <a:custGeom>
            <a:avLst/>
            <a:gdLst/>
            <a:ahLst/>
            <a:cxnLst/>
            <a:rect l="l" t="t" r="r" b="b"/>
            <a:pathLst>
              <a:path w="567690" h="4588510">
                <a:moveTo>
                  <a:pt x="0" y="351803"/>
                </a:moveTo>
                <a:lnTo>
                  <a:pt x="3688" y="292523"/>
                </a:lnTo>
                <a:lnTo>
                  <a:pt x="13942" y="218486"/>
                </a:lnTo>
                <a:lnTo>
                  <a:pt x="21151" y="179453"/>
                </a:lnTo>
                <a:lnTo>
                  <a:pt x="29546" y="140953"/>
                </a:lnTo>
                <a:lnTo>
                  <a:pt x="49285" y="71187"/>
                </a:lnTo>
                <a:lnTo>
                  <a:pt x="71941" y="20448"/>
                </a:lnTo>
                <a:lnTo>
                  <a:pt x="96300" y="0"/>
                </a:lnTo>
                <a:lnTo>
                  <a:pt x="108737" y="4653"/>
                </a:lnTo>
                <a:lnTo>
                  <a:pt x="133369" y="50754"/>
                </a:lnTo>
                <a:lnTo>
                  <a:pt x="145260" y="95017"/>
                </a:lnTo>
                <a:lnTo>
                  <a:pt x="153814" y="138109"/>
                </a:lnTo>
                <a:lnTo>
                  <a:pt x="162111" y="189658"/>
                </a:lnTo>
                <a:lnTo>
                  <a:pt x="170164" y="249250"/>
                </a:lnTo>
                <a:lnTo>
                  <a:pt x="177985" y="316468"/>
                </a:lnTo>
                <a:lnTo>
                  <a:pt x="185587" y="390900"/>
                </a:lnTo>
                <a:lnTo>
                  <a:pt x="189309" y="430691"/>
                </a:lnTo>
                <a:lnTo>
                  <a:pt x="192982" y="472130"/>
                </a:lnTo>
                <a:lnTo>
                  <a:pt x="196606" y="515165"/>
                </a:lnTo>
                <a:lnTo>
                  <a:pt x="200183" y="559744"/>
                </a:lnTo>
                <a:lnTo>
                  <a:pt x="203714" y="605815"/>
                </a:lnTo>
                <a:lnTo>
                  <a:pt x="207202" y="653327"/>
                </a:lnTo>
                <a:lnTo>
                  <a:pt x="210647" y="702228"/>
                </a:lnTo>
                <a:lnTo>
                  <a:pt x="214052" y="752465"/>
                </a:lnTo>
                <a:lnTo>
                  <a:pt x="217418" y="803987"/>
                </a:lnTo>
                <a:lnTo>
                  <a:pt x="220746" y="856743"/>
                </a:lnTo>
                <a:lnTo>
                  <a:pt x="224038" y="910679"/>
                </a:lnTo>
                <a:lnTo>
                  <a:pt x="227295" y="965746"/>
                </a:lnTo>
                <a:lnTo>
                  <a:pt x="230520" y="1021890"/>
                </a:lnTo>
                <a:lnTo>
                  <a:pt x="233713" y="1079060"/>
                </a:lnTo>
                <a:lnTo>
                  <a:pt x="236877" y="1137204"/>
                </a:lnTo>
                <a:lnTo>
                  <a:pt x="240012" y="1196270"/>
                </a:lnTo>
                <a:lnTo>
                  <a:pt x="243121" y="1256206"/>
                </a:lnTo>
                <a:lnTo>
                  <a:pt x="246205" y="1316962"/>
                </a:lnTo>
                <a:lnTo>
                  <a:pt x="249265" y="1378484"/>
                </a:lnTo>
                <a:lnTo>
                  <a:pt x="252303" y="1440721"/>
                </a:lnTo>
                <a:lnTo>
                  <a:pt x="255321" y="1503621"/>
                </a:lnTo>
                <a:lnTo>
                  <a:pt x="258321" y="1567132"/>
                </a:lnTo>
                <a:lnTo>
                  <a:pt x="261303" y="1631203"/>
                </a:lnTo>
                <a:lnTo>
                  <a:pt x="264269" y="1695781"/>
                </a:lnTo>
                <a:lnTo>
                  <a:pt x="267221" y="1760815"/>
                </a:lnTo>
                <a:lnTo>
                  <a:pt x="270161" y="1826254"/>
                </a:lnTo>
                <a:lnTo>
                  <a:pt x="273090" y="1892044"/>
                </a:lnTo>
                <a:lnTo>
                  <a:pt x="276009" y="1958135"/>
                </a:lnTo>
                <a:lnTo>
                  <a:pt x="278921" y="2024474"/>
                </a:lnTo>
                <a:lnTo>
                  <a:pt x="281826" y="2091010"/>
                </a:lnTo>
                <a:lnTo>
                  <a:pt x="284727" y="2157691"/>
                </a:lnTo>
                <a:lnTo>
                  <a:pt x="287625" y="2224465"/>
                </a:lnTo>
                <a:lnTo>
                  <a:pt x="290521" y="2291280"/>
                </a:lnTo>
                <a:lnTo>
                  <a:pt x="293417" y="2358085"/>
                </a:lnTo>
                <a:lnTo>
                  <a:pt x="296315" y="2424829"/>
                </a:lnTo>
                <a:lnTo>
                  <a:pt x="299215" y="2491461"/>
                </a:lnTo>
                <a:lnTo>
                  <a:pt x="302121" y="2557932"/>
                </a:lnTo>
                <a:lnTo>
                  <a:pt x="305033" y="2624191"/>
                </a:lnTo>
                <a:lnTo>
                  <a:pt x="307953" y="2690188"/>
                </a:lnTo>
                <a:lnTo>
                  <a:pt x="310882" y="2755872"/>
                </a:lnTo>
                <a:lnTo>
                  <a:pt x="313822" y="2821193"/>
                </a:lnTo>
                <a:lnTo>
                  <a:pt x="316774" y="2886100"/>
                </a:lnTo>
                <a:lnTo>
                  <a:pt x="319741" y="2950544"/>
                </a:lnTo>
                <a:lnTo>
                  <a:pt x="322724" y="3014474"/>
                </a:lnTo>
                <a:lnTo>
                  <a:pt x="325723" y="3077839"/>
                </a:lnTo>
                <a:lnTo>
                  <a:pt x="328742" y="3140590"/>
                </a:lnTo>
                <a:lnTo>
                  <a:pt x="331781" y="3202676"/>
                </a:lnTo>
                <a:lnTo>
                  <a:pt x="334841" y="3264046"/>
                </a:lnTo>
                <a:lnTo>
                  <a:pt x="337926" y="3324650"/>
                </a:lnTo>
                <a:lnTo>
                  <a:pt x="341035" y="3384439"/>
                </a:lnTo>
                <a:lnTo>
                  <a:pt x="344171" y="3443360"/>
                </a:lnTo>
                <a:lnTo>
                  <a:pt x="347335" y="3501365"/>
                </a:lnTo>
                <a:lnTo>
                  <a:pt x="350530" y="3558403"/>
                </a:lnTo>
                <a:lnTo>
                  <a:pt x="353755" y="3614424"/>
                </a:lnTo>
                <a:lnTo>
                  <a:pt x="357013" y="3669376"/>
                </a:lnTo>
                <a:lnTo>
                  <a:pt x="360306" y="3723210"/>
                </a:lnTo>
                <a:lnTo>
                  <a:pt x="363635" y="3775876"/>
                </a:lnTo>
                <a:lnTo>
                  <a:pt x="367001" y="3827323"/>
                </a:lnTo>
                <a:lnTo>
                  <a:pt x="370406" y="3877501"/>
                </a:lnTo>
                <a:lnTo>
                  <a:pt x="373853" y="3926359"/>
                </a:lnTo>
                <a:lnTo>
                  <a:pt x="377341" y="3973847"/>
                </a:lnTo>
                <a:lnTo>
                  <a:pt x="380874" y="4019915"/>
                </a:lnTo>
                <a:lnTo>
                  <a:pt x="384452" y="4064512"/>
                </a:lnTo>
                <a:lnTo>
                  <a:pt x="388076" y="4107588"/>
                </a:lnTo>
                <a:lnTo>
                  <a:pt x="391750" y="4149093"/>
                </a:lnTo>
                <a:lnTo>
                  <a:pt x="395473" y="4188976"/>
                </a:lnTo>
                <a:lnTo>
                  <a:pt x="399248" y="4227188"/>
                </a:lnTo>
                <a:lnTo>
                  <a:pt x="406960" y="4298393"/>
                </a:lnTo>
                <a:lnTo>
                  <a:pt x="414898" y="4362306"/>
                </a:lnTo>
                <a:lnTo>
                  <a:pt x="423073" y="4418524"/>
                </a:lnTo>
                <a:lnTo>
                  <a:pt x="431499" y="4466645"/>
                </a:lnTo>
                <a:lnTo>
                  <a:pt x="455009" y="4553605"/>
                </a:lnTo>
                <a:lnTo>
                  <a:pt x="494652" y="4587964"/>
                </a:lnTo>
                <a:lnTo>
                  <a:pt x="513851" y="4567715"/>
                </a:lnTo>
                <a:lnTo>
                  <a:pt x="531805" y="4530149"/>
                </a:lnTo>
                <a:lnTo>
                  <a:pt x="551547" y="4467564"/>
                </a:lnTo>
                <a:lnTo>
                  <a:pt x="567154" y="4398054"/>
                </a:lnTo>
                <a:lnTo>
                  <a:pt x="567446" y="4396484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  <p:sp>
        <p:nvSpPr>
          <p:cNvPr id="39" name="object 39"/>
          <p:cNvSpPr/>
          <p:nvPr/>
        </p:nvSpPr>
        <p:spPr>
          <a:xfrm>
            <a:off x="9928504" y="50009"/>
            <a:ext cx="763693" cy="6068060"/>
          </a:xfrm>
          <a:custGeom>
            <a:avLst/>
            <a:gdLst/>
            <a:ahLst/>
            <a:cxnLst/>
            <a:rect l="l" t="t" r="r" b="b"/>
            <a:pathLst>
              <a:path w="572770" h="4551045">
                <a:moveTo>
                  <a:pt x="0" y="350640"/>
                </a:moveTo>
                <a:lnTo>
                  <a:pt x="3764" y="291473"/>
                </a:lnTo>
                <a:lnTo>
                  <a:pt x="14231" y="217711"/>
                </a:lnTo>
                <a:lnTo>
                  <a:pt x="21589" y="178845"/>
                </a:lnTo>
                <a:lnTo>
                  <a:pt x="30158" y="140517"/>
                </a:lnTo>
                <a:lnTo>
                  <a:pt x="50305" y="71058"/>
                </a:lnTo>
                <a:lnTo>
                  <a:pt x="73431" y="20497"/>
                </a:lnTo>
                <a:lnTo>
                  <a:pt x="98294" y="0"/>
                </a:lnTo>
                <a:lnTo>
                  <a:pt x="110990" y="4513"/>
                </a:lnTo>
                <a:lnTo>
                  <a:pt x="136132" y="50044"/>
                </a:lnTo>
                <a:lnTo>
                  <a:pt x="148268" y="93853"/>
                </a:lnTo>
                <a:lnTo>
                  <a:pt x="157000" y="136524"/>
                </a:lnTo>
                <a:lnTo>
                  <a:pt x="165469" y="187582"/>
                </a:lnTo>
                <a:lnTo>
                  <a:pt x="173688" y="246610"/>
                </a:lnTo>
                <a:lnTo>
                  <a:pt x="181671" y="313196"/>
                </a:lnTo>
                <a:lnTo>
                  <a:pt x="189431" y="386926"/>
                </a:lnTo>
                <a:lnTo>
                  <a:pt x="193231" y="426339"/>
                </a:lnTo>
                <a:lnTo>
                  <a:pt x="196979" y="467384"/>
                </a:lnTo>
                <a:lnTo>
                  <a:pt x="200678" y="510007"/>
                </a:lnTo>
                <a:lnTo>
                  <a:pt x="204329" y="554157"/>
                </a:lnTo>
                <a:lnTo>
                  <a:pt x="207934" y="599782"/>
                </a:lnTo>
                <a:lnTo>
                  <a:pt x="211494" y="646831"/>
                </a:lnTo>
                <a:lnTo>
                  <a:pt x="215011" y="695252"/>
                </a:lnTo>
                <a:lnTo>
                  <a:pt x="218486" y="744992"/>
                </a:lnTo>
                <a:lnTo>
                  <a:pt x="221921" y="796000"/>
                </a:lnTo>
                <a:lnTo>
                  <a:pt x="225318" y="848225"/>
                </a:lnTo>
                <a:lnTo>
                  <a:pt x="228678" y="901615"/>
                </a:lnTo>
                <a:lnTo>
                  <a:pt x="232003" y="956117"/>
                </a:lnTo>
                <a:lnTo>
                  <a:pt x="235295" y="1011680"/>
                </a:lnTo>
                <a:lnTo>
                  <a:pt x="238554" y="1068253"/>
                </a:lnTo>
                <a:lnTo>
                  <a:pt x="241783" y="1125783"/>
                </a:lnTo>
                <a:lnTo>
                  <a:pt x="244984" y="1184219"/>
                </a:lnTo>
                <a:lnTo>
                  <a:pt x="248157" y="1243509"/>
                </a:lnTo>
                <a:lnTo>
                  <a:pt x="251305" y="1303601"/>
                </a:lnTo>
                <a:lnTo>
                  <a:pt x="254428" y="1364444"/>
                </a:lnTo>
                <a:lnTo>
                  <a:pt x="257530" y="1425985"/>
                </a:lnTo>
                <a:lnTo>
                  <a:pt x="260610" y="1488174"/>
                </a:lnTo>
                <a:lnTo>
                  <a:pt x="263671" y="1550957"/>
                </a:lnTo>
                <a:lnTo>
                  <a:pt x="266715" y="1614284"/>
                </a:lnTo>
                <a:lnTo>
                  <a:pt x="269743" y="1678103"/>
                </a:lnTo>
                <a:lnTo>
                  <a:pt x="272756" y="1742361"/>
                </a:lnTo>
                <a:lnTo>
                  <a:pt x="275757" y="1807008"/>
                </a:lnTo>
                <a:lnTo>
                  <a:pt x="278746" y="1871991"/>
                </a:lnTo>
                <a:lnTo>
                  <a:pt x="281726" y="1937258"/>
                </a:lnTo>
                <a:lnTo>
                  <a:pt x="284698" y="2002758"/>
                </a:lnTo>
                <a:lnTo>
                  <a:pt x="287664" y="2068440"/>
                </a:lnTo>
                <a:lnTo>
                  <a:pt x="290624" y="2134251"/>
                </a:lnTo>
                <a:lnTo>
                  <a:pt x="293582" y="2200139"/>
                </a:lnTo>
                <a:lnTo>
                  <a:pt x="296538" y="2266053"/>
                </a:lnTo>
                <a:lnTo>
                  <a:pt x="299494" y="2331941"/>
                </a:lnTo>
                <a:lnTo>
                  <a:pt x="302451" y="2397755"/>
                </a:lnTo>
                <a:lnTo>
                  <a:pt x="305412" y="2463448"/>
                </a:lnTo>
                <a:lnTo>
                  <a:pt x="308378" y="2528969"/>
                </a:lnTo>
                <a:lnTo>
                  <a:pt x="311350" y="2594272"/>
                </a:lnTo>
                <a:lnTo>
                  <a:pt x="314329" y="2659309"/>
                </a:lnTo>
                <a:lnTo>
                  <a:pt x="317319" y="2724030"/>
                </a:lnTo>
                <a:lnTo>
                  <a:pt x="320320" y="2788389"/>
                </a:lnTo>
                <a:lnTo>
                  <a:pt x="323333" y="2852336"/>
                </a:lnTo>
                <a:lnTo>
                  <a:pt x="326361" y="2915825"/>
                </a:lnTo>
                <a:lnTo>
                  <a:pt x="329405" y="2978805"/>
                </a:lnTo>
                <a:lnTo>
                  <a:pt x="332467" y="3041231"/>
                </a:lnTo>
                <a:lnTo>
                  <a:pt x="335547" y="3103053"/>
                </a:lnTo>
                <a:lnTo>
                  <a:pt x="338649" y="3164222"/>
                </a:lnTo>
                <a:lnTo>
                  <a:pt x="341773" y="3224692"/>
                </a:lnTo>
                <a:lnTo>
                  <a:pt x="344920" y="3284414"/>
                </a:lnTo>
                <a:lnTo>
                  <a:pt x="348094" y="3343340"/>
                </a:lnTo>
                <a:lnTo>
                  <a:pt x="351294" y="3401422"/>
                </a:lnTo>
                <a:lnTo>
                  <a:pt x="354524" y="3458611"/>
                </a:lnTo>
                <a:lnTo>
                  <a:pt x="357784" y="3514859"/>
                </a:lnTo>
                <a:lnTo>
                  <a:pt x="361075" y="3570119"/>
                </a:lnTo>
                <a:lnTo>
                  <a:pt x="364401" y="3624341"/>
                </a:lnTo>
                <a:lnTo>
                  <a:pt x="367761" y="3677479"/>
                </a:lnTo>
                <a:lnTo>
                  <a:pt x="371158" y="3729484"/>
                </a:lnTo>
                <a:lnTo>
                  <a:pt x="374594" y="3780307"/>
                </a:lnTo>
                <a:lnTo>
                  <a:pt x="378070" y="3829901"/>
                </a:lnTo>
                <a:lnTo>
                  <a:pt x="381587" y="3878217"/>
                </a:lnTo>
                <a:lnTo>
                  <a:pt x="385147" y="3925208"/>
                </a:lnTo>
                <a:lnTo>
                  <a:pt x="388752" y="3970825"/>
                </a:lnTo>
                <a:lnTo>
                  <a:pt x="392404" y="4015020"/>
                </a:lnTo>
                <a:lnTo>
                  <a:pt x="396103" y="4057744"/>
                </a:lnTo>
                <a:lnTo>
                  <a:pt x="399852" y="4098951"/>
                </a:lnTo>
                <a:lnTo>
                  <a:pt x="403652" y="4138591"/>
                </a:lnTo>
                <a:lnTo>
                  <a:pt x="407505" y="4176617"/>
                </a:lnTo>
                <a:lnTo>
                  <a:pt x="415375" y="4247632"/>
                </a:lnTo>
                <a:lnTo>
                  <a:pt x="423476" y="4311612"/>
                </a:lnTo>
                <a:lnTo>
                  <a:pt x="431820" y="4368171"/>
                </a:lnTo>
                <a:lnTo>
                  <a:pt x="440419" y="4416924"/>
                </a:lnTo>
                <a:lnTo>
                  <a:pt x="464413" y="4507056"/>
                </a:lnTo>
                <a:lnTo>
                  <a:pt x="484643" y="4542727"/>
                </a:lnTo>
                <a:lnTo>
                  <a:pt x="504873" y="4550886"/>
                </a:lnTo>
                <a:lnTo>
                  <a:pt x="524467" y="4537152"/>
                </a:lnTo>
                <a:lnTo>
                  <a:pt x="548155" y="4495321"/>
                </a:lnTo>
                <a:lnTo>
                  <a:pt x="562939" y="4455318"/>
                </a:lnTo>
                <a:lnTo>
                  <a:pt x="571508" y="4426593"/>
                </a:lnTo>
                <a:lnTo>
                  <a:pt x="572696" y="4422204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  <p:grpSp>
        <p:nvGrpSpPr>
          <p:cNvPr id="40" name="object 40"/>
          <p:cNvGrpSpPr/>
          <p:nvPr/>
        </p:nvGrpSpPr>
        <p:grpSpPr>
          <a:xfrm>
            <a:off x="9716346" y="5783297"/>
            <a:ext cx="1030393" cy="183727"/>
            <a:chOff x="7287259" y="4337472"/>
            <a:chExt cx="772795" cy="137795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7259" y="4337472"/>
              <a:ext cx="81530" cy="10863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78589" y="4365123"/>
              <a:ext cx="80970" cy="109728"/>
            </a:xfrm>
            <a:prstGeom prst="rect">
              <a:avLst/>
            </a:prstGeom>
          </p:spPr>
        </p:pic>
      </p:grp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326599" y="496204"/>
            <a:ext cx="4885267" cy="1507250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sz="3200" b="1" dirty="0">
                <a:latin typeface="Arial"/>
                <a:cs typeface="Arial"/>
              </a:rPr>
              <a:t>Example:</a:t>
            </a:r>
            <a:r>
              <a:rPr sz="3200" b="1" spc="-47" dirty="0">
                <a:latin typeface="Arial"/>
                <a:cs typeface="Arial"/>
              </a:rPr>
              <a:t> </a:t>
            </a:r>
            <a:r>
              <a:rPr sz="3200" b="1" spc="-33" dirty="0">
                <a:latin typeface="Arial"/>
                <a:cs typeface="Arial"/>
              </a:rPr>
              <a:t>Character-</a:t>
            </a:r>
            <a:r>
              <a:rPr sz="3200" b="1" spc="-13" dirty="0">
                <a:latin typeface="Arial"/>
                <a:cs typeface="Arial"/>
              </a:rPr>
              <a:t>level </a:t>
            </a:r>
            <a:r>
              <a:rPr sz="3200" b="1" dirty="0">
                <a:latin typeface="Arial"/>
                <a:cs typeface="Arial"/>
              </a:rPr>
              <a:t>Language</a:t>
            </a:r>
            <a:r>
              <a:rPr sz="3200" b="1" spc="-53" dirty="0">
                <a:latin typeface="Arial"/>
                <a:cs typeface="Arial"/>
              </a:rPr>
              <a:t> </a:t>
            </a:r>
            <a:r>
              <a:rPr sz="3200" b="1" spc="-13" dirty="0">
                <a:latin typeface="Arial"/>
                <a:cs typeface="Arial"/>
              </a:rPr>
              <a:t>Model Sampling</a:t>
            </a:r>
            <a:endParaRPr sz="32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body" idx="1"/>
          </p:nvPr>
        </p:nvSpPr>
        <p:spPr>
          <a:xfrm>
            <a:off x="341376" y="2434167"/>
            <a:ext cx="15556992" cy="1871389"/>
          </a:xfrm>
          <a:prstGeom prst="rect">
            <a:avLst/>
          </a:prstGeom>
        </p:spPr>
        <p:txBody>
          <a:bodyPr spcFirstLastPara="1" vert="horz" wrap="square" lIns="0" tIns="16933" rIns="0" bIns="0" rtlCol="0" anchor="t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Vocabulary:</a:t>
            </a:r>
          </a:p>
          <a:p>
            <a:pPr marL="16933">
              <a:lnSpc>
                <a:spcPct val="100000"/>
              </a:lnSpc>
            </a:pPr>
            <a:r>
              <a:rPr spc="-13" dirty="0"/>
              <a:t>[h,e,l,o]</a:t>
            </a:r>
          </a:p>
          <a:p>
            <a:pPr>
              <a:lnSpc>
                <a:spcPct val="100000"/>
              </a:lnSpc>
              <a:spcBef>
                <a:spcPts val="167"/>
              </a:spcBef>
            </a:pPr>
            <a:endParaRPr spc="-13" dirty="0"/>
          </a:p>
          <a:p>
            <a:pPr marL="16933" marR="6773">
              <a:lnSpc>
                <a:spcPct val="100000"/>
              </a:lnSpc>
            </a:pPr>
            <a:r>
              <a:rPr sz="2933" dirty="0"/>
              <a:t>At</a:t>
            </a:r>
            <a:r>
              <a:rPr sz="2933" spc="-27" dirty="0"/>
              <a:t> test-</a:t>
            </a:r>
            <a:r>
              <a:rPr sz="2933" dirty="0"/>
              <a:t>time</a:t>
            </a:r>
            <a:r>
              <a:rPr sz="2933" spc="-27" dirty="0"/>
              <a:t> </a:t>
            </a:r>
            <a:r>
              <a:rPr sz="2933" spc="-13" dirty="0"/>
              <a:t>sample </a:t>
            </a:r>
            <a:r>
              <a:rPr sz="2933" dirty="0"/>
              <a:t>characters</a:t>
            </a:r>
            <a:r>
              <a:rPr sz="2933" spc="-80" dirty="0"/>
              <a:t> </a:t>
            </a:r>
            <a:r>
              <a:rPr sz="2933" dirty="0"/>
              <a:t>one</a:t>
            </a:r>
            <a:r>
              <a:rPr sz="2933" spc="-73" dirty="0"/>
              <a:t> </a:t>
            </a:r>
            <a:r>
              <a:rPr sz="2933" dirty="0"/>
              <a:t>at</a:t>
            </a:r>
            <a:r>
              <a:rPr sz="2933" spc="-73" dirty="0"/>
              <a:t> </a:t>
            </a:r>
            <a:r>
              <a:rPr sz="2933" dirty="0"/>
              <a:t>a</a:t>
            </a:r>
            <a:r>
              <a:rPr sz="2933" spc="-73" dirty="0"/>
              <a:t> </a:t>
            </a:r>
            <a:r>
              <a:rPr sz="2933" dirty="0"/>
              <a:t>time,</a:t>
            </a:r>
            <a:r>
              <a:rPr sz="2933" spc="-73" dirty="0"/>
              <a:t> </a:t>
            </a:r>
            <a:r>
              <a:rPr sz="2933" spc="-27" dirty="0"/>
              <a:t>feed </a:t>
            </a:r>
            <a:r>
              <a:rPr sz="2933" dirty="0"/>
              <a:t>back</a:t>
            </a:r>
            <a:r>
              <a:rPr sz="2933" spc="-53" dirty="0"/>
              <a:t> </a:t>
            </a:r>
            <a:r>
              <a:rPr sz="2933" dirty="0"/>
              <a:t>to</a:t>
            </a:r>
            <a:r>
              <a:rPr sz="2933" spc="-53" dirty="0"/>
              <a:t> </a:t>
            </a:r>
            <a:r>
              <a:rPr sz="2933" spc="-13" dirty="0"/>
              <a:t>model</a:t>
            </a:r>
            <a:endParaRPr sz="2933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10976" y="745187"/>
            <a:ext cx="5212080" cy="5388187"/>
            <a:chOff x="5033232" y="558890"/>
            <a:chExt cx="3909060" cy="4041140"/>
          </a:xfrm>
        </p:grpSpPr>
        <p:sp>
          <p:nvSpPr>
            <p:cNvPr id="3" name="object 3"/>
            <p:cNvSpPr/>
            <p:nvPr/>
          </p:nvSpPr>
          <p:spPr>
            <a:xfrm>
              <a:off x="5072304" y="2150122"/>
              <a:ext cx="3830320" cy="1817370"/>
            </a:xfrm>
            <a:custGeom>
              <a:avLst/>
              <a:gdLst/>
              <a:ahLst/>
              <a:cxnLst/>
              <a:rect l="l" t="t" r="r" b="b"/>
              <a:pathLst>
                <a:path w="3830320" h="1817370">
                  <a:moveTo>
                    <a:pt x="3830167" y="1270"/>
                  </a:moveTo>
                  <a:lnTo>
                    <a:pt x="2754858" y="1270"/>
                  </a:lnTo>
                  <a:lnTo>
                    <a:pt x="2754858" y="0"/>
                  </a:lnTo>
                  <a:lnTo>
                    <a:pt x="25" y="0"/>
                  </a:lnTo>
                  <a:lnTo>
                    <a:pt x="25" y="1270"/>
                  </a:lnTo>
                  <a:lnTo>
                    <a:pt x="0" y="1817370"/>
                  </a:lnTo>
                  <a:lnTo>
                    <a:pt x="3830167" y="1817370"/>
                  </a:lnTo>
                  <a:lnTo>
                    <a:pt x="3830167" y="127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3232" y="3364301"/>
              <a:ext cx="3908856" cy="12357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3232" y="558890"/>
              <a:ext cx="3908856" cy="190611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54532" y="2669276"/>
            <a:ext cx="4543213" cy="878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84665" marR="57572">
              <a:spcBef>
                <a:spcPts val="133"/>
              </a:spcBef>
              <a:tabLst>
                <a:tab pos="3349330" algn="l"/>
                <a:tab pos="3716774" algn="l"/>
                <a:tab pos="3753180" algn="l"/>
              </a:tabLst>
            </a:pPr>
            <a:r>
              <a:rPr sz="2800" dirty="0">
                <a:latin typeface="Arial MT"/>
                <a:cs typeface="Arial MT"/>
              </a:rPr>
              <a:t>[w</a:t>
            </a:r>
            <a:r>
              <a:rPr sz="2800" baseline="-31746" dirty="0">
                <a:latin typeface="Arial MT"/>
                <a:cs typeface="Arial MT"/>
              </a:rPr>
              <a:t>11</a:t>
            </a:r>
            <a:r>
              <a:rPr sz="2800" spc="200" baseline="-31746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</a:t>
            </a:r>
            <a:r>
              <a:rPr sz="2800" baseline="-31746" dirty="0">
                <a:latin typeface="Arial MT"/>
                <a:cs typeface="Arial MT"/>
              </a:rPr>
              <a:t>12</a:t>
            </a:r>
            <a:r>
              <a:rPr sz="2800" spc="309" baseline="-31746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</a:t>
            </a:r>
            <a:r>
              <a:rPr sz="2800" baseline="-31746" dirty="0">
                <a:latin typeface="Arial MT"/>
                <a:cs typeface="Arial MT"/>
              </a:rPr>
              <a:t>13</a:t>
            </a:r>
            <a:r>
              <a:rPr sz="2800" spc="309" baseline="-31746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</a:t>
            </a:r>
            <a:r>
              <a:rPr sz="2800" baseline="-31746" dirty="0">
                <a:latin typeface="Arial MT"/>
                <a:cs typeface="Arial MT"/>
              </a:rPr>
              <a:t>14</a:t>
            </a:r>
            <a:r>
              <a:rPr sz="2800" dirty="0">
                <a:latin typeface="Arial MT"/>
                <a:cs typeface="Arial MT"/>
              </a:rPr>
              <a:t>]</a:t>
            </a:r>
            <a:r>
              <a:rPr sz="2800" spc="-53" dirty="0">
                <a:latin typeface="Arial MT"/>
                <a:cs typeface="Arial MT"/>
              </a:rPr>
              <a:t> </a:t>
            </a:r>
            <a:r>
              <a:rPr sz="2800" spc="-33" dirty="0">
                <a:latin typeface="Arial MT"/>
                <a:cs typeface="Arial MT"/>
              </a:rPr>
              <a:t>[1]</a:t>
            </a:r>
            <a:r>
              <a:rPr sz="2800" dirty="0">
                <a:latin typeface="Arial MT"/>
                <a:cs typeface="Arial MT"/>
              </a:rPr>
              <a:t>		</a:t>
            </a:r>
            <a:r>
              <a:rPr sz="2800" spc="-13" dirty="0">
                <a:latin typeface="Arial MT"/>
                <a:cs typeface="Arial MT"/>
              </a:rPr>
              <a:t>[w</a:t>
            </a:r>
            <a:r>
              <a:rPr sz="2800" spc="-20" baseline="-31746" dirty="0">
                <a:latin typeface="Arial MT"/>
                <a:cs typeface="Arial MT"/>
              </a:rPr>
              <a:t>11</a:t>
            </a:r>
            <a:r>
              <a:rPr sz="2800" spc="-13" dirty="0">
                <a:latin typeface="Arial MT"/>
                <a:cs typeface="Arial MT"/>
              </a:rPr>
              <a:t>] </a:t>
            </a:r>
            <a:r>
              <a:rPr sz="2800" dirty="0">
                <a:latin typeface="Arial MT"/>
                <a:cs typeface="Arial MT"/>
              </a:rPr>
              <a:t>[w</a:t>
            </a:r>
            <a:r>
              <a:rPr sz="2800" baseline="-31746" dirty="0">
                <a:latin typeface="Arial MT"/>
                <a:cs typeface="Arial MT"/>
              </a:rPr>
              <a:t>21</a:t>
            </a:r>
            <a:r>
              <a:rPr sz="2800" spc="360" baseline="-31746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</a:t>
            </a:r>
            <a:r>
              <a:rPr sz="2800" baseline="-31746" dirty="0">
                <a:latin typeface="Arial MT"/>
                <a:cs typeface="Arial MT"/>
              </a:rPr>
              <a:t>22</a:t>
            </a:r>
            <a:r>
              <a:rPr sz="2800" spc="360" baseline="-31746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</a:t>
            </a:r>
            <a:r>
              <a:rPr sz="2800" baseline="-31746" dirty="0">
                <a:latin typeface="Arial MT"/>
                <a:cs typeface="Arial MT"/>
              </a:rPr>
              <a:t>23</a:t>
            </a:r>
            <a:r>
              <a:rPr sz="2800" spc="360" baseline="-31746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</a:t>
            </a:r>
            <a:r>
              <a:rPr sz="2800" baseline="-31746" dirty="0">
                <a:latin typeface="Arial MT"/>
                <a:cs typeface="Arial MT"/>
              </a:rPr>
              <a:t>14</a:t>
            </a:r>
            <a:r>
              <a:rPr sz="2800" dirty="0">
                <a:latin typeface="Arial MT"/>
                <a:cs typeface="Arial MT"/>
              </a:rPr>
              <a:t>]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33" dirty="0">
                <a:latin typeface="Arial MT"/>
                <a:cs typeface="Arial MT"/>
              </a:rPr>
              <a:t>[0]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67" dirty="0">
                <a:latin typeface="Arial MT"/>
                <a:cs typeface="Arial MT"/>
              </a:rPr>
              <a:t>=</a:t>
            </a:r>
            <a:r>
              <a:rPr sz="2800" dirty="0">
                <a:latin typeface="Arial MT"/>
                <a:cs typeface="Arial MT"/>
              </a:rPr>
              <a:t>		</a:t>
            </a:r>
            <a:r>
              <a:rPr sz="2800" spc="-27" dirty="0">
                <a:latin typeface="Arial MT"/>
                <a:cs typeface="Arial MT"/>
              </a:rPr>
              <a:t>[w</a:t>
            </a:r>
            <a:r>
              <a:rPr sz="2800" spc="-40" baseline="-31746" dirty="0">
                <a:latin typeface="Arial MT"/>
                <a:cs typeface="Arial MT"/>
              </a:rPr>
              <a:t>21</a:t>
            </a:r>
            <a:r>
              <a:rPr sz="2800" spc="-27" dirty="0">
                <a:latin typeface="Arial MT"/>
                <a:cs typeface="Arial MT"/>
              </a:rPr>
              <a:t>]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1465" y="3522715"/>
            <a:ext cx="4516120" cy="878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7732">
              <a:spcBef>
                <a:spcPts val="133"/>
              </a:spcBef>
              <a:tabLst>
                <a:tab pos="3726087" algn="l"/>
              </a:tabLst>
            </a:pPr>
            <a:r>
              <a:rPr sz="2800" dirty="0">
                <a:latin typeface="Arial MT"/>
                <a:cs typeface="Arial MT"/>
              </a:rPr>
              <a:t>[w</a:t>
            </a:r>
            <a:r>
              <a:rPr sz="2800" baseline="-31746" dirty="0">
                <a:latin typeface="Arial MT"/>
                <a:cs typeface="Arial MT"/>
              </a:rPr>
              <a:t>31</a:t>
            </a:r>
            <a:r>
              <a:rPr sz="2800" spc="360" baseline="-31746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</a:t>
            </a:r>
            <a:r>
              <a:rPr sz="2800" baseline="-31746" dirty="0">
                <a:latin typeface="Arial MT"/>
                <a:cs typeface="Arial MT"/>
              </a:rPr>
              <a:t>32</a:t>
            </a:r>
            <a:r>
              <a:rPr sz="2800" spc="360" baseline="-31746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</a:t>
            </a:r>
            <a:r>
              <a:rPr sz="2800" baseline="-31746" dirty="0">
                <a:latin typeface="Arial MT"/>
                <a:cs typeface="Arial MT"/>
              </a:rPr>
              <a:t>33</a:t>
            </a:r>
            <a:r>
              <a:rPr sz="2800" spc="360" baseline="-31746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</a:t>
            </a:r>
            <a:r>
              <a:rPr sz="2800" baseline="-31746" dirty="0">
                <a:latin typeface="Arial MT"/>
                <a:cs typeface="Arial MT"/>
              </a:rPr>
              <a:t>14</a:t>
            </a:r>
            <a:r>
              <a:rPr sz="2800" dirty="0">
                <a:latin typeface="Arial MT"/>
                <a:cs typeface="Arial MT"/>
              </a:rPr>
              <a:t>]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33" dirty="0">
                <a:latin typeface="Arial MT"/>
                <a:cs typeface="Arial MT"/>
              </a:rPr>
              <a:t>[0]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3" dirty="0">
                <a:latin typeface="Arial MT"/>
                <a:cs typeface="Arial MT"/>
              </a:rPr>
              <a:t>[w</a:t>
            </a:r>
            <a:r>
              <a:rPr sz="2800" spc="-20" baseline="-31746" dirty="0">
                <a:latin typeface="Arial MT"/>
                <a:cs typeface="Arial MT"/>
              </a:rPr>
              <a:t>31</a:t>
            </a:r>
            <a:r>
              <a:rPr sz="2800" spc="-13" dirty="0">
                <a:latin typeface="Arial MT"/>
                <a:cs typeface="Arial MT"/>
              </a:rPr>
              <a:t>]</a:t>
            </a:r>
            <a:endParaRPr sz="2800">
              <a:latin typeface="Arial MT"/>
              <a:cs typeface="Arial MT"/>
            </a:endParaRPr>
          </a:p>
          <a:p>
            <a:pPr marL="2727045"/>
            <a:r>
              <a:rPr sz="2800" spc="-33" dirty="0">
                <a:latin typeface="Arial MT"/>
                <a:cs typeface="Arial MT"/>
              </a:rPr>
              <a:t>[0]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6815" y="4589158"/>
            <a:ext cx="5737013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400" dirty="0">
                <a:latin typeface="Arial MT"/>
                <a:cs typeface="Arial MT"/>
              </a:rPr>
              <a:t>Matrix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one-</a:t>
            </a:r>
            <a:r>
              <a:rPr sz="2400" dirty="0">
                <a:latin typeface="Arial MT"/>
                <a:cs typeface="Arial MT"/>
              </a:rPr>
              <a:t>hot</a:t>
            </a:r>
            <a:r>
              <a:rPr sz="2400" spc="-1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7" dirty="0">
                <a:latin typeface="Arial MT"/>
                <a:cs typeface="Arial MT"/>
              </a:rPr>
              <a:t>just </a:t>
            </a:r>
            <a:r>
              <a:rPr sz="2400" dirty="0">
                <a:latin typeface="Arial MT"/>
                <a:cs typeface="Arial MT"/>
              </a:rPr>
              <a:t>extracts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column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weight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matrix.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separate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b="1" dirty="0"/>
              <a:t>embedding</a:t>
            </a:r>
            <a:r>
              <a:rPr sz="2400" b="1" spc="-20" dirty="0"/>
              <a:t> </a:t>
            </a:r>
            <a:r>
              <a:rPr sz="2400" spc="-13" dirty="0">
                <a:latin typeface="Arial MT"/>
                <a:cs typeface="Arial MT"/>
              </a:rPr>
              <a:t>layer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hidden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layers.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32444" y="3562373"/>
            <a:ext cx="463973" cy="831852"/>
          </a:xfrm>
          <a:prstGeom prst="rect">
            <a:avLst/>
          </a:prstGeom>
          <a:solidFill>
            <a:srgbClr val="DCEDF0"/>
          </a:solidFill>
          <a:ln w="9524">
            <a:solidFill>
              <a:srgbClr val="666666"/>
            </a:solidFill>
          </a:ln>
        </p:spPr>
        <p:txBody>
          <a:bodyPr vert="horz" wrap="square" lIns="0" tIns="92287" rIns="0" bIns="0" rtlCol="0">
            <a:spAutoFit/>
          </a:bodyPr>
          <a:lstStyle/>
          <a:p>
            <a:pPr marL="114297">
              <a:spcBef>
                <a:spcPts val="727"/>
              </a:spcBef>
            </a:pPr>
            <a:r>
              <a:rPr sz="1200" b="1" spc="-33" dirty="0"/>
              <a:t>.03</a:t>
            </a:r>
            <a:endParaRPr sz="1200"/>
          </a:p>
          <a:p>
            <a:pPr marL="114297"/>
            <a:r>
              <a:rPr sz="1200" b="1" spc="-33" dirty="0"/>
              <a:t>.13</a:t>
            </a:r>
            <a:endParaRPr sz="1200"/>
          </a:p>
          <a:p>
            <a:pPr marL="114297"/>
            <a:r>
              <a:rPr sz="1200" b="1" spc="-33" dirty="0"/>
              <a:t>.00</a:t>
            </a:r>
            <a:endParaRPr sz="1200"/>
          </a:p>
          <a:p>
            <a:pPr marL="114297"/>
            <a:r>
              <a:rPr sz="1200" b="1" spc="-33" dirty="0"/>
              <a:t>.84</a:t>
            </a:r>
            <a:endParaRPr sz="1200"/>
          </a:p>
        </p:txBody>
      </p:sp>
      <p:sp>
        <p:nvSpPr>
          <p:cNvPr id="10" name="object 10"/>
          <p:cNvSpPr txBox="1"/>
          <p:nvPr/>
        </p:nvSpPr>
        <p:spPr>
          <a:xfrm>
            <a:off x="9162399" y="3562373"/>
            <a:ext cx="463973" cy="831852"/>
          </a:xfrm>
          <a:prstGeom prst="rect">
            <a:avLst/>
          </a:prstGeom>
          <a:solidFill>
            <a:srgbClr val="DCEDF0"/>
          </a:solidFill>
          <a:ln w="9524">
            <a:solidFill>
              <a:srgbClr val="666666"/>
            </a:solidFill>
          </a:ln>
        </p:spPr>
        <p:txBody>
          <a:bodyPr vert="horz" wrap="square" lIns="0" tIns="92287" rIns="0" bIns="0" rtlCol="0">
            <a:spAutoFit/>
          </a:bodyPr>
          <a:lstStyle/>
          <a:p>
            <a:pPr marL="114297">
              <a:spcBef>
                <a:spcPts val="727"/>
              </a:spcBef>
            </a:pPr>
            <a:r>
              <a:rPr sz="1200" b="1" spc="-33" dirty="0"/>
              <a:t>.25</a:t>
            </a:r>
            <a:endParaRPr sz="1200"/>
          </a:p>
          <a:p>
            <a:pPr marL="114297"/>
            <a:r>
              <a:rPr sz="1200" b="1" spc="-33" dirty="0"/>
              <a:t>.20</a:t>
            </a:r>
            <a:endParaRPr sz="1200"/>
          </a:p>
          <a:p>
            <a:pPr marL="114297"/>
            <a:r>
              <a:rPr sz="1200" b="1" spc="-33" dirty="0"/>
              <a:t>.05</a:t>
            </a:r>
            <a:endParaRPr sz="1200"/>
          </a:p>
          <a:p>
            <a:pPr marL="114297"/>
            <a:r>
              <a:rPr sz="1200" b="1" spc="-33" dirty="0"/>
              <a:t>.50</a:t>
            </a:r>
            <a:endParaRPr sz="1200"/>
          </a:p>
        </p:txBody>
      </p:sp>
      <p:sp>
        <p:nvSpPr>
          <p:cNvPr id="11" name="object 11"/>
          <p:cNvSpPr txBox="1"/>
          <p:nvPr/>
        </p:nvSpPr>
        <p:spPr>
          <a:xfrm>
            <a:off x="10055200" y="3562373"/>
            <a:ext cx="463973" cy="831852"/>
          </a:xfrm>
          <a:prstGeom prst="rect">
            <a:avLst/>
          </a:prstGeom>
          <a:solidFill>
            <a:srgbClr val="DCEDF0"/>
          </a:solidFill>
          <a:ln w="9524">
            <a:solidFill>
              <a:srgbClr val="666666"/>
            </a:solidFill>
          </a:ln>
        </p:spPr>
        <p:txBody>
          <a:bodyPr vert="horz" wrap="square" lIns="0" tIns="92287" rIns="0" bIns="0" rtlCol="0">
            <a:spAutoFit/>
          </a:bodyPr>
          <a:lstStyle/>
          <a:p>
            <a:pPr marL="114297">
              <a:spcBef>
                <a:spcPts val="727"/>
              </a:spcBef>
            </a:pPr>
            <a:r>
              <a:rPr sz="1200" b="1" spc="-33" dirty="0"/>
              <a:t>.11</a:t>
            </a:r>
            <a:endParaRPr sz="1200"/>
          </a:p>
          <a:p>
            <a:pPr marL="114297"/>
            <a:r>
              <a:rPr sz="1200" b="1" spc="-33" dirty="0"/>
              <a:t>.17</a:t>
            </a:r>
            <a:endParaRPr sz="1200"/>
          </a:p>
          <a:p>
            <a:pPr marL="114297"/>
            <a:r>
              <a:rPr sz="1200" b="1" spc="-33" dirty="0"/>
              <a:t>.68</a:t>
            </a:r>
            <a:endParaRPr sz="1200"/>
          </a:p>
          <a:p>
            <a:pPr marL="114297"/>
            <a:r>
              <a:rPr sz="1200" b="1" spc="-33" dirty="0"/>
              <a:t>.03</a:t>
            </a:r>
            <a:endParaRPr sz="1200"/>
          </a:p>
        </p:txBody>
      </p:sp>
      <p:sp>
        <p:nvSpPr>
          <p:cNvPr id="12" name="object 12"/>
          <p:cNvSpPr txBox="1"/>
          <p:nvPr/>
        </p:nvSpPr>
        <p:spPr>
          <a:xfrm>
            <a:off x="11012118" y="3562373"/>
            <a:ext cx="463973" cy="831852"/>
          </a:xfrm>
          <a:prstGeom prst="rect">
            <a:avLst/>
          </a:prstGeom>
          <a:solidFill>
            <a:srgbClr val="DCEDF0"/>
          </a:solidFill>
          <a:ln w="9524">
            <a:solidFill>
              <a:srgbClr val="666666"/>
            </a:solidFill>
          </a:ln>
        </p:spPr>
        <p:txBody>
          <a:bodyPr vert="horz" wrap="square" lIns="0" tIns="92287" rIns="0" bIns="0" rtlCol="0">
            <a:spAutoFit/>
          </a:bodyPr>
          <a:lstStyle/>
          <a:p>
            <a:pPr marL="113450">
              <a:spcBef>
                <a:spcPts val="727"/>
              </a:spcBef>
            </a:pPr>
            <a:r>
              <a:rPr sz="1200" b="1" spc="-33" dirty="0"/>
              <a:t>.11</a:t>
            </a:r>
            <a:endParaRPr sz="1200"/>
          </a:p>
          <a:p>
            <a:pPr marL="113450"/>
            <a:r>
              <a:rPr sz="1200" b="1" spc="-33" dirty="0"/>
              <a:t>.17</a:t>
            </a:r>
            <a:endParaRPr sz="1200"/>
          </a:p>
          <a:p>
            <a:pPr marL="113450"/>
            <a:r>
              <a:rPr sz="1200" b="1" spc="-33" dirty="0"/>
              <a:t>.68</a:t>
            </a:r>
            <a:endParaRPr sz="1200"/>
          </a:p>
          <a:p>
            <a:pPr marL="113450"/>
            <a:r>
              <a:rPr sz="1200" b="1" spc="-33" dirty="0"/>
              <a:t>.03</a:t>
            </a:r>
            <a:endParaRPr sz="1200"/>
          </a:p>
        </p:txBody>
      </p:sp>
      <p:grpSp>
        <p:nvGrpSpPr>
          <p:cNvPr id="13" name="object 13"/>
          <p:cNvGrpSpPr/>
          <p:nvPr/>
        </p:nvGrpSpPr>
        <p:grpSpPr>
          <a:xfrm>
            <a:off x="8437057" y="3320929"/>
            <a:ext cx="2834640" cy="171027"/>
            <a:chOff x="6327793" y="2490697"/>
            <a:chExt cx="2125980" cy="128270"/>
          </a:xfrm>
        </p:grpSpPr>
        <p:sp>
          <p:nvSpPr>
            <p:cNvPr id="14" name="object 14"/>
            <p:cNvSpPr/>
            <p:nvPr/>
          </p:nvSpPr>
          <p:spPr>
            <a:xfrm>
              <a:off x="6348288" y="2538685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1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5" name="object 15"/>
            <p:cNvSpPr/>
            <p:nvPr/>
          </p:nvSpPr>
          <p:spPr>
            <a:xfrm>
              <a:off x="6332556" y="249545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6" name="object 16"/>
            <p:cNvSpPr/>
            <p:nvPr/>
          </p:nvSpPr>
          <p:spPr>
            <a:xfrm>
              <a:off x="6332556" y="249545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7" name="object 17"/>
            <p:cNvSpPr/>
            <p:nvPr/>
          </p:nvSpPr>
          <p:spPr>
            <a:xfrm>
              <a:off x="7045756" y="2538835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1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8" name="object 18"/>
            <p:cNvSpPr/>
            <p:nvPr/>
          </p:nvSpPr>
          <p:spPr>
            <a:xfrm>
              <a:off x="7030024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19" name="object 19"/>
            <p:cNvSpPr/>
            <p:nvPr/>
          </p:nvSpPr>
          <p:spPr>
            <a:xfrm>
              <a:off x="7030024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0" name="object 20"/>
            <p:cNvSpPr/>
            <p:nvPr/>
          </p:nvSpPr>
          <p:spPr>
            <a:xfrm>
              <a:off x="7715356" y="2538835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1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1" name="object 21"/>
            <p:cNvSpPr/>
            <p:nvPr/>
          </p:nvSpPr>
          <p:spPr>
            <a:xfrm>
              <a:off x="7699624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2" name="object 22"/>
            <p:cNvSpPr/>
            <p:nvPr/>
          </p:nvSpPr>
          <p:spPr>
            <a:xfrm>
              <a:off x="7699624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3" name="object 23"/>
            <p:cNvSpPr/>
            <p:nvPr/>
          </p:nvSpPr>
          <p:spPr>
            <a:xfrm>
              <a:off x="8433045" y="2538835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79913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4" name="object 24"/>
            <p:cNvSpPr/>
            <p:nvPr/>
          </p:nvSpPr>
          <p:spPr>
            <a:xfrm>
              <a:off x="8417313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867"/>
            </a:p>
          </p:txBody>
        </p:sp>
        <p:sp>
          <p:nvSpPr>
            <p:cNvPr id="25" name="object 25"/>
            <p:cNvSpPr/>
            <p:nvPr/>
          </p:nvSpPr>
          <p:spPr>
            <a:xfrm>
              <a:off x="8417313" y="249560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867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078094" y="3782145"/>
            <a:ext cx="933873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6773" algn="r">
              <a:spcBef>
                <a:spcPts val="133"/>
              </a:spcBef>
            </a:pPr>
            <a:r>
              <a:rPr spc="-13" dirty="0">
                <a:solidFill>
                  <a:srgbClr val="57A7B5"/>
                </a:solidFill>
                <a:latin typeface="Arial MT"/>
                <a:cs typeface="Arial MT"/>
              </a:rPr>
              <a:t>Embedding</a:t>
            </a:r>
            <a:endParaRPr>
              <a:latin typeface="Arial MT"/>
              <a:cs typeface="Arial MT"/>
            </a:endParaRPr>
          </a:p>
          <a:p>
            <a:pPr marR="6773" algn="r"/>
            <a:r>
              <a:rPr spc="-13" dirty="0">
                <a:solidFill>
                  <a:srgbClr val="57A7B5"/>
                </a:solidFill>
                <a:latin typeface="Arial MT"/>
                <a:cs typeface="Arial MT"/>
              </a:rPr>
              <a:t>layer</a:t>
            </a:r>
            <a:endParaRPr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xfrm>
            <a:off x="4941925" y="4802949"/>
            <a:ext cx="1380489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6933">
              <a:lnSpc>
                <a:spcPts val="3080"/>
              </a:lnSpc>
            </a:pPr>
            <a:r>
              <a:rPr lang="en-ID"/>
              <a:t>Lecture</a:t>
            </a:r>
            <a:r>
              <a:rPr lang="en-ID" spc="-35"/>
              <a:t> </a:t>
            </a:r>
            <a:r>
              <a:rPr lang="en-ID"/>
              <a:t>10</a:t>
            </a:r>
            <a:r>
              <a:rPr lang="en-ID" spc="-35"/>
              <a:t> </a:t>
            </a:r>
            <a:r>
              <a:rPr lang="en-ID" spc="-50"/>
              <a:t>-</a:t>
            </a:r>
            <a:endParaRPr spc="-67" dirty="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6375579" y="4795500"/>
            <a:ext cx="518634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1120">
              <a:lnSpc>
                <a:spcPts val="3080"/>
              </a:lnSpc>
              <a:spcBef>
                <a:spcPts val="20"/>
              </a:spcBef>
            </a:pPr>
            <a:fld id="{81D60167-4931-47E6-BA6A-407CBD079E47}" type="slidenum">
              <a:rPr lang="en-ID" spc="-50" smtClean="0"/>
              <a:pPr marL="71120">
                <a:lnSpc>
                  <a:spcPts val="3080"/>
                </a:lnSpc>
                <a:spcBef>
                  <a:spcPts val="20"/>
                </a:spcBef>
              </a:pPr>
              <a:t>63</a:t>
            </a:fld>
            <a:endParaRPr spc="-33" dirty="0"/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326599" y="496204"/>
            <a:ext cx="4885267" cy="1507250"/>
          </a:xfrm>
          <a:prstGeom prst="rect">
            <a:avLst/>
          </a:prstGeom>
        </p:spPr>
        <p:txBody>
          <a:bodyPr spcFirstLastPara="1" vert="horz" wrap="square" lIns="0" tIns="16933" rIns="0" bIns="0" rtlCol="0" anchor="ctr" anchorCtr="0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sz="3200" b="1" dirty="0">
                <a:latin typeface="Arial"/>
                <a:cs typeface="Arial"/>
              </a:rPr>
              <a:t>Example:</a:t>
            </a:r>
            <a:r>
              <a:rPr sz="3200" b="1" spc="-47" dirty="0">
                <a:latin typeface="Arial"/>
                <a:cs typeface="Arial"/>
              </a:rPr>
              <a:t> </a:t>
            </a:r>
            <a:r>
              <a:rPr sz="3200" b="1" spc="-33" dirty="0">
                <a:latin typeface="Arial"/>
                <a:cs typeface="Arial"/>
              </a:rPr>
              <a:t>Character-</a:t>
            </a:r>
            <a:r>
              <a:rPr sz="3200" b="1" spc="-13" dirty="0">
                <a:latin typeface="Arial"/>
                <a:cs typeface="Arial"/>
              </a:rPr>
              <a:t>level </a:t>
            </a:r>
            <a:r>
              <a:rPr sz="3200" b="1" dirty="0">
                <a:latin typeface="Arial"/>
                <a:cs typeface="Arial"/>
              </a:rPr>
              <a:t>Language</a:t>
            </a:r>
            <a:r>
              <a:rPr sz="3200" b="1" spc="-53" dirty="0">
                <a:latin typeface="Arial"/>
                <a:cs typeface="Arial"/>
              </a:rPr>
              <a:t> </a:t>
            </a:r>
            <a:r>
              <a:rPr sz="3200" b="1" spc="-13" dirty="0">
                <a:latin typeface="Arial"/>
                <a:cs typeface="Arial"/>
              </a:rPr>
              <a:t>Model Sampling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37C50-89F3-1A6B-60F1-AD886EBE4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(CNN)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5CB80-C2B8-C00B-06DE-BE00B05FB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1. If we have data like this and kernel feature 2x2. Count the last pooling layer :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2. If we have input and filter kernel feature 2x2. Calculate until fully connected layer weight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740F40-0D5E-3166-3B52-5C7344034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854363"/>
              </p:ext>
            </p:extLst>
          </p:nvPr>
        </p:nvGraphicFramePr>
        <p:xfrm>
          <a:off x="595086" y="2517934"/>
          <a:ext cx="37679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4080">
                  <a:extLst>
                    <a:ext uri="{9D8B030D-6E8A-4147-A177-3AD203B41FA5}">
                      <a16:colId xmlns:a16="http://schemas.microsoft.com/office/drawing/2014/main" val="1488544165"/>
                    </a:ext>
                  </a:extLst>
                </a:gridCol>
                <a:gridCol w="1149531">
                  <a:extLst>
                    <a:ext uri="{9D8B030D-6E8A-4147-A177-3AD203B41FA5}">
                      <a16:colId xmlns:a16="http://schemas.microsoft.com/office/drawing/2014/main" val="1137052861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2079802638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414746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74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59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571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915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845493-E45C-1846-D7C0-ECFA7E26A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652525"/>
              </p:ext>
            </p:extLst>
          </p:nvPr>
        </p:nvGraphicFramePr>
        <p:xfrm>
          <a:off x="595086" y="4760028"/>
          <a:ext cx="37679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4080">
                  <a:extLst>
                    <a:ext uri="{9D8B030D-6E8A-4147-A177-3AD203B41FA5}">
                      <a16:colId xmlns:a16="http://schemas.microsoft.com/office/drawing/2014/main" val="1488544165"/>
                    </a:ext>
                  </a:extLst>
                </a:gridCol>
                <a:gridCol w="1149531">
                  <a:extLst>
                    <a:ext uri="{9D8B030D-6E8A-4147-A177-3AD203B41FA5}">
                      <a16:colId xmlns:a16="http://schemas.microsoft.com/office/drawing/2014/main" val="1137052861"/>
                    </a:ext>
                  </a:extLst>
                </a:gridCol>
                <a:gridCol w="940526">
                  <a:extLst>
                    <a:ext uri="{9D8B030D-6E8A-4147-A177-3AD203B41FA5}">
                      <a16:colId xmlns:a16="http://schemas.microsoft.com/office/drawing/2014/main" val="2079802638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414746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74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592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571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915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6C5956-C809-A2C2-BD81-CF5E51C0E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345940"/>
              </p:ext>
            </p:extLst>
          </p:nvPr>
        </p:nvGraphicFramePr>
        <p:xfrm>
          <a:off x="5768113" y="2687320"/>
          <a:ext cx="172429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0526">
                  <a:extLst>
                    <a:ext uri="{9D8B030D-6E8A-4147-A177-3AD203B41FA5}">
                      <a16:colId xmlns:a16="http://schemas.microsoft.com/office/drawing/2014/main" val="4097892223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841215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978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5707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99F4D9-C9C8-B1A0-4C01-3755EA1AE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82470"/>
              </p:ext>
            </p:extLst>
          </p:nvPr>
        </p:nvGraphicFramePr>
        <p:xfrm>
          <a:off x="5227755" y="5072574"/>
          <a:ext cx="172429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0526">
                  <a:extLst>
                    <a:ext uri="{9D8B030D-6E8A-4147-A177-3AD203B41FA5}">
                      <a16:colId xmlns:a16="http://schemas.microsoft.com/office/drawing/2014/main" val="2314424188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231205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150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907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212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0D893-7E8B-EA82-BE5F-BD0787AB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(MLP)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6D1B2-C21C-B7E4-0440-6920C90F8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there is weight : </a:t>
            </a:r>
          </a:p>
          <a:p>
            <a:pPr marL="114300" indent="0">
              <a:buNone/>
            </a:pPr>
            <a:r>
              <a:rPr lang="en-US" dirty="0"/>
              <a:t>Input : X1 = 0.5 X2 =0.3 </a:t>
            </a:r>
          </a:p>
          <a:p>
            <a:pPr marL="114300" indent="0">
              <a:buNone/>
            </a:pPr>
            <a:r>
              <a:rPr lang="en-US" dirty="0"/>
              <a:t>Hidden to input w11 =0.4 w21 =0.3 w12 = 0.2 w22 =0.2 </a:t>
            </a:r>
          </a:p>
          <a:p>
            <a:pPr marL="114300" indent="0">
              <a:buNone/>
            </a:pPr>
            <a:r>
              <a:rPr lang="en-US" dirty="0"/>
              <a:t>Bias to hidden  b1=0.1 b2 =0.2 </a:t>
            </a:r>
          </a:p>
          <a:p>
            <a:pPr marL="114300" indent="0">
              <a:buNone/>
            </a:pPr>
            <a:r>
              <a:rPr lang="en-US" dirty="0"/>
              <a:t>Hidden to output w01 =0.5 and w02 =0.7 bias b0=0.3 </a:t>
            </a:r>
          </a:p>
          <a:p>
            <a:pPr marL="114300" indent="0">
              <a:buNone/>
            </a:pPr>
            <a:r>
              <a:rPr lang="en-US" dirty="0"/>
              <a:t>Using sigmoidal activation, calculate back propagation from MLP 1 hidden layer</a:t>
            </a:r>
          </a:p>
        </p:txBody>
      </p:sp>
    </p:spTree>
    <p:extLst>
      <p:ext uri="{BB962C8B-B14F-4D97-AF65-F5344CB8AC3E}">
        <p14:creationId xmlns:p14="http://schemas.microsoft.com/office/powerpoint/2010/main" val="51524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2DEC-56AD-6162-C3F5-407F888D6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MLP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AD32C-7007-DC2D-7484-B8186CE94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XOR gate to get the activation weight (sigmoidal activation) if </a:t>
            </a:r>
          </a:p>
          <a:p>
            <a:pPr marL="114300" indent="0">
              <a:buNone/>
            </a:pPr>
            <a:r>
              <a:rPr lang="en-US" dirty="0"/>
              <a:t>W11 =0.15</a:t>
            </a:r>
          </a:p>
          <a:p>
            <a:pPr marL="114300" indent="0">
              <a:buNone/>
            </a:pPr>
            <a:r>
              <a:rPr lang="en-US" dirty="0"/>
              <a:t>W21 = 0.2 </a:t>
            </a:r>
          </a:p>
          <a:p>
            <a:pPr marL="114300" indent="0">
              <a:buNone/>
            </a:pPr>
            <a:r>
              <a:rPr lang="en-US" dirty="0"/>
              <a:t>W12 = 0.25</a:t>
            </a:r>
          </a:p>
          <a:p>
            <a:pPr marL="114300" indent="0">
              <a:buNone/>
            </a:pPr>
            <a:r>
              <a:rPr lang="en-US" dirty="0"/>
              <a:t>W22 = 0.3 </a:t>
            </a:r>
          </a:p>
          <a:p>
            <a:pPr marL="114300" indent="0">
              <a:buNone/>
            </a:pPr>
            <a:r>
              <a:rPr lang="en-US" dirty="0"/>
              <a:t>b1 and  b2=0.35</a:t>
            </a:r>
          </a:p>
          <a:p>
            <a:pPr marL="114300" indent="0">
              <a:buNone/>
            </a:pPr>
            <a:r>
              <a:rPr lang="en-US" dirty="0"/>
              <a:t>W01 =0.4 W02 = 0.45 b0= 0.6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Calculate with MLP and back propagation neural network </a:t>
            </a:r>
          </a:p>
        </p:txBody>
      </p:sp>
    </p:spTree>
    <p:extLst>
      <p:ext uri="{BB962C8B-B14F-4D97-AF65-F5344CB8AC3E}">
        <p14:creationId xmlns:p14="http://schemas.microsoft.com/office/powerpoint/2010/main" val="310773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E23F-2931-0F82-4C37-1C23A6C7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(RNN)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E80DB-DE1B-D475-4FE0-0C1F9D994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dirty="0"/>
              <a:t>If we want to predict next number based on input. If we have structure like this </a:t>
            </a:r>
          </a:p>
          <a:p>
            <a:pPr marL="114300" indent="0">
              <a:buNone/>
            </a:pPr>
            <a:r>
              <a:rPr lang="en-US" dirty="0"/>
              <a:t>- one neuron in hidden layer </a:t>
            </a:r>
          </a:p>
          <a:p>
            <a:pPr marL="114300" indent="0">
              <a:buNone/>
            </a:pPr>
            <a:r>
              <a:rPr lang="en-US" dirty="0"/>
              <a:t>- activation layer using sigmoid </a:t>
            </a:r>
          </a:p>
          <a:p>
            <a:pPr marL="114300" indent="0">
              <a:buNone/>
            </a:pPr>
            <a:r>
              <a:rPr lang="en-US" dirty="0"/>
              <a:t>- time step t =2 </a:t>
            </a:r>
          </a:p>
          <a:p>
            <a:pPr marL="114300" indent="0">
              <a:buNone/>
            </a:pPr>
            <a:r>
              <a:rPr lang="en-US" dirty="0"/>
              <a:t>- input x1= 0.5 x2= 0.3</a:t>
            </a:r>
          </a:p>
          <a:p>
            <a:pPr marL="114300" indent="0">
              <a:buNone/>
            </a:pPr>
            <a:r>
              <a:rPr lang="en-US" dirty="0"/>
              <a:t>- hidden state input to hidden </a:t>
            </a:r>
            <a:r>
              <a:rPr lang="en-US" dirty="0" err="1"/>
              <a:t>wx</a:t>
            </a:r>
            <a:r>
              <a:rPr lang="en-US" dirty="0"/>
              <a:t>=0.3 </a:t>
            </a:r>
          </a:p>
          <a:p>
            <a:pPr marL="114300" indent="0">
              <a:buNone/>
            </a:pPr>
            <a:r>
              <a:rPr lang="en-US" dirty="0"/>
              <a:t>- hidden state to hidden state  </a:t>
            </a:r>
            <a:r>
              <a:rPr lang="en-US" dirty="0" err="1"/>
              <a:t>wh</a:t>
            </a:r>
            <a:r>
              <a:rPr lang="en-US" dirty="0"/>
              <a:t> =0.2 </a:t>
            </a:r>
          </a:p>
          <a:p>
            <a:pPr marL="114300" indent="0">
              <a:buNone/>
            </a:pPr>
            <a:r>
              <a:rPr lang="en-US" dirty="0"/>
              <a:t>- hidden state to output </a:t>
            </a:r>
            <a:r>
              <a:rPr lang="en-US" dirty="0" err="1"/>
              <a:t>wy</a:t>
            </a:r>
            <a:r>
              <a:rPr lang="en-US" dirty="0"/>
              <a:t> =0.4 </a:t>
            </a:r>
          </a:p>
          <a:p>
            <a:pPr marL="114300" indent="0">
              <a:buNone/>
            </a:pPr>
            <a:r>
              <a:rPr lang="en-US" dirty="0"/>
              <a:t>- bias hidden </a:t>
            </a:r>
            <a:r>
              <a:rPr lang="en-US" dirty="0" err="1"/>
              <a:t>bh</a:t>
            </a:r>
            <a:r>
              <a:rPr lang="en-US" dirty="0"/>
              <a:t> = 0.1</a:t>
            </a:r>
          </a:p>
          <a:p>
            <a:pPr marL="114300" indent="0">
              <a:buNone/>
            </a:pPr>
            <a:r>
              <a:rPr lang="en-US" dirty="0"/>
              <a:t>- bias output by = 0.05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Calculate RNN forward propagation 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50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4"/>
          <p:cNvSpPr txBox="1">
            <a:spLocks noGrp="1"/>
          </p:cNvSpPr>
          <p:nvPr>
            <p:ph type="title"/>
          </p:nvPr>
        </p:nvSpPr>
        <p:spPr>
          <a:xfrm>
            <a:off x="256032" y="365125"/>
            <a:ext cx="1166774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lang="en-US"/>
              <a:t>Reference </a:t>
            </a:r>
            <a:endParaRPr/>
          </a:p>
        </p:txBody>
      </p:sp>
      <p:sp>
        <p:nvSpPr>
          <p:cNvPr id="812" name="Google Shape;812;p34"/>
          <p:cNvSpPr txBox="1">
            <a:spLocks noGrp="1"/>
          </p:cNvSpPr>
          <p:nvPr>
            <p:ph type="body" idx="1"/>
          </p:nvPr>
        </p:nvSpPr>
        <p:spPr>
          <a:xfrm>
            <a:off x="256032" y="1825625"/>
            <a:ext cx="1166774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Suyanto. 2018. Machine Learning tingkat dasar dan lanjut. Penerbit Informatika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Hinton, G. E., Osindero, S. and Teh, Y. A fast learning algorithm for deep belief nets. Neural Computation 18 (2006), pp 1527-1554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Others online sources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3437</Words>
  <Application>Microsoft Office PowerPoint</Application>
  <PresentationFormat>Widescreen</PresentationFormat>
  <Paragraphs>1787</Paragraphs>
  <Slides>68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8" baseType="lpstr">
      <vt:lpstr>Noto Sans Symbols</vt:lpstr>
      <vt:lpstr>Gill Sans</vt:lpstr>
      <vt:lpstr>Times New Roman</vt:lpstr>
      <vt:lpstr>Wingdings</vt:lpstr>
      <vt:lpstr>Calibri</vt:lpstr>
      <vt:lpstr>Arial MT</vt:lpstr>
      <vt:lpstr>Radley</vt:lpstr>
      <vt:lpstr>Arial</vt:lpstr>
      <vt:lpstr>Cambria</vt:lpstr>
      <vt:lpstr>Office Theme</vt:lpstr>
      <vt:lpstr>PowerPoint Presentation</vt:lpstr>
      <vt:lpstr>OUTLINE</vt:lpstr>
      <vt:lpstr>What is Deep Learning?</vt:lpstr>
      <vt:lpstr>Why Deep Learning? </vt:lpstr>
      <vt:lpstr>Why Now?</vt:lpstr>
      <vt:lpstr>What is the Challenge – Motivation </vt:lpstr>
      <vt:lpstr>So, How do We Train Deep Architectures?</vt:lpstr>
      <vt:lpstr>Multi Layer Perceptron with BackPropagation First deep learning model</vt:lpstr>
      <vt:lpstr>Drawbacks of BackPropagation based Deep neural Networks </vt:lpstr>
      <vt:lpstr>Let’s See More Deeper.. Hand written digit recognition </vt:lpstr>
      <vt:lpstr>Let’s See More Deeper.. Hand written digit recognition – cont’</vt:lpstr>
      <vt:lpstr>Smaller Network: CNN</vt:lpstr>
      <vt:lpstr>Consider learning an image:</vt:lpstr>
      <vt:lpstr>Same pattern appears in different places: They can be compressed! What about training a lot of such “small” detectors and each detector must “move around”.</vt:lpstr>
      <vt:lpstr>A convolutional layer</vt:lpstr>
      <vt:lpstr>Convolution</vt:lpstr>
      <vt:lpstr>Convolution</vt:lpstr>
      <vt:lpstr>Convolution</vt:lpstr>
      <vt:lpstr>Convolution</vt:lpstr>
      <vt:lpstr>Convolution</vt:lpstr>
      <vt:lpstr>Color image: RGB 3 channels</vt:lpstr>
      <vt:lpstr>PowerPoint Presentation</vt:lpstr>
      <vt:lpstr>PowerPoint Presentation</vt:lpstr>
      <vt:lpstr>PowerPoint Presentation</vt:lpstr>
      <vt:lpstr>The whole CNN</vt:lpstr>
      <vt:lpstr>Max Pooling</vt:lpstr>
      <vt:lpstr>Why Pooling</vt:lpstr>
      <vt:lpstr>A CNN compresses a fully connected network in two ways:</vt:lpstr>
      <vt:lpstr>Max Pooling</vt:lpstr>
      <vt:lpstr>The whole CNN</vt:lpstr>
      <vt:lpstr>The whole CNN</vt:lpstr>
      <vt:lpstr>Flattening</vt:lpstr>
      <vt:lpstr>Recurrent Neural Network</vt:lpstr>
      <vt:lpstr>Recurrent Neural Network</vt:lpstr>
      <vt:lpstr>Unrolled RNN</vt:lpstr>
      <vt:lpstr>RNN hidden state update</vt:lpstr>
      <vt:lpstr>RNN output generation</vt:lpstr>
      <vt:lpstr>Recurrent Neural Network</vt:lpstr>
      <vt:lpstr>Recurrent Neural Network</vt:lpstr>
      <vt:lpstr>(Vanilla) Recurrent Neural Network The state consists of a single “hidden” vector h:</vt:lpstr>
      <vt:lpstr>RNN: Computational Graph</vt:lpstr>
      <vt:lpstr>PowerPoint Presentation</vt:lpstr>
      <vt:lpstr>PowerPoint Presentation</vt:lpstr>
      <vt:lpstr>PowerPoint Presentation</vt:lpstr>
      <vt:lpstr>RNN: Computational Graph: Many to Many</vt:lpstr>
      <vt:lpstr>RNN: Computational Graph: Many to Many</vt:lpstr>
      <vt:lpstr>RNN: Computational Graph: Many to Many</vt:lpstr>
      <vt:lpstr>RNN: Computational Graph: Many to One</vt:lpstr>
      <vt:lpstr>RNN: Computational Graph: Many to One</vt:lpstr>
      <vt:lpstr>RNN: Computational Graph: One to Many</vt:lpstr>
      <vt:lpstr>RNN: Computational Graph: One to Many</vt:lpstr>
      <vt:lpstr>RNN: Computational Graph: One to Many</vt:lpstr>
      <vt:lpstr>RNN: Computational Graph: One to Many</vt:lpstr>
      <vt:lpstr>Sequence to Sequence: Many-to-one + one-to-many</vt:lpstr>
      <vt:lpstr>Sequence to Sequence: Many-to-one + one-to-many</vt:lpstr>
      <vt:lpstr>PowerPoint Presentation</vt:lpstr>
      <vt:lpstr>Example: Character-level Language Model</vt:lpstr>
      <vt:lpstr>PowerPoint Presentation</vt:lpstr>
      <vt:lpstr>Example: Character-level Language Model Sampling</vt:lpstr>
      <vt:lpstr>Example: Character-level Language Model Sampling</vt:lpstr>
      <vt:lpstr>Example: Character-level Language Model Sampling</vt:lpstr>
      <vt:lpstr>Example: Character-level Language Model Sampling</vt:lpstr>
      <vt:lpstr>Example: Character-level Language Model Sampling</vt:lpstr>
      <vt:lpstr>Exercise (CNN)</vt:lpstr>
      <vt:lpstr>Exercise (MLP)</vt:lpstr>
      <vt:lpstr>Exercise MLP </vt:lpstr>
      <vt:lpstr>Exercise (RNN) </vt:lpstr>
      <vt:lpstr>Reference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DAVID AGUSTRIAWAN (083674)</cp:lastModifiedBy>
  <cp:revision>14</cp:revision>
  <dcterms:created xsi:type="dcterms:W3CDTF">2018-08-20T06:59:10Z</dcterms:created>
  <dcterms:modified xsi:type="dcterms:W3CDTF">2026-09-08T01:18:36Z</dcterms:modified>
</cp:coreProperties>
</file>